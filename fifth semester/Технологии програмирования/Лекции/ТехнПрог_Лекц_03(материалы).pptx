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CE36-6DB9-477A-BB4F-B9D38EC0BCEE}" type="datetimeFigureOut">
              <a:rPr lang="ru-RU" smtClean="0"/>
              <a:pPr/>
              <a:t>13.09.2020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3652-55DD-4503-A67B-6CBA22E0253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CE36-6DB9-477A-BB4F-B9D38EC0BCEE}" type="datetimeFigureOut">
              <a:rPr lang="ru-RU" smtClean="0"/>
              <a:pPr/>
              <a:t>13.09.2020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3652-55DD-4503-A67B-6CBA22E0253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CE36-6DB9-477A-BB4F-B9D38EC0BCEE}" type="datetimeFigureOut">
              <a:rPr lang="ru-RU" smtClean="0"/>
              <a:pPr/>
              <a:t>13.09.2020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3652-55DD-4503-A67B-6CBA22E0253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CE36-6DB9-477A-BB4F-B9D38EC0BCEE}" type="datetimeFigureOut">
              <a:rPr lang="ru-RU" smtClean="0"/>
              <a:pPr/>
              <a:t>13.09.2020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3652-55DD-4503-A67B-6CBA22E0253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CE36-6DB9-477A-BB4F-B9D38EC0BCEE}" type="datetimeFigureOut">
              <a:rPr lang="ru-RU" smtClean="0"/>
              <a:pPr/>
              <a:t>13.09.2020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3652-55DD-4503-A67B-6CBA22E0253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CE36-6DB9-477A-BB4F-B9D38EC0BCEE}" type="datetimeFigureOut">
              <a:rPr lang="ru-RU" smtClean="0"/>
              <a:pPr/>
              <a:t>13.09.2020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3652-55DD-4503-A67B-6CBA22E0253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CE36-6DB9-477A-BB4F-B9D38EC0BCEE}" type="datetimeFigureOut">
              <a:rPr lang="ru-RU" smtClean="0"/>
              <a:pPr/>
              <a:t>13.09.2020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3652-55DD-4503-A67B-6CBA22E0253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CE36-6DB9-477A-BB4F-B9D38EC0BCEE}" type="datetimeFigureOut">
              <a:rPr lang="ru-RU" smtClean="0"/>
              <a:pPr/>
              <a:t>13.09.2020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3652-55DD-4503-A67B-6CBA22E0253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CE36-6DB9-477A-BB4F-B9D38EC0BCEE}" type="datetimeFigureOut">
              <a:rPr lang="ru-RU" smtClean="0"/>
              <a:pPr/>
              <a:t>13.09.2020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3652-55DD-4503-A67B-6CBA22E0253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CE36-6DB9-477A-BB4F-B9D38EC0BCEE}" type="datetimeFigureOut">
              <a:rPr lang="ru-RU" smtClean="0"/>
              <a:pPr/>
              <a:t>13.09.2020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3652-55DD-4503-A67B-6CBA22E0253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0CE36-6DB9-477A-BB4F-B9D38EC0BCEE}" type="datetimeFigureOut">
              <a:rPr lang="ru-RU" smtClean="0"/>
              <a:pPr/>
              <a:t>13.09.2020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E3652-55DD-4503-A67B-6CBA22E0253C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0CE36-6DB9-477A-BB4F-B9D38EC0BCEE}" type="datetimeFigureOut">
              <a:rPr lang="ru-RU" smtClean="0"/>
              <a:pPr/>
              <a:t>13.09.2020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2E3652-55DD-4503-A67B-6CBA22E0253C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692697"/>
            <a:ext cx="7772400" cy="2448272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Лекция 3</a:t>
            </a:r>
            <a:endParaRPr lang="ru-RU" sz="32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15 сентября 2020г.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/>
              <a:t>4.2. Элемент </a:t>
            </a:r>
            <a:r>
              <a:rPr lang="en-US" sz="2800" b="1" dirty="0" err="1"/>
              <a:t>SaveFileDialog</a:t>
            </a:r>
            <a:r>
              <a:rPr lang="ru-RU" sz="2400" b="1" i="1" dirty="0"/>
              <a:t/>
            </a:r>
            <a:br>
              <a:rPr lang="ru-RU" sz="2400" b="1" i="1" dirty="0"/>
            </a:b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	Элемент  </a:t>
            </a:r>
            <a:r>
              <a:rPr lang="en-US" b="1" i="1" dirty="0" err="1"/>
              <a:t>SaveFileDialog</a:t>
            </a:r>
            <a:r>
              <a:rPr lang="ru-RU" dirty="0"/>
              <a:t>  предназначен для выбора имени файла, в котором будут сохраняться данные. </a:t>
            </a:r>
            <a:endParaRPr lang="ru-RU" dirty="0" smtClean="0"/>
          </a:p>
          <a:p>
            <a:r>
              <a:rPr lang="ru-RU" dirty="0" smtClean="0"/>
              <a:t>Это </a:t>
            </a:r>
            <a:r>
              <a:rPr lang="ru-RU" dirty="0"/>
              <a:t>– тоже </a:t>
            </a:r>
            <a:r>
              <a:rPr lang="ru-RU" dirty="0" err="1"/>
              <a:t>полувизуальный</a:t>
            </a:r>
            <a:r>
              <a:rPr lang="ru-RU" dirty="0"/>
              <a:t> элемент. </a:t>
            </a:r>
            <a:endParaRPr lang="ru-RU" dirty="0" smtClean="0"/>
          </a:p>
          <a:p>
            <a:r>
              <a:rPr lang="ru-RU" dirty="0" smtClean="0"/>
              <a:t>Он </a:t>
            </a:r>
            <a:r>
              <a:rPr lang="ru-RU" dirty="0"/>
              <a:t>находится на вкладке ‘</a:t>
            </a:r>
            <a:r>
              <a:rPr lang="en-US" i="1" dirty="0"/>
              <a:t>Dialogs</a:t>
            </a:r>
            <a:r>
              <a:rPr lang="ru-RU" dirty="0"/>
              <a:t>’. </a:t>
            </a:r>
            <a:endParaRPr lang="ru-RU" dirty="0" smtClean="0"/>
          </a:p>
          <a:p>
            <a:r>
              <a:rPr lang="ru-RU" dirty="0" smtClean="0"/>
              <a:t>После </a:t>
            </a:r>
            <a:r>
              <a:rPr lang="ru-RU" dirty="0"/>
              <a:t>двойного щелчка по этому элементу он размещается </a:t>
            </a:r>
            <a:r>
              <a:rPr lang="ru-RU" i="1" dirty="0"/>
              <a:t>поддоне –</a:t>
            </a:r>
            <a:r>
              <a:rPr lang="ru-RU" dirty="0"/>
              <a:t> полосе, расположенной под формой. </a:t>
            </a:r>
            <a:endParaRPr lang="ru-RU" dirty="0" smtClean="0"/>
          </a:p>
          <a:p>
            <a:r>
              <a:rPr lang="ru-RU" dirty="0" smtClean="0"/>
              <a:t>Для </a:t>
            </a:r>
            <a:r>
              <a:rPr lang="ru-RU" dirty="0"/>
              <a:t>его вызова используется метод  </a:t>
            </a:r>
            <a:r>
              <a:rPr lang="en-US" b="1" i="1" dirty="0" err="1"/>
              <a:t>ShowDialog</a:t>
            </a:r>
            <a:r>
              <a:rPr lang="ru-RU" dirty="0"/>
              <a:t>,  который возвращает значение</a:t>
            </a:r>
            <a:r>
              <a:rPr lang="ru-RU" b="1" i="1" dirty="0"/>
              <a:t>   </a:t>
            </a:r>
            <a:r>
              <a:rPr lang="en-US" b="1" i="1" dirty="0" err="1"/>
              <a:t>DialogResult</a:t>
            </a:r>
            <a:r>
              <a:rPr lang="ru-RU" b="1" i="1" dirty="0"/>
              <a:t>.</a:t>
            </a:r>
            <a:r>
              <a:rPr lang="en-US" b="1" i="1" dirty="0"/>
              <a:t>OK</a:t>
            </a:r>
            <a:r>
              <a:rPr lang="ru-RU" dirty="0"/>
              <a:t>,  если выбрано имя файла, и нажата кнопка  ‘</a:t>
            </a:r>
            <a:r>
              <a:rPr lang="ru-RU" i="1" dirty="0"/>
              <a:t>Сохранить</a:t>
            </a:r>
            <a:r>
              <a:rPr lang="ru-RU" dirty="0"/>
              <a:t>’.</a:t>
            </a:r>
          </a:p>
          <a:p>
            <a:r>
              <a:rPr lang="ru-RU" dirty="0"/>
              <a:t>	</a:t>
            </a:r>
            <a:r>
              <a:rPr lang="ru-RU" dirty="0" smtClean="0"/>
              <a:t>Фрагмент </a:t>
            </a:r>
            <a:r>
              <a:rPr lang="ru-RU" dirty="0"/>
              <a:t>кода для вызова диалогового окна выглядит следующим образом: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Вызов диалогового окна</a:t>
            </a: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. . .</a:t>
            </a:r>
            <a:endParaRPr lang="ru-RU" dirty="0"/>
          </a:p>
          <a:p>
            <a:r>
              <a:rPr lang="en-US" dirty="0"/>
              <a:t>string </a:t>
            </a:r>
            <a:r>
              <a:rPr lang="en-US" dirty="0" err="1"/>
              <a:t>fname</a:t>
            </a:r>
            <a:r>
              <a:rPr lang="en-US" dirty="0" smtClean="0"/>
              <a:t>;</a:t>
            </a:r>
            <a:endParaRPr lang="ru-RU" dirty="0" smtClean="0"/>
          </a:p>
          <a:p>
            <a:endParaRPr lang="ru-RU" dirty="0"/>
          </a:p>
          <a:p>
            <a:r>
              <a:rPr lang="en-US" dirty="0"/>
              <a:t>if(saveFileDialog1.ShowDialog()==</a:t>
            </a:r>
            <a:r>
              <a:rPr lang="en-US" dirty="0" err="1"/>
              <a:t>DialogResult.OK</a:t>
            </a:r>
            <a:r>
              <a:rPr lang="en-US" dirty="0"/>
              <a:t>)</a:t>
            </a:r>
            <a:endParaRPr lang="ru-RU" dirty="0"/>
          </a:p>
          <a:p>
            <a:r>
              <a:rPr lang="en-US" dirty="0"/>
              <a:t>{</a:t>
            </a:r>
            <a:endParaRPr lang="ru-RU" dirty="0"/>
          </a:p>
          <a:p>
            <a:r>
              <a:rPr lang="en-US" dirty="0"/>
              <a:t>   </a:t>
            </a:r>
            <a:r>
              <a:rPr lang="en-US" dirty="0" err="1"/>
              <a:t>fname</a:t>
            </a:r>
            <a:r>
              <a:rPr lang="en-US" dirty="0"/>
              <a:t>=saveFileDialog1.FileName;</a:t>
            </a:r>
            <a:endParaRPr lang="ru-RU" dirty="0"/>
          </a:p>
          <a:p>
            <a:r>
              <a:rPr lang="en-US" dirty="0"/>
              <a:t>      //  </a:t>
            </a:r>
            <a:r>
              <a:rPr lang="ru-RU" dirty="0"/>
              <a:t>Код открытия файла</a:t>
            </a:r>
          </a:p>
          <a:p>
            <a:r>
              <a:rPr lang="en-US" dirty="0"/>
              <a:t>     </a:t>
            </a:r>
            <a:r>
              <a:rPr lang="ru-RU" dirty="0"/>
              <a:t>. . 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/>
              <a:t> }</a:t>
            </a:r>
            <a:endParaRPr lang="ru-RU" dirty="0"/>
          </a:p>
          <a:p>
            <a:r>
              <a:rPr lang="ru-RU" dirty="0"/>
              <a:t>. . 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	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/>
              <a:t>4.</a:t>
            </a:r>
            <a:r>
              <a:rPr lang="en-US" sz="2800" b="1" dirty="0"/>
              <a:t>3</a:t>
            </a:r>
            <a:r>
              <a:rPr lang="ru-RU" sz="2800" b="1" dirty="0"/>
              <a:t>. Элемент </a:t>
            </a:r>
            <a:r>
              <a:rPr lang="en-US" sz="2800" b="1" dirty="0" err="1"/>
              <a:t>FontDialog</a:t>
            </a:r>
            <a:r>
              <a:rPr lang="ru-RU" sz="2800" b="1" i="1" dirty="0"/>
              <a:t/>
            </a:r>
            <a:br>
              <a:rPr lang="ru-RU" sz="2800" b="1" i="1" dirty="0"/>
            </a:br>
            <a:endParaRPr lang="ru-RU" sz="28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	Элемент  </a:t>
            </a:r>
            <a:r>
              <a:rPr lang="en-US" b="1" i="1" dirty="0" err="1"/>
              <a:t>FontDialog</a:t>
            </a:r>
            <a:r>
              <a:rPr lang="ru-RU" dirty="0"/>
              <a:t>  предназначен для выбора шрифта. </a:t>
            </a:r>
            <a:endParaRPr lang="ru-RU" dirty="0" smtClean="0"/>
          </a:p>
          <a:p>
            <a:r>
              <a:rPr lang="ru-RU" dirty="0" smtClean="0"/>
              <a:t>Например</a:t>
            </a:r>
            <a:r>
              <a:rPr lang="ru-RU" dirty="0"/>
              <a:t>, элемент  </a:t>
            </a:r>
            <a:r>
              <a:rPr lang="en-US" b="1" i="1" dirty="0" err="1"/>
              <a:t>TextBox</a:t>
            </a:r>
            <a:r>
              <a:rPr lang="ru-RU" dirty="0"/>
              <a:t>  по умолчанию использует шрифт  </a:t>
            </a:r>
            <a:r>
              <a:rPr lang="en-US" b="1" i="1" dirty="0"/>
              <a:t>Sans Serif</a:t>
            </a:r>
            <a:r>
              <a:rPr lang="ru-RU" dirty="0"/>
              <a:t>.  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 </a:t>
            </a:r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</a:p>
          <a:p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/>
              <a:t>Пример</a:t>
            </a:r>
            <a:endParaRPr lang="ru-RU" sz="3200" dirty="0"/>
          </a:p>
        </p:txBody>
      </p:sp>
      <p:pic>
        <p:nvPicPr>
          <p:cNvPr id="4" name="Содержимое 3" descr="Рис_4_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475656" y="1772816"/>
            <a:ext cx="6768752" cy="4536503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Пример (продолжение)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11256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	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/>
          </a:p>
          <a:p>
            <a:r>
              <a:rPr lang="ru-RU" dirty="0"/>
              <a:t> </a:t>
            </a:r>
          </a:p>
          <a:p>
            <a:r>
              <a:rPr lang="en-US" dirty="0"/>
              <a:t>        private void button1_Click(object sender, </a:t>
            </a:r>
            <a:r>
              <a:rPr lang="en-US" dirty="0" err="1"/>
              <a:t>EventArgs</a:t>
            </a:r>
            <a:r>
              <a:rPr lang="en-US" dirty="0"/>
              <a:t> e)</a:t>
            </a:r>
            <a:endParaRPr lang="ru-RU" dirty="0"/>
          </a:p>
          <a:p>
            <a:r>
              <a:rPr lang="en-US" dirty="0"/>
              <a:t>        {</a:t>
            </a:r>
            <a:endParaRPr lang="ru-RU" dirty="0"/>
          </a:p>
          <a:p>
            <a:r>
              <a:rPr lang="en-US" dirty="0"/>
              <a:t>            if (fontDialog1.ShowDialog() == </a:t>
            </a:r>
            <a:r>
              <a:rPr lang="en-US" dirty="0" err="1"/>
              <a:t>DialogResult.OK</a:t>
            </a:r>
            <a:r>
              <a:rPr lang="en-US" dirty="0"/>
              <a:t>)</a:t>
            </a:r>
            <a:endParaRPr lang="ru-RU" dirty="0"/>
          </a:p>
          <a:p>
            <a:r>
              <a:rPr lang="en-US" dirty="0"/>
              <a:t>            {</a:t>
            </a:r>
            <a:endParaRPr lang="ru-RU" dirty="0"/>
          </a:p>
          <a:p>
            <a:r>
              <a:rPr lang="en-US" dirty="0"/>
              <a:t>                </a:t>
            </a:r>
            <a:r>
              <a:rPr lang="en-US" dirty="0" err="1"/>
              <a:t>fon</a:t>
            </a:r>
            <a:r>
              <a:rPr lang="en-US" dirty="0"/>
              <a:t> = fontDialog1.Font;</a:t>
            </a:r>
            <a:endParaRPr lang="ru-RU" dirty="0"/>
          </a:p>
          <a:p>
            <a:r>
              <a:rPr lang="en-US" dirty="0"/>
              <a:t>                </a:t>
            </a:r>
            <a:r>
              <a:rPr lang="ru-RU" dirty="0"/>
              <a:t>textBox1.Font = </a:t>
            </a:r>
            <a:r>
              <a:rPr lang="ru-RU" dirty="0" err="1"/>
              <a:t>fon</a:t>
            </a:r>
            <a:r>
              <a:rPr lang="ru-RU" dirty="0"/>
              <a:t>;</a:t>
            </a:r>
          </a:p>
          <a:p>
            <a:r>
              <a:rPr lang="ru-RU" dirty="0"/>
              <a:t>            }</a:t>
            </a:r>
          </a:p>
          <a:p>
            <a:r>
              <a:rPr lang="ru-RU" dirty="0"/>
              <a:t>        </a:t>
            </a:r>
            <a:r>
              <a:rPr lang="ru-RU" dirty="0" smtClean="0"/>
              <a:t>}</a:t>
            </a:r>
          </a:p>
          <a:p>
            <a:r>
              <a:rPr lang="ru-RU" dirty="0" smtClean="0"/>
              <a:t> </a:t>
            </a:r>
          </a:p>
          <a:p>
            <a:r>
              <a:rPr lang="ru-RU" dirty="0" smtClean="0"/>
              <a:t> 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 smtClean="0"/>
              <a:t>4.4. Элемент </a:t>
            </a:r>
            <a:r>
              <a:rPr lang="en-US" sz="2800" b="1" dirty="0" err="1" smtClean="0"/>
              <a:t>MessageBox</a:t>
            </a:r>
            <a:r>
              <a:rPr lang="ru-RU" sz="2800" b="1" dirty="0" smtClean="0"/>
              <a:t>  </a:t>
            </a:r>
            <a:r>
              <a:rPr lang="ru-RU" sz="2400" b="1" i="1" dirty="0" smtClean="0"/>
              <a:t/>
            </a:r>
            <a:br>
              <a:rPr lang="ru-RU" sz="2400" b="1" i="1" dirty="0" smtClean="0"/>
            </a:b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 smtClean="0"/>
              <a:t>	Диалоговое окно  </a:t>
            </a:r>
            <a:r>
              <a:rPr lang="en-US" b="1" i="1" dirty="0" err="1" smtClean="0"/>
              <a:t>MessageBox</a:t>
            </a:r>
            <a:r>
              <a:rPr lang="en-US" b="1" i="1" dirty="0" smtClean="0"/>
              <a:t> </a:t>
            </a:r>
            <a:r>
              <a:rPr lang="ru-RU" dirty="0" smtClean="0"/>
              <a:t> используется для отображения сообщений. </a:t>
            </a:r>
          </a:p>
          <a:p>
            <a:r>
              <a:rPr lang="ru-RU" dirty="0" smtClean="0"/>
              <a:t> </a:t>
            </a:r>
            <a:r>
              <a:rPr lang="ru-RU" dirty="0" smtClean="0"/>
              <a:t> </a:t>
            </a:r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</a:p>
          <a:p>
            <a:r>
              <a:rPr lang="ru-RU" dirty="0" smtClean="0"/>
              <a:t>   </a:t>
            </a:r>
            <a:r>
              <a:rPr lang="en-US" dirty="0" err="1" smtClean="0"/>
              <a:t>MessageBox</a:t>
            </a:r>
            <a:r>
              <a:rPr lang="ru-RU" dirty="0" smtClean="0"/>
              <a:t>.</a:t>
            </a:r>
            <a:r>
              <a:rPr lang="en-US" dirty="0" smtClean="0"/>
              <a:t>Show</a:t>
            </a:r>
            <a:r>
              <a:rPr lang="ru-RU" dirty="0" smtClean="0"/>
              <a:t>(“Ошибка при открытии файла</a:t>
            </a:r>
            <a:r>
              <a:rPr lang="ru-RU" dirty="0" smtClean="0"/>
              <a:t>”);</a:t>
            </a:r>
          </a:p>
          <a:p>
            <a:endParaRPr lang="ru-RU" dirty="0" smtClean="0"/>
          </a:p>
          <a:p>
            <a:r>
              <a:rPr lang="ru-RU" dirty="0" smtClean="0"/>
              <a:t>	</a:t>
            </a:r>
          </a:p>
          <a:p>
            <a:r>
              <a:rPr lang="ru-RU" dirty="0" smtClean="0"/>
              <a:t> </a:t>
            </a:r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  <a:r>
              <a:rPr lang="ru-RU" dirty="0" smtClean="0"/>
              <a:t>  </a:t>
            </a:r>
          </a:p>
          <a:p>
            <a:r>
              <a:rPr lang="ru-RU" dirty="0" smtClean="0"/>
              <a:t>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b="1" dirty="0" smtClean="0"/>
              <a:t>Элемент </a:t>
            </a:r>
            <a:r>
              <a:rPr lang="en-US" sz="2800" b="1" dirty="0" err="1" smtClean="0"/>
              <a:t>MessageBox</a:t>
            </a:r>
            <a:r>
              <a:rPr lang="ru-RU" sz="2800" b="1" dirty="0" smtClean="0"/>
              <a:t> (продолжение)</a:t>
            </a:r>
            <a:endParaRPr lang="ru-RU" sz="2800" dirty="0"/>
          </a:p>
        </p:txBody>
      </p:sp>
      <p:pic>
        <p:nvPicPr>
          <p:cNvPr id="4" name="Содержимое 3" descr="Рис_4_2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123728" y="2204864"/>
            <a:ext cx="4680520" cy="3384376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642194"/>
          </a:xfrm>
        </p:spPr>
        <p:txBody>
          <a:bodyPr>
            <a:normAutofit fontScale="90000"/>
          </a:bodyPr>
          <a:lstStyle/>
          <a:p>
            <a:r>
              <a:rPr lang="ru-RU" sz="2400" b="1" dirty="0" smtClean="0"/>
              <a:t/>
            </a:r>
            <a:br>
              <a:rPr lang="ru-RU" sz="2400" b="1" dirty="0" smtClean="0"/>
            </a:br>
            <a:r>
              <a:rPr lang="ru-RU" sz="2400" b="1" dirty="0" smtClean="0"/>
              <a:t>5</a:t>
            </a:r>
            <a:r>
              <a:rPr lang="ru-RU" sz="2400" b="1" dirty="0" smtClean="0"/>
              <a:t>. МЕНЮ  И  ГРАФИКА</a:t>
            </a:r>
            <a:br>
              <a:rPr lang="ru-RU" sz="2400" b="1" dirty="0" smtClean="0"/>
            </a:br>
            <a:r>
              <a:rPr lang="ru-RU" sz="2400" dirty="0" smtClean="0"/>
              <a:t> </a:t>
            </a:r>
            <a:br>
              <a:rPr lang="ru-RU" sz="2400" dirty="0" smtClean="0"/>
            </a:br>
            <a:r>
              <a:rPr lang="ru-RU" sz="2400" dirty="0" smtClean="0"/>
              <a:t> </a:t>
            </a:r>
            <a:br>
              <a:rPr lang="ru-RU" sz="2400" dirty="0" smtClean="0"/>
            </a:br>
            <a:r>
              <a:rPr lang="ru-RU" sz="2400" b="1" dirty="0" smtClean="0"/>
              <a:t>5.1. Работа с меню</a:t>
            </a:r>
            <a:r>
              <a:rPr lang="ru-RU" sz="2400" b="1" i="1" dirty="0" smtClean="0"/>
              <a:t/>
            </a:r>
            <a:br>
              <a:rPr lang="ru-RU" sz="2400" b="1" i="1" dirty="0" smtClean="0"/>
            </a:b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2420888"/>
            <a:ext cx="8229600" cy="3672408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/>
              <a:t>	Для создания главного меню приложения используется элемент  </a:t>
            </a:r>
            <a:r>
              <a:rPr lang="en-US" b="1" i="1" dirty="0" err="1" smtClean="0"/>
              <a:t>MenuStrip</a:t>
            </a:r>
            <a:r>
              <a:rPr lang="ru-RU" dirty="0" smtClean="0"/>
              <a:t>.  Он расположен на вкладке  ‘</a:t>
            </a:r>
            <a:r>
              <a:rPr lang="en-US" i="1" dirty="0" smtClean="0"/>
              <a:t>Menus</a:t>
            </a:r>
            <a:r>
              <a:rPr lang="ru-RU" i="1" dirty="0" smtClean="0"/>
              <a:t> &amp; </a:t>
            </a:r>
            <a:r>
              <a:rPr lang="en-US" i="1" dirty="0" smtClean="0"/>
              <a:t>Toolbars</a:t>
            </a:r>
            <a:r>
              <a:rPr lang="ru-RU" dirty="0" smtClean="0"/>
              <a:t>’.   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Пример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 smtClean="0"/>
              <a:t>	Рассмотрим следующий пример. </a:t>
            </a:r>
            <a:endParaRPr lang="ru-RU" dirty="0" smtClean="0"/>
          </a:p>
          <a:p>
            <a:r>
              <a:rPr lang="ru-RU" dirty="0" smtClean="0"/>
              <a:t>Создадим </a:t>
            </a:r>
            <a:r>
              <a:rPr lang="ru-RU" dirty="0" smtClean="0"/>
              <a:t>главное меню с двумя подменю. </a:t>
            </a:r>
            <a:endParaRPr lang="ru-RU" dirty="0" smtClean="0"/>
          </a:p>
          <a:p>
            <a:r>
              <a:rPr lang="ru-RU" dirty="0" smtClean="0"/>
              <a:t>Первое </a:t>
            </a:r>
            <a:r>
              <a:rPr lang="ru-RU" dirty="0" smtClean="0"/>
              <a:t>подменю назовём ‘</a:t>
            </a:r>
            <a:r>
              <a:rPr lang="ru-RU" i="1" dirty="0" smtClean="0"/>
              <a:t>Файл</a:t>
            </a:r>
            <a:r>
              <a:rPr lang="ru-RU" dirty="0" smtClean="0"/>
              <a:t>’, и в нём создадим один пункт меню ‘</a:t>
            </a:r>
            <a:r>
              <a:rPr lang="ru-RU" i="1" dirty="0" smtClean="0"/>
              <a:t>Выход</a:t>
            </a:r>
            <a:r>
              <a:rPr lang="ru-RU" dirty="0" smtClean="0"/>
              <a:t>’. </a:t>
            </a:r>
            <a:endParaRPr lang="ru-RU" dirty="0" smtClean="0"/>
          </a:p>
          <a:p>
            <a:r>
              <a:rPr lang="ru-RU" dirty="0" smtClean="0"/>
              <a:t>Второе </a:t>
            </a:r>
            <a:r>
              <a:rPr lang="ru-RU" dirty="0" smtClean="0"/>
              <a:t>подменю назовём ‘</a:t>
            </a:r>
            <a:r>
              <a:rPr lang="ru-RU" i="1" dirty="0" smtClean="0"/>
              <a:t>Работа</a:t>
            </a:r>
            <a:r>
              <a:rPr lang="ru-RU" dirty="0" smtClean="0"/>
              <a:t>’, и в нём создадим два пункта меню ‘</a:t>
            </a:r>
            <a:r>
              <a:rPr lang="ru-RU" i="1" dirty="0" smtClean="0"/>
              <a:t>Сумма</a:t>
            </a:r>
            <a:r>
              <a:rPr lang="ru-RU" dirty="0" smtClean="0"/>
              <a:t>’ и  ‘</a:t>
            </a:r>
            <a:r>
              <a:rPr lang="ru-RU" i="1" dirty="0" smtClean="0"/>
              <a:t>Разность</a:t>
            </a:r>
            <a:r>
              <a:rPr lang="ru-RU" dirty="0" smtClean="0"/>
              <a:t>’. </a:t>
            </a:r>
            <a:endParaRPr lang="ru-RU" dirty="0" smtClean="0"/>
          </a:p>
          <a:p>
            <a:r>
              <a:rPr lang="ru-RU" dirty="0" smtClean="0"/>
              <a:t>Далее </a:t>
            </a:r>
            <a:r>
              <a:rPr lang="ru-RU" dirty="0" smtClean="0"/>
              <a:t>разместим на форме два элемента  </a:t>
            </a:r>
            <a:r>
              <a:rPr lang="en-US" b="1" i="1" dirty="0" err="1" smtClean="0"/>
              <a:t>TextBox</a:t>
            </a:r>
            <a:r>
              <a:rPr lang="ru-RU" dirty="0" smtClean="0"/>
              <a:t>  для ввода значений переменных  </a:t>
            </a:r>
            <a:r>
              <a:rPr lang="en-US" b="1" i="1" dirty="0" smtClean="0"/>
              <a:t>a</a:t>
            </a:r>
            <a:r>
              <a:rPr lang="ru-RU" dirty="0" smtClean="0"/>
              <a:t>  и</a:t>
            </a:r>
            <a:r>
              <a:rPr lang="ru-RU" b="1" i="1" dirty="0" smtClean="0"/>
              <a:t>  </a:t>
            </a:r>
            <a:r>
              <a:rPr lang="en-US" b="1" i="1" dirty="0" smtClean="0"/>
              <a:t>b</a:t>
            </a:r>
            <a:r>
              <a:rPr lang="ru-RU" dirty="0" smtClean="0"/>
              <a:t>,  и ещё два элемента  </a:t>
            </a:r>
            <a:r>
              <a:rPr lang="en-US" b="1" i="1" dirty="0" err="1" smtClean="0"/>
              <a:t>TextBox</a:t>
            </a:r>
            <a:r>
              <a:rPr lang="ru-RU" dirty="0" smtClean="0"/>
              <a:t>  для помещения туда суммы и разности значений этих переменных.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 smtClean="0"/>
              <a:t>итоге получим следующую форму </a:t>
            </a:r>
            <a:r>
              <a:rPr lang="ru-RU" dirty="0" smtClean="0"/>
              <a:t>: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Пример (продолжение)</a:t>
            </a:r>
            <a:endParaRPr lang="ru-RU" sz="3200" dirty="0"/>
          </a:p>
        </p:txBody>
      </p:sp>
      <p:pic>
        <p:nvPicPr>
          <p:cNvPr id="4" name="Содержимое 3" descr="Рис_5_1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39552" y="1484784"/>
            <a:ext cx="8136904" cy="4968551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08720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Обработчики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949280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	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  <a:r>
              <a:rPr lang="ru-RU" dirty="0" smtClean="0"/>
              <a:t> </a:t>
            </a:r>
            <a:r>
              <a:rPr lang="ru-RU" dirty="0" smtClean="0"/>
              <a:t>       </a:t>
            </a:r>
            <a:r>
              <a:rPr lang="en-US" dirty="0" smtClean="0"/>
              <a:t>private void </a:t>
            </a:r>
            <a:r>
              <a:rPr lang="ru-RU" dirty="0" smtClean="0"/>
              <a:t>выход</a:t>
            </a:r>
            <a:r>
              <a:rPr lang="en-US" dirty="0" err="1" smtClean="0"/>
              <a:t>ToolStripMenuItem_Click</a:t>
            </a:r>
            <a:r>
              <a:rPr lang="en-US" dirty="0" smtClean="0"/>
              <a:t>(object sender,</a:t>
            </a:r>
            <a:endParaRPr lang="ru-RU" dirty="0" smtClean="0"/>
          </a:p>
          <a:p>
            <a:r>
              <a:rPr lang="en-US" dirty="0" smtClean="0"/>
              <a:t> </a:t>
            </a:r>
            <a:r>
              <a:rPr lang="en-US" dirty="0" err="1" smtClean="0"/>
              <a:t>EventArgs</a:t>
            </a:r>
            <a:r>
              <a:rPr lang="en-US" dirty="0" smtClean="0"/>
              <a:t> e)</a:t>
            </a:r>
            <a:endParaRPr lang="ru-RU" dirty="0" smtClean="0"/>
          </a:p>
          <a:p>
            <a:r>
              <a:rPr lang="en-US" dirty="0" smtClean="0"/>
              <a:t>        {</a:t>
            </a:r>
            <a:endParaRPr lang="ru-RU" dirty="0" smtClean="0"/>
          </a:p>
          <a:p>
            <a:r>
              <a:rPr lang="en-US" dirty="0" smtClean="0"/>
              <a:t>            Close();</a:t>
            </a:r>
            <a:endParaRPr lang="ru-RU" dirty="0" smtClean="0"/>
          </a:p>
          <a:p>
            <a:r>
              <a:rPr lang="en-US" dirty="0" smtClean="0"/>
              <a:t>        }</a:t>
            </a:r>
            <a:endParaRPr lang="ru-RU" dirty="0" smtClean="0"/>
          </a:p>
          <a:p>
            <a:r>
              <a:rPr lang="en-US" dirty="0" smtClean="0"/>
              <a:t> </a:t>
            </a:r>
            <a:endParaRPr lang="ru-RU" dirty="0" smtClean="0"/>
          </a:p>
          <a:p>
            <a:r>
              <a:rPr lang="en-US" dirty="0" smtClean="0"/>
              <a:t>        private void </a:t>
            </a:r>
            <a:r>
              <a:rPr lang="ru-RU" dirty="0" smtClean="0"/>
              <a:t>сумма</a:t>
            </a:r>
            <a:r>
              <a:rPr lang="en-US" dirty="0" err="1" smtClean="0"/>
              <a:t>ToolStripMenuItem_Click</a:t>
            </a:r>
            <a:r>
              <a:rPr lang="en-US" dirty="0" smtClean="0"/>
              <a:t>(object sender,</a:t>
            </a:r>
            <a:endParaRPr lang="ru-RU" dirty="0" smtClean="0"/>
          </a:p>
          <a:p>
            <a:r>
              <a:rPr lang="en-US" dirty="0" smtClean="0"/>
              <a:t> </a:t>
            </a:r>
            <a:r>
              <a:rPr lang="en-US" dirty="0" err="1" smtClean="0"/>
              <a:t>EventArgs</a:t>
            </a:r>
            <a:r>
              <a:rPr lang="en-US" dirty="0" smtClean="0"/>
              <a:t> e)</a:t>
            </a:r>
            <a:endParaRPr lang="ru-RU" dirty="0" smtClean="0"/>
          </a:p>
          <a:p>
            <a:r>
              <a:rPr lang="en-US" dirty="0" smtClean="0"/>
              <a:t>        {</a:t>
            </a:r>
            <a:endParaRPr lang="ru-RU" dirty="0" smtClean="0"/>
          </a:p>
          <a:p>
            <a:r>
              <a:rPr lang="en-US" dirty="0" smtClean="0"/>
              <a:t>            float a, b, c;</a:t>
            </a:r>
            <a:endParaRPr lang="ru-RU" dirty="0" smtClean="0"/>
          </a:p>
          <a:p>
            <a:r>
              <a:rPr lang="en-US" dirty="0" smtClean="0"/>
              <a:t>            a = </a:t>
            </a:r>
            <a:r>
              <a:rPr lang="en-US" dirty="0" err="1" smtClean="0"/>
              <a:t>Single.Parse</a:t>
            </a:r>
            <a:r>
              <a:rPr lang="en-US" dirty="0" smtClean="0"/>
              <a:t>(textBox1.Text);</a:t>
            </a:r>
            <a:endParaRPr lang="ru-RU" dirty="0" smtClean="0"/>
          </a:p>
          <a:p>
            <a:r>
              <a:rPr lang="en-US" dirty="0" smtClean="0"/>
              <a:t>            b = </a:t>
            </a:r>
            <a:r>
              <a:rPr lang="en-US" dirty="0" err="1" smtClean="0"/>
              <a:t>Single.Parse</a:t>
            </a:r>
            <a:r>
              <a:rPr lang="en-US" dirty="0" smtClean="0"/>
              <a:t>(textBox2.Text);</a:t>
            </a:r>
            <a:endParaRPr lang="ru-RU" dirty="0" smtClean="0"/>
          </a:p>
          <a:p>
            <a:r>
              <a:rPr lang="en-US" dirty="0" smtClean="0"/>
              <a:t>            c = a + b;</a:t>
            </a:r>
            <a:endParaRPr lang="ru-RU" dirty="0" smtClean="0"/>
          </a:p>
          <a:p>
            <a:r>
              <a:rPr lang="en-US" dirty="0" smtClean="0"/>
              <a:t>            textBox3.Text = </a:t>
            </a:r>
            <a:r>
              <a:rPr lang="en-US" dirty="0" err="1" smtClean="0"/>
              <a:t>c.ToString</a:t>
            </a:r>
            <a:r>
              <a:rPr lang="en-US" dirty="0" smtClean="0"/>
              <a:t>();</a:t>
            </a:r>
            <a:endParaRPr lang="ru-RU" dirty="0" smtClean="0"/>
          </a:p>
          <a:p>
            <a:r>
              <a:rPr lang="en-US" dirty="0" smtClean="0"/>
              <a:t>        }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 smtClean="0"/>
              <a:t>Обработчики (продолжение)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4209331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 private void </a:t>
            </a:r>
            <a:r>
              <a:rPr lang="ru-RU" dirty="0" smtClean="0"/>
              <a:t>разность</a:t>
            </a:r>
            <a:r>
              <a:rPr lang="en-US" dirty="0" err="1" smtClean="0"/>
              <a:t>ToolStripMenuItem_Click</a:t>
            </a:r>
            <a:r>
              <a:rPr lang="en-US" dirty="0" smtClean="0"/>
              <a:t>(object sender,</a:t>
            </a:r>
            <a:endParaRPr lang="ru-RU" dirty="0" smtClean="0"/>
          </a:p>
          <a:p>
            <a:r>
              <a:rPr lang="en-US" dirty="0" smtClean="0"/>
              <a:t> </a:t>
            </a:r>
            <a:r>
              <a:rPr lang="en-US" dirty="0" err="1" smtClean="0"/>
              <a:t>EventArgs</a:t>
            </a:r>
            <a:r>
              <a:rPr lang="en-US" dirty="0" smtClean="0"/>
              <a:t> e)</a:t>
            </a:r>
            <a:endParaRPr lang="ru-RU" dirty="0" smtClean="0"/>
          </a:p>
          <a:p>
            <a:r>
              <a:rPr lang="en-US" dirty="0" smtClean="0"/>
              <a:t>        {</a:t>
            </a:r>
            <a:endParaRPr lang="ru-RU" dirty="0" smtClean="0"/>
          </a:p>
          <a:p>
            <a:r>
              <a:rPr lang="en-US" dirty="0" smtClean="0"/>
              <a:t>            float a, b, c;</a:t>
            </a:r>
            <a:endParaRPr lang="ru-RU" dirty="0" smtClean="0"/>
          </a:p>
          <a:p>
            <a:r>
              <a:rPr lang="en-US" dirty="0" smtClean="0"/>
              <a:t>            a = </a:t>
            </a:r>
            <a:r>
              <a:rPr lang="en-US" dirty="0" err="1" smtClean="0"/>
              <a:t>Single.Parse</a:t>
            </a:r>
            <a:r>
              <a:rPr lang="en-US" dirty="0" smtClean="0"/>
              <a:t>(textBox1.Text);</a:t>
            </a:r>
            <a:endParaRPr lang="ru-RU" dirty="0" smtClean="0"/>
          </a:p>
          <a:p>
            <a:r>
              <a:rPr lang="en-US" dirty="0" smtClean="0"/>
              <a:t>            b = </a:t>
            </a:r>
            <a:r>
              <a:rPr lang="en-US" dirty="0" err="1" smtClean="0"/>
              <a:t>Single.Parse</a:t>
            </a:r>
            <a:r>
              <a:rPr lang="en-US" dirty="0" smtClean="0"/>
              <a:t>(textBox2.Text);</a:t>
            </a:r>
            <a:endParaRPr lang="ru-RU" dirty="0" smtClean="0"/>
          </a:p>
          <a:p>
            <a:r>
              <a:rPr lang="en-US" dirty="0" smtClean="0"/>
              <a:t>            c = a - b;</a:t>
            </a:r>
            <a:endParaRPr lang="ru-RU" dirty="0" smtClean="0"/>
          </a:p>
          <a:p>
            <a:r>
              <a:rPr lang="en-US" dirty="0" smtClean="0"/>
              <a:t>            textBox4.Text = </a:t>
            </a:r>
            <a:r>
              <a:rPr lang="en-US" dirty="0" err="1" smtClean="0"/>
              <a:t>c.ToString</a:t>
            </a:r>
            <a:r>
              <a:rPr lang="en-US" dirty="0" smtClean="0"/>
              <a:t>();</a:t>
            </a:r>
            <a:endParaRPr lang="ru-RU" dirty="0" smtClean="0"/>
          </a:p>
          <a:p>
            <a:r>
              <a:rPr lang="en-US" dirty="0" smtClean="0"/>
              <a:t>        </a:t>
            </a:r>
            <a:r>
              <a:rPr lang="ru-RU" dirty="0" smtClean="0"/>
              <a:t>}</a:t>
            </a:r>
          </a:p>
          <a:p>
            <a:endParaRPr lang="ru-RU" dirty="0" smtClean="0"/>
          </a:p>
          <a:p>
            <a:r>
              <a:rPr lang="ru-RU" dirty="0" smtClean="0"/>
              <a:t>	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b="1" dirty="0" smtClean="0"/>
              <a:t>5.2. Контекстное меню</a:t>
            </a:r>
            <a:r>
              <a:rPr lang="ru-RU" sz="2400" b="1" i="1" dirty="0" smtClean="0"/>
              <a:t/>
            </a:r>
            <a:br>
              <a:rPr lang="ru-RU" sz="2400" b="1" i="1" dirty="0" smtClean="0"/>
            </a:b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752528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	Контекстное меню связано с конкретным элементом формы и вызывается при щелчке правой кнопкой мыши по этому элементу. </a:t>
            </a:r>
            <a:endParaRPr lang="ru-RU" dirty="0" smtClean="0"/>
          </a:p>
          <a:p>
            <a:r>
              <a:rPr lang="ru-RU" dirty="0" smtClean="0"/>
              <a:t>Оно </a:t>
            </a:r>
            <a:r>
              <a:rPr lang="ru-RU" dirty="0" smtClean="0"/>
              <a:t>представляется элементом  </a:t>
            </a:r>
            <a:r>
              <a:rPr lang="en-US" b="1" i="1" dirty="0" err="1" smtClean="0"/>
              <a:t>ContextMenuStrip</a:t>
            </a:r>
            <a:r>
              <a:rPr lang="ru-RU" dirty="0" smtClean="0"/>
              <a:t>.  </a:t>
            </a:r>
            <a:endParaRPr lang="ru-RU" dirty="0" smtClean="0"/>
          </a:p>
          <a:p>
            <a:r>
              <a:rPr lang="ru-RU" dirty="0" smtClean="0"/>
              <a:t> </a:t>
            </a:r>
          </a:p>
          <a:p>
            <a:r>
              <a:rPr lang="ru-RU" dirty="0" smtClean="0"/>
              <a:t> </a:t>
            </a:r>
          </a:p>
          <a:p>
            <a:r>
              <a:rPr lang="ru-RU" dirty="0" smtClean="0"/>
              <a:t> </a:t>
            </a:r>
          </a:p>
          <a:p>
            <a:r>
              <a:rPr lang="ru-RU" dirty="0" smtClean="0"/>
              <a:t> </a:t>
            </a:r>
          </a:p>
          <a:p>
            <a:r>
              <a:rPr lang="ru-RU" dirty="0" smtClean="0"/>
              <a:t> </a:t>
            </a:r>
          </a:p>
          <a:p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  <a:r>
              <a:rPr lang="ru-RU" dirty="0" smtClean="0"/>
              <a:t> </a:t>
            </a:r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b="1" dirty="0" smtClean="0"/>
              <a:t>Контекстное </a:t>
            </a:r>
            <a:r>
              <a:rPr lang="ru-RU" sz="2400" b="1" dirty="0" smtClean="0"/>
              <a:t>меню (продолжение)</a:t>
            </a:r>
            <a:r>
              <a:rPr lang="ru-RU" sz="2400" b="1" i="1" dirty="0" smtClean="0"/>
              <a:t/>
            </a:r>
            <a:br>
              <a:rPr lang="ru-RU" sz="2400" b="1" i="1" dirty="0" smtClean="0"/>
            </a:b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 smtClean="0"/>
              <a:t>Для связывания контекстного меню с конкретным элементом нужно выделить свойство  </a:t>
            </a:r>
            <a:r>
              <a:rPr lang="en-US" b="1" i="1" dirty="0" err="1" smtClean="0"/>
              <a:t>ContextMenuStrip</a:t>
            </a:r>
            <a:r>
              <a:rPr lang="ru-RU" dirty="0" smtClean="0"/>
              <a:t>  этого элемента. </a:t>
            </a:r>
            <a:endParaRPr lang="ru-RU" dirty="0" smtClean="0"/>
          </a:p>
          <a:p>
            <a:r>
              <a:rPr lang="ru-RU" dirty="0" smtClean="0"/>
              <a:t> </a:t>
            </a:r>
          </a:p>
          <a:p>
            <a:r>
              <a:rPr lang="ru-RU" dirty="0" smtClean="0"/>
              <a:t> </a:t>
            </a:r>
          </a:p>
          <a:p>
            <a:endParaRPr lang="ru-RU" dirty="0" smtClean="0"/>
          </a:p>
          <a:p>
            <a:r>
              <a:rPr lang="ru-RU" dirty="0" smtClean="0"/>
              <a:t>	</a:t>
            </a:r>
            <a:endParaRPr lang="ru-RU" dirty="0" smtClean="0"/>
          </a:p>
          <a:p>
            <a:r>
              <a:rPr lang="ru-RU" dirty="0" smtClean="0"/>
              <a:t>Рассмотрим </a:t>
            </a:r>
            <a:r>
              <a:rPr lang="ru-RU" dirty="0" smtClean="0"/>
              <a:t>следующий пример. </a:t>
            </a:r>
            <a:endParaRPr lang="ru-RU" dirty="0" smtClean="0"/>
          </a:p>
          <a:p>
            <a:r>
              <a:rPr lang="ru-RU" dirty="0" smtClean="0"/>
              <a:t> </a:t>
            </a:r>
          </a:p>
          <a:p>
            <a:r>
              <a:rPr lang="ru-RU" dirty="0" smtClean="0"/>
              <a:t> </a:t>
            </a:r>
          </a:p>
          <a:p>
            <a:r>
              <a:rPr lang="ru-RU" dirty="0" smtClean="0"/>
              <a:t> </a:t>
            </a:r>
          </a:p>
          <a:p>
            <a:r>
              <a:rPr lang="ru-RU" dirty="0" smtClean="0"/>
              <a:t> </a:t>
            </a:r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/>
              <a:t>Пример</a:t>
            </a:r>
            <a:endParaRPr lang="ru-RU" sz="3200" dirty="0"/>
          </a:p>
        </p:txBody>
      </p:sp>
      <p:pic>
        <p:nvPicPr>
          <p:cNvPr id="4" name="Содержимое 3" descr="Рис_5_2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71600" y="1844824"/>
            <a:ext cx="7488832" cy="4176464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4704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Обработчики</a:t>
            </a: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6021288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/>
              <a:t>	 </a:t>
            </a:r>
          </a:p>
          <a:p>
            <a:r>
              <a:rPr lang="ru-RU" dirty="0" smtClean="0"/>
              <a:t> </a:t>
            </a:r>
          </a:p>
          <a:p>
            <a:r>
              <a:rPr lang="en-US" dirty="0" smtClean="0"/>
              <a:t>        private void </a:t>
            </a:r>
            <a:r>
              <a:rPr lang="ru-RU" dirty="0" smtClean="0"/>
              <a:t>пункт</a:t>
            </a:r>
            <a:r>
              <a:rPr lang="en-US" dirty="0" smtClean="0"/>
              <a:t>1ToolStripMenuItem_Click(object sender,</a:t>
            </a:r>
            <a:endParaRPr lang="ru-RU" dirty="0" smtClean="0"/>
          </a:p>
          <a:p>
            <a:r>
              <a:rPr lang="ru-RU" dirty="0" smtClean="0"/>
              <a:t>                              </a:t>
            </a:r>
            <a:r>
              <a:rPr lang="en-US" dirty="0" smtClean="0"/>
              <a:t> </a:t>
            </a:r>
            <a:r>
              <a:rPr lang="en-US" dirty="0" err="1" smtClean="0"/>
              <a:t>EventArgs</a:t>
            </a:r>
            <a:r>
              <a:rPr lang="en-US" dirty="0" smtClean="0"/>
              <a:t> e)</a:t>
            </a:r>
            <a:endParaRPr lang="ru-RU" dirty="0" smtClean="0"/>
          </a:p>
          <a:p>
            <a:r>
              <a:rPr lang="en-US" dirty="0" smtClean="0"/>
              <a:t>        {</a:t>
            </a:r>
            <a:endParaRPr lang="ru-RU" dirty="0" smtClean="0"/>
          </a:p>
          <a:p>
            <a:r>
              <a:rPr lang="en-US" dirty="0" smtClean="0"/>
              <a:t>            textBox1.Text = "</a:t>
            </a:r>
            <a:r>
              <a:rPr lang="ru-RU" dirty="0" smtClean="0"/>
              <a:t>Пункт</a:t>
            </a:r>
            <a:r>
              <a:rPr lang="en-US" dirty="0" smtClean="0"/>
              <a:t> 1";</a:t>
            </a:r>
            <a:endParaRPr lang="ru-RU" dirty="0" smtClean="0"/>
          </a:p>
          <a:p>
            <a:r>
              <a:rPr lang="en-US" dirty="0" smtClean="0"/>
              <a:t>        }</a:t>
            </a:r>
            <a:endParaRPr lang="ru-RU" dirty="0" smtClean="0"/>
          </a:p>
          <a:p>
            <a:r>
              <a:rPr lang="en-US" dirty="0" smtClean="0"/>
              <a:t> </a:t>
            </a:r>
            <a:endParaRPr lang="ru-RU" dirty="0" smtClean="0"/>
          </a:p>
          <a:p>
            <a:r>
              <a:rPr lang="en-US" dirty="0" smtClean="0"/>
              <a:t>        private void </a:t>
            </a:r>
            <a:r>
              <a:rPr lang="ru-RU" dirty="0" smtClean="0"/>
              <a:t>пункт</a:t>
            </a:r>
            <a:r>
              <a:rPr lang="en-US" dirty="0" smtClean="0"/>
              <a:t>2ToolStripMenuItem_Click(object sender,</a:t>
            </a:r>
            <a:endParaRPr lang="ru-RU" dirty="0" smtClean="0"/>
          </a:p>
          <a:p>
            <a:r>
              <a:rPr lang="en-US" dirty="0" smtClean="0"/>
              <a:t>                               </a:t>
            </a:r>
            <a:r>
              <a:rPr lang="en-US" dirty="0" err="1" smtClean="0"/>
              <a:t>EventArgs</a:t>
            </a:r>
            <a:r>
              <a:rPr lang="en-US" dirty="0" smtClean="0"/>
              <a:t> e)</a:t>
            </a:r>
            <a:endParaRPr lang="ru-RU" dirty="0" smtClean="0"/>
          </a:p>
          <a:p>
            <a:r>
              <a:rPr lang="en-US" dirty="0" smtClean="0"/>
              <a:t>        {</a:t>
            </a:r>
            <a:endParaRPr lang="ru-RU" dirty="0" smtClean="0"/>
          </a:p>
          <a:p>
            <a:r>
              <a:rPr lang="en-US" dirty="0" smtClean="0"/>
              <a:t>            textBox1.Text = "</a:t>
            </a:r>
            <a:r>
              <a:rPr lang="ru-RU" dirty="0" smtClean="0"/>
              <a:t>Пункт</a:t>
            </a:r>
            <a:r>
              <a:rPr lang="en-US" dirty="0" smtClean="0"/>
              <a:t> 2";</a:t>
            </a:r>
            <a:endParaRPr lang="ru-RU" dirty="0" smtClean="0"/>
          </a:p>
          <a:p>
            <a:r>
              <a:rPr lang="en-US" dirty="0" smtClean="0"/>
              <a:t>        }</a:t>
            </a:r>
            <a:endParaRPr lang="ru-RU" dirty="0" smtClean="0"/>
          </a:p>
          <a:p>
            <a:r>
              <a:rPr lang="en-US" dirty="0" smtClean="0"/>
              <a:t> </a:t>
            </a:r>
            <a:endParaRPr lang="ru-RU" dirty="0" smtClean="0"/>
          </a:p>
          <a:p>
            <a:r>
              <a:rPr lang="en-US" dirty="0" smtClean="0"/>
              <a:t>        private void </a:t>
            </a:r>
            <a:r>
              <a:rPr lang="ru-RU" dirty="0" smtClean="0"/>
              <a:t>пункт</a:t>
            </a:r>
            <a:r>
              <a:rPr lang="en-US" dirty="0" smtClean="0"/>
              <a:t>3ToolStripMenuItem_Click(object sender,</a:t>
            </a:r>
            <a:endParaRPr lang="ru-RU" dirty="0" smtClean="0"/>
          </a:p>
          <a:p>
            <a:r>
              <a:rPr lang="en-US" dirty="0" smtClean="0"/>
              <a:t>                               </a:t>
            </a:r>
            <a:r>
              <a:rPr lang="en-US" dirty="0" err="1" smtClean="0"/>
              <a:t>EventArgs</a:t>
            </a:r>
            <a:r>
              <a:rPr lang="en-US" dirty="0" smtClean="0"/>
              <a:t> e)</a:t>
            </a:r>
            <a:endParaRPr lang="ru-RU" dirty="0" smtClean="0"/>
          </a:p>
          <a:p>
            <a:r>
              <a:rPr lang="en-US" dirty="0" smtClean="0"/>
              <a:t>        {</a:t>
            </a:r>
            <a:endParaRPr lang="ru-RU" dirty="0" smtClean="0"/>
          </a:p>
          <a:p>
            <a:r>
              <a:rPr lang="en-US" dirty="0" smtClean="0"/>
              <a:t>            textBox1.Text = "</a:t>
            </a:r>
            <a:r>
              <a:rPr lang="ru-RU" dirty="0" smtClean="0"/>
              <a:t>Пункт </a:t>
            </a:r>
            <a:r>
              <a:rPr lang="en-US" dirty="0" smtClean="0"/>
              <a:t>3";</a:t>
            </a:r>
            <a:endParaRPr lang="ru-RU" dirty="0" smtClean="0"/>
          </a:p>
          <a:p>
            <a:r>
              <a:rPr lang="en-US" dirty="0" smtClean="0"/>
              <a:t>        </a:t>
            </a:r>
            <a:r>
              <a:rPr lang="en-US" dirty="0" smtClean="0"/>
              <a:t>}</a:t>
            </a:r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b="1" dirty="0" smtClean="0"/>
              <a:t>5.3. Использование графики</a:t>
            </a:r>
            <a:r>
              <a:rPr lang="ru-RU" sz="2400" b="1" i="1" dirty="0" smtClean="0"/>
              <a:t/>
            </a:r>
            <a:br>
              <a:rPr lang="ru-RU" sz="2400" b="1" i="1" dirty="0" smtClean="0"/>
            </a:br>
            <a:endParaRPr lang="ru-RU" sz="24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 smtClean="0"/>
              <a:t>	Графические возможности реализуются с помощью объекта  </a:t>
            </a:r>
            <a:r>
              <a:rPr lang="en-US" b="1" i="1" dirty="0" smtClean="0"/>
              <a:t>Graphics</a:t>
            </a:r>
            <a:r>
              <a:rPr lang="ru-RU" dirty="0" smtClean="0"/>
              <a:t>. </a:t>
            </a:r>
            <a:endParaRPr lang="ru-RU" dirty="0" smtClean="0"/>
          </a:p>
          <a:p>
            <a:r>
              <a:rPr lang="ru-RU" dirty="0" smtClean="0"/>
              <a:t>Объект  </a:t>
            </a:r>
            <a:r>
              <a:rPr lang="en-US" b="1" i="1" dirty="0" smtClean="0"/>
              <a:t>Graphics</a:t>
            </a:r>
            <a:r>
              <a:rPr lang="ru-RU" dirty="0" smtClean="0"/>
              <a:t>  программа получает разными способами в зависимости от того,  какое событие обрабатывается. </a:t>
            </a:r>
            <a:endParaRPr lang="ru-RU" dirty="0" smtClean="0"/>
          </a:p>
          <a:p>
            <a:r>
              <a:rPr lang="ru-RU" dirty="0" smtClean="0"/>
              <a:t>Если </a:t>
            </a:r>
            <a:r>
              <a:rPr lang="ru-RU" dirty="0" smtClean="0"/>
              <a:t>рисование на форме производится при обработке события  </a:t>
            </a:r>
            <a:r>
              <a:rPr lang="en-US" b="1" i="1" dirty="0" smtClean="0"/>
              <a:t>Paint</a:t>
            </a:r>
            <a:r>
              <a:rPr lang="ru-RU" dirty="0" smtClean="0"/>
              <a:t>,  то объект  </a:t>
            </a:r>
            <a:r>
              <a:rPr lang="en-US" b="1" i="1" dirty="0" smtClean="0"/>
              <a:t>Graphics</a:t>
            </a:r>
            <a:r>
              <a:rPr lang="en-US" dirty="0" smtClean="0"/>
              <a:t> </a:t>
            </a:r>
            <a:r>
              <a:rPr lang="ru-RU" dirty="0" smtClean="0"/>
              <a:t> программа </a:t>
            </a:r>
            <a:r>
              <a:rPr lang="ru-RU" dirty="0" smtClean="0"/>
              <a:t>получает из параметра обработчика следующим образом:</a:t>
            </a:r>
          </a:p>
          <a:p>
            <a:r>
              <a:rPr lang="ru-RU" dirty="0" smtClean="0"/>
              <a:t> </a:t>
            </a:r>
          </a:p>
          <a:p>
            <a:r>
              <a:rPr lang="ru-RU" dirty="0" smtClean="0"/>
              <a:t>        </a:t>
            </a:r>
            <a:r>
              <a:rPr lang="en-US" dirty="0" smtClean="0"/>
              <a:t>private void Form1_Paint(object sender, </a:t>
            </a:r>
            <a:r>
              <a:rPr lang="en-US" dirty="0" err="1" smtClean="0"/>
              <a:t>PaintEventArgs</a:t>
            </a:r>
            <a:r>
              <a:rPr lang="en-US" dirty="0" smtClean="0"/>
              <a:t> e)</a:t>
            </a:r>
            <a:endParaRPr lang="ru-RU" dirty="0" smtClean="0"/>
          </a:p>
          <a:p>
            <a:r>
              <a:rPr lang="en-US" dirty="0" smtClean="0"/>
              <a:t>        </a:t>
            </a:r>
            <a:r>
              <a:rPr lang="ru-RU" dirty="0" smtClean="0"/>
              <a:t>{</a:t>
            </a:r>
          </a:p>
          <a:p>
            <a:r>
              <a:rPr lang="ru-RU" dirty="0" smtClean="0"/>
              <a:t>            </a:t>
            </a:r>
            <a:r>
              <a:rPr lang="ru-RU" dirty="0" err="1" smtClean="0"/>
              <a:t>Graphics</a:t>
            </a:r>
            <a:r>
              <a:rPr lang="ru-RU" dirty="0" smtClean="0"/>
              <a:t> </a:t>
            </a:r>
            <a:r>
              <a:rPr lang="ru-RU" dirty="0" err="1" smtClean="0"/>
              <a:t>g</a:t>
            </a:r>
            <a:r>
              <a:rPr lang="ru-RU" dirty="0" smtClean="0"/>
              <a:t> = </a:t>
            </a:r>
            <a:r>
              <a:rPr lang="ru-RU" dirty="0" err="1" smtClean="0"/>
              <a:t>e.Graphics</a:t>
            </a:r>
            <a:r>
              <a:rPr lang="ru-RU" dirty="0" smtClean="0"/>
              <a:t>;</a:t>
            </a:r>
          </a:p>
          <a:p>
            <a:r>
              <a:rPr lang="ru-RU" dirty="0" smtClean="0"/>
              <a:t>            . . .</a:t>
            </a:r>
          </a:p>
          <a:p>
            <a:r>
              <a:rPr lang="ru-RU" dirty="0" smtClean="0"/>
              <a:t>         }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smtClean="0"/>
              <a:t>Графика (продолжение)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700809"/>
            <a:ext cx="8229600" cy="4104456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	При обработке других событий объект  </a:t>
            </a:r>
            <a:r>
              <a:rPr lang="en-US" b="1" i="1" dirty="0" smtClean="0"/>
              <a:t>Graphics</a:t>
            </a:r>
            <a:r>
              <a:rPr lang="en-US" dirty="0" smtClean="0"/>
              <a:t> </a:t>
            </a:r>
            <a:r>
              <a:rPr lang="ru-RU" dirty="0" smtClean="0"/>
              <a:t>  программа </a:t>
            </a:r>
            <a:r>
              <a:rPr lang="ru-RU" dirty="0" smtClean="0"/>
              <a:t>получает следующим образом:</a:t>
            </a:r>
          </a:p>
          <a:p>
            <a:r>
              <a:rPr lang="ru-RU" dirty="0" smtClean="0"/>
              <a:t> </a:t>
            </a:r>
          </a:p>
          <a:p>
            <a:r>
              <a:rPr lang="ru-RU" dirty="0" smtClean="0"/>
              <a:t>           . . . </a:t>
            </a:r>
          </a:p>
          <a:p>
            <a:r>
              <a:rPr lang="ru-RU" dirty="0" smtClean="0"/>
              <a:t>     </a:t>
            </a:r>
            <a:r>
              <a:rPr lang="en-US" dirty="0" smtClean="0"/>
              <a:t>Graphics </a:t>
            </a:r>
            <a:r>
              <a:rPr lang="en-US" dirty="0" smtClean="0"/>
              <a:t>g</a:t>
            </a:r>
            <a:r>
              <a:rPr lang="ru-RU" dirty="0" smtClean="0"/>
              <a:t> = </a:t>
            </a:r>
            <a:r>
              <a:rPr lang="en-US" dirty="0" smtClean="0"/>
              <a:t>Graphics</a:t>
            </a:r>
            <a:r>
              <a:rPr lang="ru-RU" dirty="0" smtClean="0"/>
              <a:t>.</a:t>
            </a:r>
            <a:r>
              <a:rPr lang="en-US" dirty="0" err="1" smtClean="0"/>
              <a:t>FromHwnd</a:t>
            </a:r>
            <a:r>
              <a:rPr lang="ru-RU" dirty="0" smtClean="0"/>
              <a:t>(</a:t>
            </a:r>
            <a:r>
              <a:rPr lang="en-US" dirty="0" smtClean="0"/>
              <a:t>this</a:t>
            </a:r>
            <a:r>
              <a:rPr lang="ru-RU" dirty="0" smtClean="0"/>
              <a:t>.</a:t>
            </a:r>
            <a:r>
              <a:rPr lang="en-US" dirty="0" smtClean="0"/>
              <a:t>Handle</a:t>
            </a:r>
            <a:r>
              <a:rPr lang="ru-RU" dirty="0" smtClean="0"/>
              <a:t>);</a:t>
            </a:r>
          </a:p>
          <a:p>
            <a:r>
              <a:rPr lang="ru-RU" dirty="0" smtClean="0"/>
              <a:t>           </a:t>
            </a:r>
            <a:r>
              <a:rPr lang="en-US" dirty="0" smtClean="0"/>
              <a:t>. </a:t>
            </a:r>
            <a:r>
              <a:rPr lang="en-US" dirty="0" smtClean="0"/>
              <a:t>. </a:t>
            </a:r>
            <a:r>
              <a:rPr lang="en-US" dirty="0" smtClean="0"/>
              <a:t>.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 	Здесь </a:t>
            </a:r>
            <a:r>
              <a:rPr lang="ru-RU" dirty="0" smtClean="0"/>
              <a:t>свойство  </a:t>
            </a:r>
            <a:r>
              <a:rPr lang="en-US" b="1" i="1" dirty="0" smtClean="0"/>
              <a:t>Handle</a:t>
            </a:r>
            <a:r>
              <a:rPr lang="ru-RU" dirty="0" smtClean="0"/>
              <a:t> – это дескриптор  </a:t>
            </a:r>
            <a:r>
              <a:rPr lang="en-US" b="1" i="1" dirty="0" err="1" smtClean="0"/>
              <a:t>Hwnd</a:t>
            </a:r>
            <a:r>
              <a:rPr lang="ru-RU" dirty="0" smtClean="0"/>
              <a:t>  окна формы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dirty="0" smtClean="0"/>
              <a:t> </a:t>
            </a:r>
            <a:endParaRPr lang="ru-RU" dirty="0" smtClean="0"/>
          </a:p>
          <a:p>
            <a:r>
              <a:rPr lang="ru-RU" smtClean="0"/>
              <a:t> 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</TotalTime>
  <Words>150</Words>
  <Application>Microsoft Office PowerPoint</Application>
  <PresentationFormat>Экран (4:3)</PresentationFormat>
  <Paragraphs>183</Paragraphs>
  <Slides>19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0" baseType="lpstr">
      <vt:lpstr>Тема Office</vt:lpstr>
      <vt:lpstr>Лекция 3</vt:lpstr>
      <vt:lpstr>4.2. Элемент SaveFileDialog </vt:lpstr>
      <vt:lpstr>Вызов диалогового окна</vt:lpstr>
      <vt:lpstr>4.3. Элемент FontDialog </vt:lpstr>
      <vt:lpstr>Пример</vt:lpstr>
      <vt:lpstr>Пример (продолжение)</vt:lpstr>
      <vt:lpstr>4.4. Элемент MessageBox   </vt:lpstr>
      <vt:lpstr>Элемент MessageBox (продолжение)</vt:lpstr>
      <vt:lpstr> 5. МЕНЮ  И  ГРАФИКА     5.1. Работа с меню </vt:lpstr>
      <vt:lpstr>Пример</vt:lpstr>
      <vt:lpstr>Пример (продолжение)</vt:lpstr>
      <vt:lpstr>Обработчики</vt:lpstr>
      <vt:lpstr>Обработчики (продолжение)</vt:lpstr>
      <vt:lpstr>5.2. Контекстное меню </vt:lpstr>
      <vt:lpstr>Контекстное меню (продолжение) </vt:lpstr>
      <vt:lpstr>Пример</vt:lpstr>
      <vt:lpstr>Обработчики</vt:lpstr>
      <vt:lpstr>5.3. Использование графики </vt:lpstr>
      <vt:lpstr>Графика (продолжение)</vt:lpstr>
    </vt:vector>
  </TitlesOfParts>
  <Company>Кафедра ММ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Князев А.В.</dc:creator>
  <cp:lastModifiedBy>Князев А.В.</cp:lastModifiedBy>
  <cp:revision>44</cp:revision>
  <dcterms:created xsi:type="dcterms:W3CDTF">2020-09-12T08:31:53Z</dcterms:created>
  <dcterms:modified xsi:type="dcterms:W3CDTF">2020-09-13T11:05:00Z</dcterms:modified>
</cp:coreProperties>
</file>