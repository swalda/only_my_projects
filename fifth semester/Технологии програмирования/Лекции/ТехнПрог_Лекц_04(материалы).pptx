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3" r:id="rId3"/>
    <p:sldId id="274" r:id="rId4"/>
    <p:sldId id="275" r:id="rId5"/>
    <p:sldId id="276" r:id="rId6"/>
    <p:sldId id="277" r:id="rId7"/>
    <p:sldId id="278" r:id="rId8"/>
    <p:sldId id="279" r:id="rId9"/>
    <p:sldId id="280" r:id="rId10"/>
    <p:sldId id="281" r:id="rId11"/>
    <p:sldId id="282" r:id="rId12"/>
    <p:sldId id="283" r:id="rId13"/>
    <p:sldId id="284" r:id="rId14"/>
    <p:sldId id="285" r:id="rId15"/>
    <p:sldId id="286" r:id="rId16"/>
    <p:sldId id="287" r:id="rId17"/>
    <p:sldId id="288" r:id="rId18"/>
    <p:sldId id="289" r:id="rId19"/>
    <p:sldId id="290" r:id="rId20"/>
    <p:sldId id="291" r:id="rId21"/>
    <p:sldId id="292" r:id="rId22"/>
    <p:sldId id="293" r:id="rId23"/>
    <p:sldId id="294" r:id="rId24"/>
    <p:sldId id="295" r:id="rId25"/>
    <p:sldId id="296" r:id="rId26"/>
    <p:sldId id="297" r:id="rId27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546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0CE36-6DB9-477A-BB4F-B9D38EC0BCEE}" type="datetimeFigureOut">
              <a:rPr lang="ru-RU" smtClean="0"/>
              <a:pPr/>
              <a:t>18.09.2020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E3652-55DD-4503-A67B-6CBA22E0253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0CE36-6DB9-477A-BB4F-B9D38EC0BCEE}" type="datetimeFigureOut">
              <a:rPr lang="ru-RU" smtClean="0"/>
              <a:pPr/>
              <a:t>18.09.2020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E3652-55DD-4503-A67B-6CBA22E0253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0CE36-6DB9-477A-BB4F-B9D38EC0BCEE}" type="datetimeFigureOut">
              <a:rPr lang="ru-RU" smtClean="0"/>
              <a:pPr/>
              <a:t>18.09.2020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E3652-55DD-4503-A67B-6CBA22E0253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0CE36-6DB9-477A-BB4F-B9D38EC0BCEE}" type="datetimeFigureOut">
              <a:rPr lang="ru-RU" smtClean="0"/>
              <a:pPr/>
              <a:t>18.09.2020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E3652-55DD-4503-A67B-6CBA22E0253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0CE36-6DB9-477A-BB4F-B9D38EC0BCEE}" type="datetimeFigureOut">
              <a:rPr lang="ru-RU" smtClean="0"/>
              <a:pPr/>
              <a:t>18.09.2020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E3652-55DD-4503-A67B-6CBA22E0253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0CE36-6DB9-477A-BB4F-B9D38EC0BCEE}" type="datetimeFigureOut">
              <a:rPr lang="ru-RU" smtClean="0"/>
              <a:pPr/>
              <a:t>18.09.2020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E3652-55DD-4503-A67B-6CBA22E0253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0CE36-6DB9-477A-BB4F-B9D38EC0BCEE}" type="datetimeFigureOut">
              <a:rPr lang="ru-RU" smtClean="0"/>
              <a:pPr/>
              <a:t>18.09.2020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E3652-55DD-4503-A67B-6CBA22E0253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0CE36-6DB9-477A-BB4F-B9D38EC0BCEE}" type="datetimeFigureOut">
              <a:rPr lang="ru-RU" smtClean="0"/>
              <a:pPr/>
              <a:t>18.09.2020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E3652-55DD-4503-A67B-6CBA22E0253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0CE36-6DB9-477A-BB4F-B9D38EC0BCEE}" type="datetimeFigureOut">
              <a:rPr lang="ru-RU" smtClean="0"/>
              <a:pPr/>
              <a:t>18.09.2020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E3652-55DD-4503-A67B-6CBA22E0253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0CE36-6DB9-477A-BB4F-B9D38EC0BCEE}" type="datetimeFigureOut">
              <a:rPr lang="ru-RU" smtClean="0"/>
              <a:pPr/>
              <a:t>18.09.2020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E3652-55DD-4503-A67B-6CBA22E0253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0CE36-6DB9-477A-BB4F-B9D38EC0BCEE}" type="datetimeFigureOut">
              <a:rPr lang="ru-RU" smtClean="0"/>
              <a:pPr/>
              <a:t>18.09.2020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E3652-55DD-4503-A67B-6CBA22E0253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40CE36-6DB9-477A-BB4F-B9D38EC0BCEE}" type="datetimeFigureOut">
              <a:rPr lang="ru-RU" smtClean="0"/>
              <a:pPr/>
              <a:t>18.09.2020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2E3652-55DD-4503-A67B-6CBA22E0253C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692697"/>
            <a:ext cx="7772400" cy="2448272"/>
          </a:xfrm>
        </p:spPr>
        <p:txBody>
          <a:bodyPr>
            <a:normAutofit/>
          </a:bodyPr>
          <a:lstStyle/>
          <a:p>
            <a:r>
              <a:rPr lang="ru-RU" sz="3200" dirty="0" smtClean="0"/>
              <a:t>Лекция 4</a:t>
            </a:r>
            <a:endParaRPr lang="ru-RU" sz="32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22 сентября 2020г.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b="1" dirty="0" smtClean="0"/>
              <a:t>5.3. Использование графики</a:t>
            </a:r>
            <a:r>
              <a:rPr lang="ru-RU" sz="2400" b="1" i="1" dirty="0" smtClean="0"/>
              <a:t/>
            </a:r>
            <a:br>
              <a:rPr lang="ru-RU" sz="2400" b="1" i="1" dirty="0" smtClean="0"/>
            </a:br>
            <a:endParaRPr lang="ru-RU" sz="24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u-RU" dirty="0" smtClean="0"/>
              <a:t>	Графические возможности реализуются с помощью объекта  </a:t>
            </a:r>
            <a:r>
              <a:rPr lang="en-US" b="1" i="1" dirty="0" smtClean="0"/>
              <a:t>Graphics</a:t>
            </a:r>
            <a:r>
              <a:rPr lang="ru-RU" dirty="0" smtClean="0"/>
              <a:t>. </a:t>
            </a:r>
          </a:p>
          <a:p>
            <a:endParaRPr lang="ru-RU" dirty="0" smtClean="0"/>
          </a:p>
          <a:p>
            <a:r>
              <a:rPr lang="ru-RU" dirty="0" smtClean="0"/>
              <a:t> </a:t>
            </a:r>
            <a:endParaRPr lang="ru-RU" dirty="0" smtClean="0"/>
          </a:p>
          <a:p>
            <a:r>
              <a:rPr lang="ru-RU" dirty="0" smtClean="0"/>
              <a:t> </a:t>
            </a:r>
          </a:p>
          <a:p>
            <a:endParaRPr lang="ru-RU" dirty="0" smtClean="0"/>
          </a:p>
          <a:p>
            <a:r>
              <a:rPr lang="ru-RU" dirty="0" smtClean="0"/>
              <a:t> </a:t>
            </a:r>
          </a:p>
          <a:p>
            <a:r>
              <a:rPr lang="ru-RU" dirty="0" smtClean="0"/>
              <a:t>        </a:t>
            </a:r>
            <a:r>
              <a:rPr lang="en-US" dirty="0" smtClean="0"/>
              <a:t>private void Form1_Paint(object sender, </a:t>
            </a:r>
            <a:r>
              <a:rPr lang="en-US" dirty="0" err="1" smtClean="0"/>
              <a:t>PaintEventArgs</a:t>
            </a:r>
            <a:r>
              <a:rPr lang="en-US" dirty="0" smtClean="0"/>
              <a:t> e)</a:t>
            </a:r>
            <a:endParaRPr lang="ru-RU" dirty="0" smtClean="0"/>
          </a:p>
          <a:p>
            <a:r>
              <a:rPr lang="en-US" dirty="0" smtClean="0"/>
              <a:t>        </a:t>
            </a:r>
            <a:r>
              <a:rPr lang="ru-RU" dirty="0" smtClean="0"/>
              <a:t>{</a:t>
            </a:r>
          </a:p>
          <a:p>
            <a:r>
              <a:rPr lang="ru-RU" dirty="0" smtClean="0"/>
              <a:t>            </a:t>
            </a:r>
            <a:r>
              <a:rPr lang="ru-RU" dirty="0" err="1" smtClean="0"/>
              <a:t>Graphics</a:t>
            </a:r>
            <a:r>
              <a:rPr lang="ru-RU" dirty="0" smtClean="0"/>
              <a:t> </a:t>
            </a:r>
            <a:r>
              <a:rPr lang="ru-RU" dirty="0" err="1" smtClean="0"/>
              <a:t>g</a:t>
            </a:r>
            <a:r>
              <a:rPr lang="ru-RU" dirty="0" smtClean="0"/>
              <a:t> = </a:t>
            </a:r>
            <a:r>
              <a:rPr lang="ru-RU" dirty="0" err="1" smtClean="0"/>
              <a:t>e.Graphics</a:t>
            </a:r>
            <a:r>
              <a:rPr lang="ru-RU" dirty="0" smtClean="0"/>
              <a:t>;</a:t>
            </a:r>
          </a:p>
          <a:p>
            <a:r>
              <a:rPr lang="ru-RU" dirty="0" smtClean="0"/>
              <a:t>            . . .</a:t>
            </a:r>
          </a:p>
          <a:p>
            <a:r>
              <a:rPr lang="ru-RU" dirty="0" smtClean="0"/>
              <a:t>         }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 smtClean="0"/>
              <a:t>Графика (продолжение)</a:t>
            </a:r>
            <a:endParaRPr lang="ru-RU" sz="32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700809"/>
            <a:ext cx="8229600" cy="4104456"/>
          </a:xfrm>
        </p:spPr>
        <p:txBody>
          <a:bodyPr>
            <a:normAutofit fontScale="85000" lnSpcReduction="10000"/>
          </a:bodyPr>
          <a:lstStyle/>
          <a:p>
            <a:r>
              <a:rPr lang="ru-RU" dirty="0" smtClean="0"/>
              <a:t>	</a:t>
            </a:r>
          </a:p>
          <a:p>
            <a:r>
              <a:rPr lang="ru-RU" dirty="0" smtClean="0"/>
              <a:t> </a:t>
            </a:r>
          </a:p>
          <a:p>
            <a:r>
              <a:rPr lang="ru-RU" dirty="0" smtClean="0"/>
              <a:t>           . . . </a:t>
            </a:r>
          </a:p>
          <a:p>
            <a:r>
              <a:rPr lang="ru-RU" dirty="0" smtClean="0"/>
              <a:t>     </a:t>
            </a:r>
            <a:r>
              <a:rPr lang="en-US" dirty="0" smtClean="0"/>
              <a:t>Graphics g</a:t>
            </a:r>
            <a:r>
              <a:rPr lang="ru-RU" dirty="0" smtClean="0"/>
              <a:t> = </a:t>
            </a:r>
            <a:r>
              <a:rPr lang="en-US" dirty="0" smtClean="0"/>
              <a:t>Graphics</a:t>
            </a:r>
            <a:r>
              <a:rPr lang="ru-RU" dirty="0" smtClean="0"/>
              <a:t>.</a:t>
            </a:r>
            <a:r>
              <a:rPr lang="en-US" dirty="0" err="1" smtClean="0"/>
              <a:t>FromHwnd</a:t>
            </a:r>
            <a:r>
              <a:rPr lang="ru-RU" dirty="0" smtClean="0"/>
              <a:t>(</a:t>
            </a:r>
            <a:r>
              <a:rPr lang="en-US" dirty="0" smtClean="0"/>
              <a:t>this</a:t>
            </a:r>
            <a:r>
              <a:rPr lang="ru-RU" dirty="0" smtClean="0"/>
              <a:t>.</a:t>
            </a:r>
            <a:r>
              <a:rPr lang="en-US" dirty="0" smtClean="0"/>
              <a:t>Handle</a:t>
            </a:r>
            <a:r>
              <a:rPr lang="ru-RU" dirty="0" smtClean="0"/>
              <a:t>);</a:t>
            </a:r>
          </a:p>
          <a:p>
            <a:r>
              <a:rPr lang="ru-RU" dirty="0" smtClean="0"/>
              <a:t>           </a:t>
            </a:r>
            <a:r>
              <a:rPr lang="en-US" dirty="0" smtClean="0"/>
              <a:t>. . .</a:t>
            </a:r>
            <a:endParaRPr lang="ru-RU" dirty="0" smtClean="0"/>
          </a:p>
          <a:p>
            <a:r>
              <a:rPr lang="ru-RU" dirty="0" smtClean="0"/>
              <a:t> </a:t>
            </a:r>
          </a:p>
          <a:p>
            <a:r>
              <a:rPr lang="ru-RU" dirty="0" smtClean="0"/>
              <a:t> </a:t>
            </a:r>
            <a:endParaRPr lang="ru-RU" dirty="0" smtClean="0"/>
          </a:p>
          <a:p>
            <a:endParaRPr lang="ru-RU" dirty="0" smtClean="0"/>
          </a:p>
          <a:p>
            <a:r>
              <a:rPr lang="ru-RU" dirty="0" smtClean="0"/>
              <a:t> 	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22114"/>
          </a:xfrm>
        </p:spPr>
        <p:txBody>
          <a:bodyPr>
            <a:normAutofit/>
          </a:bodyPr>
          <a:lstStyle/>
          <a:p>
            <a:r>
              <a:rPr lang="ru-RU" sz="2400" dirty="0" smtClean="0"/>
              <a:t>Цвет</a:t>
            </a:r>
            <a:endParaRPr lang="ru-RU" sz="24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5184576"/>
          </a:xfrm>
        </p:spPr>
        <p:txBody>
          <a:bodyPr>
            <a:normAutofit fontScale="62500" lnSpcReduction="20000"/>
          </a:bodyPr>
          <a:lstStyle/>
          <a:p>
            <a:r>
              <a:rPr lang="ru-RU" dirty="0" smtClean="0"/>
              <a:t>	Цвет для рисования задаётся с помощью структуры  </a:t>
            </a:r>
            <a:r>
              <a:rPr lang="en-US" b="1" i="1" dirty="0" smtClean="0"/>
              <a:t>Color</a:t>
            </a:r>
            <a:r>
              <a:rPr lang="ru-RU" dirty="0" smtClean="0"/>
              <a:t>.  Эта структура содержит ряд статических полей для задания цвета, в частности:</a:t>
            </a:r>
          </a:p>
          <a:p>
            <a:r>
              <a:rPr lang="ru-RU" dirty="0" smtClean="0"/>
              <a:t> </a:t>
            </a:r>
          </a:p>
          <a:p>
            <a:r>
              <a:rPr lang="ru-RU" dirty="0" smtClean="0"/>
              <a:t>	</a:t>
            </a:r>
            <a:r>
              <a:rPr lang="en-US" i="1" dirty="0" smtClean="0"/>
              <a:t>Red</a:t>
            </a:r>
            <a:r>
              <a:rPr lang="ru-RU" dirty="0" smtClean="0"/>
              <a:t> 		– красный </a:t>
            </a:r>
          </a:p>
          <a:p>
            <a:r>
              <a:rPr lang="ru-RU" i="1" dirty="0" smtClean="0"/>
              <a:t>	</a:t>
            </a:r>
            <a:r>
              <a:rPr lang="en-US" i="1" dirty="0" smtClean="0"/>
              <a:t>Green</a:t>
            </a:r>
            <a:r>
              <a:rPr lang="ru-RU" dirty="0" smtClean="0"/>
              <a:t> 		– зелёный</a:t>
            </a:r>
          </a:p>
          <a:p>
            <a:r>
              <a:rPr lang="ru-RU" i="1" dirty="0" smtClean="0"/>
              <a:t>	</a:t>
            </a:r>
            <a:r>
              <a:rPr lang="en-US" i="1" dirty="0" smtClean="0"/>
              <a:t>Blue</a:t>
            </a:r>
            <a:r>
              <a:rPr lang="ru-RU" dirty="0" smtClean="0"/>
              <a:t> 		– синий</a:t>
            </a:r>
          </a:p>
          <a:p>
            <a:r>
              <a:rPr lang="ru-RU" i="1" dirty="0" smtClean="0"/>
              <a:t>	</a:t>
            </a:r>
            <a:r>
              <a:rPr lang="en-US" i="1" dirty="0" smtClean="0"/>
              <a:t>Brown</a:t>
            </a:r>
            <a:r>
              <a:rPr lang="ru-RU" dirty="0" smtClean="0"/>
              <a:t> 		– коричневый</a:t>
            </a:r>
          </a:p>
          <a:p>
            <a:r>
              <a:rPr lang="ru-RU" i="1" dirty="0" smtClean="0"/>
              <a:t>	</a:t>
            </a:r>
            <a:r>
              <a:rPr lang="en-US" i="1" dirty="0" smtClean="0"/>
              <a:t>Cyan</a:t>
            </a:r>
            <a:r>
              <a:rPr lang="ru-RU" dirty="0" smtClean="0"/>
              <a:t> 		– бирюзовый</a:t>
            </a:r>
          </a:p>
          <a:p>
            <a:r>
              <a:rPr lang="ru-RU" i="1" dirty="0" smtClean="0"/>
              <a:t>	</a:t>
            </a:r>
            <a:r>
              <a:rPr lang="en-US" i="1" dirty="0" smtClean="0"/>
              <a:t>Magenta</a:t>
            </a:r>
            <a:r>
              <a:rPr lang="ru-RU" dirty="0" smtClean="0"/>
              <a:t> 	– малиновый</a:t>
            </a:r>
          </a:p>
          <a:p>
            <a:r>
              <a:rPr lang="ru-RU" i="1" dirty="0" smtClean="0"/>
              <a:t>	</a:t>
            </a:r>
            <a:r>
              <a:rPr lang="en-US" i="1" dirty="0" smtClean="0"/>
              <a:t>Orange</a:t>
            </a:r>
            <a:r>
              <a:rPr lang="ru-RU" dirty="0" smtClean="0"/>
              <a:t> 		– оранжевый</a:t>
            </a:r>
          </a:p>
          <a:p>
            <a:r>
              <a:rPr lang="ru-RU" i="1" dirty="0" smtClean="0"/>
              <a:t>	</a:t>
            </a:r>
            <a:r>
              <a:rPr lang="en-US" i="1" dirty="0" smtClean="0"/>
              <a:t>Pink</a:t>
            </a:r>
            <a:r>
              <a:rPr lang="ru-RU" dirty="0" smtClean="0"/>
              <a:t> 		– розовый</a:t>
            </a:r>
          </a:p>
          <a:p>
            <a:r>
              <a:rPr lang="ru-RU" i="1" dirty="0" smtClean="0"/>
              <a:t>	</a:t>
            </a:r>
            <a:r>
              <a:rPr lang="en-US" i="1" dirty="0" smtClean="0"/>
              <a:t>Yellow</a:t>
            </a:r>
            <a:r>
              <a:rPr lang="ru-RU" dirty="0" smtClean="0"/>
              <a:t> 		– жёлтый</a:t>
            </a:r>
          </a:p>
          <a:p>
            <a:r>
              <a:rPr lang="ru-RU" i="1" dirty="0" smtClean="0"/>
              <a:t>	</a:t>
            </a:r>
            <a:r>
              <a:rPr lang="en-US" i="1" dirty="0" smtClean="0"/>
              <a:t>White</a:t>
            </a:r>
            <a:r>
              <a:rPr lang="en-US" dirty="0" smtClean="0"/>
              <a:t> 	</a:t>
            </a:r>
            <a:r>
              <a:rPr lang="ru-RU" dirty="0" smtClean="0"/>
              <a:t>	</a:t>
            </a:r>
            <a:r>
              <a:rPr lang="en-US" dirty="0" smtClean="0"/>
              <a:t>– </a:t>
            </a:r>
            <a:r>
              <a:rPr lang="ru-RU" dirty="0" smtClean="0"/>
              <a:t>белый</a:t>
            </a:r>
          </a:p>
          <a:p>
            <a:r>
              <a:rPr lang="en-US" i="1" dirty="0" smtClean="0"/>
              <a:t>	Black</a:t>
            </a:r>
            <a:r>
              <a:rPr lang="en-US" dirty="0" smtClean="0"/>
              <a:t> </a:t>
            </a:r>
            <a:r>
              <a:rPr lang="ru-RU" dirty="0" smtClean="0"/>
              <a:t>		– чёрный</a:t>
            </a:r>
          </a:p>
          <a:p>
            <a:r>
              <a:rPr lang="en-US" dirty="0" smtClean="0"/>
              <a:t> </a:t>
            </a:r>
            <a:endParaRPr lang="ru-RU" dirty="0" smtClean="0"/>
          </a:p>
          <a:p>
            <a:r>
              <a:rPr lang="ru-RU" dirty="0" smtClean="0"/>
              <a:t>Например, </a:t>
            </a:r>
            <a:r>
              <a:rPr lang="en-US" b="1" i="1" dirty="0" smtClean="0"/>
              <a:t>Color</a:t>
            </a:r>
            <a:r>
              <a:rPr lang="ru-RU" b="1" i="1" dirty="0" smtClean="0"/>
              <a:t>.</a:t>
            </a:r>
            <a:r>
              <a:rPr lang="en-US" b="1" i="1" dirty="0" smtClean="0"/>
              <a:t>Green</a:t>
            </a:r>
            <a:r>
              <a:rPr lang="ru-RU" dirty="0" smtClean="0"/>
              <a:t>.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648072"/>
          </a:xfrm>
        </p:spPr>
        <p:txBody>
          <a:bodyPr>
            <a:normAutofit/>
          </a:bodyPr>
          <a:lstStyle/>
          <a:p>
            <a:r>
              <a:rPr lang="ru-RU" sz="2400" dirty="0" smtClean="0"/>
              <a:t>Цвет (продолжение)</a:t>
            </a:r>
            <a:endParaRPr lang="ru-RU" sz="24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908720"/>
            <a:ext cx="8229600" cy="5760640"/>
          </a:xfrm>
        </p:spPr>
        <p:txBody>
          <a:bodyPr>
            <a:normAutofit fontScale="70000" lnSpcReduction="20000"/>
          </a:bodyPr>
          <a:lstStyle/>
          <a:p>
            <a:r>
              <a:rPr lang="ru-RU" dirty="0" smtClean="0"/>
              <a:t>	Цвет задаётся в формате  </a:t>
            </a:r>
            <a:r>
              <a:rPr lang="en-US" b="1" i="1" dirty="0" smtClean="0"/>
              <a:t>ARGB</a:t>
            </a:r>
            <a:r>
              <a:rPr lang="ru-RU" dirty="0" smtClean="0"/>
              <a:t> (</a:t>
            </a:r>
            <a:r>
              <a:rPr lang="en-US" b="1" i="1" dirty="0" smtClean="0"/>
              <a:t>A</a:t>
            </a:r>
            <a:r>
              <a:rPr lang="ru-RU" dirty="0" smtClean="0"/>
              <a:t> – степень прозрачности,</a:t>
            </a:r>
            <a:r>
              <a:rPr lang="ru-RU" b="1" i="1" dirty="0" smtClean="0"/>
              <a:t>  </a:t>
            </a:r>
            <a:r>
              <a:rPr lang="en-US" b="1" i="1" dirty="0" smtClean="0"/>
              <a:t>R</a:t>
            </a:r>
            <a:r>
              <a:rPr lang="en-US" dirty="0" smtClean="0"/>
              <a:t> </a:t>
            </a:r>
            <a:r>
              <a:rPr lang="ru-RU" dirty="0" smtClean="0"/>
              <a:t>– интенсивность красной составляющей цвета,</a:t>
            </a:r>
            <a:r>
              <a:rPr lang="ru-RU" b="1" i="1" dirty="0" smtClean="0"/>
              <a:t>  </a:t>
            </a:r>
            <a:r>
              <a:rPr lang="en-US" b="1" i="1" dirty="0" smtClean="0"/>
              <a:t>G</a:t>
            </a:r>
            <a:r>
              <a:rPr lang="en-US" dirty="0" smtClean="0"/>
              <a:t> </a:t>
            </a:r>
            <a:r>
              <a:rPr lang="ru-RU" dirty="0" smtClean="0"/>
              <a:t>– интенсивность зелёной составляющей цвета,</a:t>
            </a:r>
            <a:r>
              <a:rPr lang="ru-RU" b="1" i="1" dirty="0" smtClean="0"/>
              <a:t>  </a:t>
            </a:r>
            <a:r>
              <a:rPr lang="en-US" b="1" i="1" dirty="0" smtClean="0"/>
              <a:t>B</a:t>
            </a:r>
            <a:r>
              <a:rPr lang="en-US" dirty="0" smtClean="0"/>
              <a:t> </a:t>
            </a:r>
            <a:r>
              <a:rPr lang="ru-RU" dirty="0" smtClean="0"/>
              <a:t>– интенсивность синей составляющей цвета). </a:t>
            </a:r>
          </a:p>
          <a:p>
            <a:r>
              <a:rPr lang="ru-RU" dirty="0" smtClean="0"/>
              <a:t> 	</a:t>
            </a:r>
          </a:p>
          <a:p>
            <a:r>
              <a:rPr lang="ru-RU" dirty="0" smtClean="0"/>
              <a:t> 	</a:t>
            </a:r>
          </a:p>
          <a:p>
            <a:r>
              <a:rPr lang="ru-RU" dirty="0" smtClean="0"/>
              <a:t>	Для создания произвольного цвета используется метод  </a:t>
            </a:r>
            <a:r>
              <a:rPr lang="en-US" b="1" i="1" dirty="0" err="1" smtClean="0"/>
              <a:t>FromArgb</a:t>
            </a:r>
            <a:r>
              <a:rPr lang="ru-RU" dirty="0" smtClean="0"/>
              <a:t>  структуры</a:t>
            </a:r>
            <a:r>
              <a:rPr lang="ru-RU" b="1" i="1" dirty="0" smtClean="0"/>
              <a:t>  </a:t>
            </a:r>
            <a:r>
              <a:rPr lang="en-US" b="1" i="1" dirty="0" smtClean="0"/>
              <a:t>Color</a:t>
            </a:r>
            <a:r>
              <a:rPr lang="ru-RU" dirty="0" smtClean="0"/>
              <a:t>,  например:</a:t>
            </a:r>
          </a:p>
          <a:p>
            <a:r>
              <a:rPr lang="ru-RU" dirty="0" smtClean="0"/>
              <a:t> </a:t>
            </a:r>
          </a:p>
          <a:p>
            <a:r>
              <a:rPr lang="en-US" dirty="0" smtClean="0"/>
              <a:t>Color c1=</a:t>
            </a:r>
            <a:r>
              <a:rPr lang="en-US" dirty="0" err="1" smtClean="0"/>
              <a:t>Color.FromArgb</a:t>
            </a:r>
            <a:r>
              <a:rPr lang="en-US" dirty="0" smtClean="0"/>
              <a:t>(100,255,0,0);</a:t>
            </a:r>
            <a:endParaRPr lang="ru-RU" dirty="0" smtClean="0"/>
          </a:p>
          <a:p>
            <a:r>
              <a:rPr lang="en-US" dirty="0" smtClean="0"/>
              <a:t>Color c2=</a:t>
            </a:r>
            <a:r>
              <a:rPr lang="en-US" dirty="0" err="1" smtClean="0"/>
              <a:t>Color.FromArgb</a:t>
            </a:r>
            <a:r>
              <a:rPr lang="en-US" dirty="0" smtClean="0"/>
              <a:t>(100,255,90);</a:t>
            </a:r>
            <a:endParaRPr lang="ru-RU" dirty="0" smtClean="0"/>
          </a:p>
          <a:p>
            <a:r>
              <a:rPr lang="ru-RU" dirty="0" smtClean="0"/>
              <a:t> </a:t>
            </a:r>
          </a:p>
          <a:p>
            <a:r>
              <a:rPr lang="ru-RU" dirty="0" smtClean="0"/>
              <a:t> 	</a:t>
            </a:r>
            <a:endParaRPr lang="ru-RU" dirty="0" smtClean="0"/>
          </a:p>
          <a:p>
            <a:r>
              <a:rPr lang="ru-RU" dirty="0" smtClean="0"/>
              <a:t> </a:t>
            </a:r>
            <a:endParaRPr lang="ru-RU" dirty="0" smtClean="0"/>
          </a:p>
          <a:p>
            <a:r>
              <a:rPr lang="ru-RU" dirty="0" smtClean="0"/>
              <a:t> </a:t>
            </a:r>
            <a:endParaRPr lang="ru-RU" dirty="0" smtClean="0"/>
          </a:p>
          <a:p>
            <a:r>
              <a:rPr lang="ru-RU" dirty="0" smtClean="0"/>
              <a:t> </a:t>
            </a:r>
            <a:endParaRPr lang="ru-RU" dirty="0" smtClean="0"/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>
            <a:normAutofit/>
          </a:bodyPr>
          <a:lstStyle/>
          <a:p>
            <a:r>
              <a:rPr lang="ru-RU" sz="2400" dirty="0" smtClean="0"/>
              <a:t>Перо</a:t>
            </a:r>
            <a:endParaRPr lang="ru-RU" sz="24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5040560"/>
          </a:xfrm>
        </p:spPr>
        <p:txBody>
          <a:bodyPr>
            <a:normAutofit fontScale="62500" lnSpcReduction="20000"/>
          </a:bodyPr>
          <a:lstStyle/>
          <a:p>
            <a:r>
              <a:rPr lang="ru-RU" dirty="0" smtClean="0"/>
              <a:t>	Для задания типа рисуемых линий используется класс  </a:t>
            </a:r>
            <a:r>
              <a:rPr lang="en-US" b="1" i="1" dirty="0" smtClean="0"/>
              <a:t>Pen</a:t>
            </a:r>
            <a:r>
              <a:rPr lang="ru-RU" dirty="0" smtClean="0"/>
              <a:t> (перо). Перо имеет следующие свойства:</a:t>
            </a:r>
          </a:p>
          <a:p>
            <a:r>
              <a:rPr lang="ru-RU" dirty="0" smtClean="0"/>
              <a:t> </a:t>
            </a:r>
          </a:p>
          <a:p>
            <a:r>
              <a:rPr lang="ru-RU" dirty="0" smtClean="0"/>
              <a:t>	</a:t>
            </a:r>
            <a:r>
              <a:rPr lang="en-US" i="1" dirty="0" smtClean="0"/>
              <a:t>Color</a:t>
            </a:r>
            <a:r>
              <a:rPr lang="ru-RU" dirty="0" smtClean="0"/>
              <a:t> 	– цвет линии</a:t>
            </a:r>
          </a:p>
          <a:p>
            <a:r>
              <a:rPr lang="ru-RU" i="1" dirty="0" smtClean="0"/>
              <a:t>	</a:t>
            </a:r>
            <a:r>
              <a:rPr lang="en-US" i="1" dirty="0" smtClean="0"/>
              <a:t>Width</a:t>
            </a:r>
            <a:r>
              <a:rPr lang="ru-RU" dirty="0" smtClean="0"/>
              <a:t> 	– ширина (толщина) линии</a:t>
            </a:r>
          </a:p>
          <a:p>
            <a:r>
              <a:rPr lang="ru-RU" i="1" dirty="0" smtClean="0"/>
              <a:t>	</a:t>
            </a:r>
            <a:r>
              <a:rPr lang="en-US" i="1" dirty="0" err="1" smtClean="0"/>
              <a:t>DashStyle</a:t>
            </a:r>
            <a:r>
              <a:rPr lang="ru-RU" dirty="0" smtClean="0"/>
              <a:t> 	– стиль линии</a:t>
            </a:r>
          </a:p>
          <a:p>
            <a:r>
              <a:rPr lang="ru-RU" dirty="0" smtClean="0"/>
              <a:t> </a:t>
            </a:r>
          </a:p>
          <a:p>
            <a:r>
              <a:rPr lang="ru-RU" dirty="0" smtClean="0"/>
              <a:t>Свойство  </a:t>
            </a:r>
            <a:r>
              <a:rPr lang="en-US" b="1" i="1" dirty="0" err="1" smtClean="0"/>
              <a:t>DashStyle</a:t>
            </a:r>
            <a:r>
              <a:rPr lang="ru-RU" dirty="0" smtClean="0"/>
              <a:t>  может принимать разные значения, в частности:</a:t>
            </a:r>
          </a:p>
          <a:p>
            <a:r>
              <a:rPr lang="ru-RU" dirty="0" smtClean="0"/>
              <a:t> </a:t>
            </a:r>
          </a:p>
          <a:p>
            <a:r>
              <a:rPr lang="ru-RU" dirty="0" smtClean="0"/>
              <a:t>	</a:t>
            </a:r>
            <a:r>
              <a:rPr lang="en-US" i="1" dirty="0" smtClean="0"/>
              <a:t>Solid</a:t>
            </a:r>
            <a:r>
              <a:rPr lang="en-US" dirty="0" smtClean="0"/>
              <a:t> </a:t>
            </a:r>
            <a:r>
              <a:rPr lang="ru-RU" dirty="0" smtClean="0"/>
              <a:t>			– рисуется сплошная линия</a:t>
            </a:r>
          </a:p>
          <a:p>
            <a:r>
              <a:rPr lang="ru-RU" i="1" dirty="0" smtClean="0"/>
              <a:t>	</a:t>
            </a:r>
            <a:r>
              <a:rPr lang="en-US" i="1" dirty="0" smtClean="0"/>
              <a:t>Dash</a:t>
            </a:r>
            <a:r>
              <a:rPr lang="ru-RU" dirty="0" smtClean="0"/>
              <a:t>  		</a:t>
            </a:r>
            <a:r>
              <a:rPr lang="ru-RU" dirty="0" smtClean="0"/>
              <a:t>	– </a:t>
            </a:r>
            <a:r>
              <a:rPr lang="ru-RU" dirty="0" smtClean="0"/>
              <a:t>рисуется штриховая линия</a:t>
            </a:r>
          </a:p>
          <a:p>
            <a:r>
              <a:rPr lang="ru-RU" i="1" dirty="0" smtClean="0"/>
              <a:t>	</a:t>
            </a:r>
            <a:r>
              <a:rPr lang="en-US" i="1" dirty="0" smtClean="0"/>
              <a:t>Dot</a:t>
            </a:r>
            <a:r>
              <a:rPr lang="en-US" dirty="0" smtClean="0"/>
              <a:t> </a:t>
            </a:r>
            <a:r>
              <a:rPr lang="ru-RU" dirty="0" smtClean="0"/>
              <a:t>			– рисуется пунктирная линия</a:t>
            </a:r>
          </a:p>
          <a:p>
            <a:r>
              <a:rPr lang="ru-RU" i="1" dirty="0" smtClean="0"/>
              <a:t>	</a:t>
            </a:r>
            <a:r>
              <a:rPr lang="en-US" i="1" dirty="0" err="1" smtClean="0"/>
              <a:t>DashDot</a:t>
            </a:r>
            <a:r>
              <a:rPr lang="ru-RU" dirty="0" smtClean="0"/>
              <a:t> 		– рисуется штрихпунктирная линия</a:t>
            </a:r>
          </a:p>
          <a:p>
            <a:r>
              <a:rPr lang="ru-RU" i="1" dirty="0" smtClean="0"/>
              <a:t>	</a:t>
            </a:r>
            <a:r>
              <a:rPr lang="en-US" i="1" dirty="0" err="1" smtClean="0"/>
              <a:t>DashDotDot</a:t>
            </a:r>
            <a:r>
              <a:rPr lang="ru-RU" dirty="0" smtClean="0"/>
              <a:t> 	</a:t>
            </a:r>
            <a:r>
              <a:rPr lang="ru-RU" dirty="0" smtClean="0"/>
              <a:t>	– </a:t>
            </a:r>
            <a:r>
              <a:rPr lang="ru-RU" dirty="0" smtClean="0"/>
              <a:t>рисуется штрихпунктирная линия с </a:t>
            </a:r>
            <a:endParaRPr lang="ru-RU" dirty="0" smtClean="0"/>
          </a:p>
          <a:p>
            <a:r>
              <a:rPr lang="ru-RU" dirty="0" smtClean="0"/>
              <a:t> </a:t>
            </a:r>
            <a:r>
              <a:rPr lang="ru-RU" dirty="0" smtClean="0"/>
              <a:t>                                                               </a:t>
            </a:r>
            <a:r>
              <a:rPr lang="ru-RU" dirty="0" smtClean="0"/>
              <a:t>двумя  </a:t>
            </a:r>
            <a:r>
              <a:rPr lang="ru-RU" dirty="0" smtClean="0"/>
              <a:t>точками  между штрихами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>
            <a:normAutofit/>
          </a:bodyPr>
          <a:lstStyle/>
          <a:p>
            <a:r>
              <a:rPr lang="ru-RU" sz="2400" dirty="0" smtClean="0"/>
              <a:t>Перо (продолжение)</a:t>
            </a:r>
            <a:endParaRPr lang="ru-RU" sz="24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349080"/>
          </a:xfrm>
        </p:spPr>
        <p:txBody>
          <a:bodyPr>
            <a:normAutofit fontScale="62500" lnSpcReduction="20000"/>
          </a:bodyPr>
          <a:lstStyle/>
          <a:p>
            <a:r>
              <a:rPr lang="ru-RU" dirty="0" smtClean="0"/>
              <a:t>		</a:t>
            </a:r>
          </a:p>
          <a:p>
            <a:r>
              <a:rPr lang="ru-RU" dirty="0" smtClean="0"/>
              <a:t> </a:t>
            </a:r>
          </a:p>
          <a:p>
            <a:r>
              <a:rPr lang="ru-RU" dirty="0" smtClean="0"/>
              <a:t>	</a:t>
            </a:r>
            <a:r>
              <a:rPr lang="en-US" i="1" dirty="0" smtClean="0"/>
              <a:t>Pen(Color </a:t>
            </a:r>
            <a:r>
              <a:rPr lang="en-US" i="1" dirty="0" err="1" smtClean="0"/>
              <a:t>color</a:t>
            </a:r>
            <a:r>
              <a:rPr lang="en-US" i="1" dirty="0" smtClean="0"/>
              <a:t>)</a:t>
            </a:r>
            <a:endParaRPr lang="ru-RU" dirty="0" smtClean="0"/>
          </a:p>
          <a:p>
            <a:r>
              <a:rPr lang="en-US" i="1" dirty="0" smtClean="0"/>
              <a:t>	Pen(Color </a:t>
            </a:r>
            <a:r>
              <a:rPr lang="en-US" i="1" dirty="0" err="1" smtClean="0"/>
              <a:t>color</a:t>
            </a:r>
            <a:r>
              <a:rPr lang="en-US" i="1" dirty="0" smtClean="0"/>
              <a:t>, float width)</a:t>
            </a:r>
            <a:endParaRPr lang="ru-RU" dirty="0" smtClean="0"/>
          </a:p>
          <a:p>
            <a:r>
              <a:rPr lang="en-US" i="1" dirty="0" smtClean="0"/>
              <a:t>	Pen(Brush </a:t>
            </a:r>
            <a:r>
              <a:rPr lang="en-US" i="1" dirty="0" err="1" smtClean="0"/>
              <a:t>brush</a:t>
            </a:r>
            <a:r>
              <a:rPr lang="en-US" i="1" dirty="0" smtClean="0"/>
              <a:t>)</a:t>
            </a:r>
            <a:endParaRPr lang="ru-RU" dirty="0" smtClean="0"/>
          </a:p>
          <a:p>
            <a:r>
              <a:rPr lang="en-US" i="1" dirty="0" smtClean="0"/>
              <a:t>	Pen(Brush </a:t>
            </a:r>
            <a:r>
              <a:rPr lang="en-US" i="1" dirty="0" err="1" smtClean="0"/>
              <a:t>brush</a:t>
            </a:r>
            <a:r>
              <a:rPr lang="en-US" i="1" dirty="0" smtClean="0"/>
              <a:t>, float width)</a:t>
            </a:r>
            <a:endParaRPr lang="ru-RU" dirty="0" smtClean="0"/>
          </a:p>
          <a:p>
            <a:r>
              <a:rPr lang="en-US" dirty="0" smtClean="0"/>
              <a:t> </a:t>
            </a:r>
            <a:endParaRPr lang="ru-RU" dirty="0" smtClean="0"/>
          </a:p>
          <a:p>
            <a:r>
              <a:rPr lang="ru-RU" dirty="0" smtClean="0"/>
              <a:t> 	</a:t>
            </a:r>
          </a:p>
          <a:p>
            <a:r>
              <a:rPr lang="ru-RU" dirty="0" smtClean="0"/>
              <a:t> 	</a:t>
            </a:r>
            <a:endParaRPr lang="ru-RU" dirty="0" smtClean="0"/>
          </a:p>
          <a:p>
            <a:r>
              <a:rPr lang="ru-RU" dirty="0" smtClean="0"/>
              <a:t> </a:t>
            </a:r>
            <a:endParaRPr lang="ru-RU" dirty="0" smtClean="0"/>
          </a:p>
          <a:p>
            <a:r>
              <a:rPr lang="ru-RU" dirty="0" smtClean="0"/>
              <a:t> </a:t>
            </a:r>
            <a:endParaRPr lang="ru-RU" dirty="0" smtClean="0"/>
          </a:p>
          <a:p>
            <a:endParaRPr lang="ru-RU" dirty="0" smtClean="0"/>
          </a:p>
          <a:p>
            <a:r>
              <a:rPr lang="ru-RU" dirty="0" smtClean="0"/>
              <a:t> 	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 smtClean="0"/>
              <a:t>Рисование прямой</a:t>
            </a:r>
            <a:endParaRPr lang="ru-RU" sz="24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53136"/>
          </a:xfrm>
        </p:spPr>
        <p:txBody>
          <a:bodyPr>
            <a:normAutofit fontScale="70000" lnSpcReduction="20000"/>
          </a:bodyPr>
          <a:lstStyle/>
          <a:p>
            <a:r>
              <a:rPr lang="ru-RU" dirty="0" smtClean="0"/>
              <a:t>	Для рисования отрезка прямой используется метод </a:t>
            </a:r>
            <a:r>
              <a:rPr lang="ru-RU" b="1" i="1" dirty="0" smtClean="0"/>
              <a:t> </a:t>
            </a:r>
            <a:r>
              <a:rPr lang="en-US" b="1" i="1" dirty="0" err="1" smtClean="0"/>
              <a:t>DrawLine</a:t>
            </a:r>
            <a:r>
              <a:rPr lang="ru-RU" b="1" i="1" dirty="0" smtClean="0"/>
              <a:t>()</a:t>
            </a:r>
            <a:r>
              <a:rPr lang="ru-RU" dirty="0" smtClean="0"/>
              <a:t>  класса</a:t>
            </a:r>
            <a:r>
              <a:rPr lang="ru-RU" b="1" i="1" dirty="0" smtClean="0"/>
              <a:t>   </a:t>
            </a:r>
            <a:r>
              <a:rPr lang="en-US" b="1" i="1" dirty="0" smtClean="0"/>
              <a:t>Graphics</a:t>
            </a:r>
            <a:r>
              <a:rPr lang="ru-RU" dirty="0" smtClean="0"/>
              <a:t>:</a:t>
            </a:r>
          </a:p>
          <a:p>
            <a:r>
              <a:rPr lang="ru-RU" dirty="0" smtClean="0"/>
              <a:t> </a:t>
            </a:r>
          </a:p>
          <a:p>
            <a:r>
              <a:rPr lang="ru-RU" dirty="0" smtClean="0"/>
              <a:t>	</a:t>
            </a:r>
            <a:r>
              <a:rPr lang="en-US" dirty="0" smtClean="0"/>
              <a:t>v</a:t>
            </a:r>
            <a:r>
              <a:rPr lang="en-US" i="1" dirty="0" smtClean="0"/>
              <a:t>oid </a:t>
            </a:r>
            <a:r>
              <a:rPr lang="en-US" i="1" dirty="0" err="1" smtClean="0"/>
              <a:t>DrawLine</a:t>
            </a:r>
            <a:r>
              <a:rPr lang="en-US" i="1" dirty="0" smtClean="0"/>
              <a:t>(Pen </a:t>
            </a:r>
            <a:r>
              <a:rPr lang="en-US" i="1" dirty="0" err="1" smtClean="0"/>
              <a:t>pen</a:t>
            </a:r>
            <a:r>
              <a:rPr lang="en-US" i="1" dirty="0" smtClean="0"/>
              <a:t>, </a:t>
            </a:r>
            <a:r>
              <a:rPr lang="en-US" i="1" dirty="0" err="1" smtClean="0"/>
              <a:t>int</a:t>
            </a:r>
            <a:r>
              <a:rPr lang="en-US" i="1" dirty="0" smtClean="0"/>
              <a:t> x1, </a:t>
            </a:r>
            <a:r>
              <a:rPr lang="en-US" i="1" dirty="0" err="1" smtClean="0"/>
              <a:t>int</a:t>
            </a:r>
            <a:r>
              <a:rPr lang="en-US" i="1" dirty="0" smtClean="0"/>
              <a:t> y1, </a:t>
            </a:r>
            <a:r>
              <a:rPr lang="en-US" i="1" dirty="0" err="1" smtClean="0"/>
              <a:t>int</a:t>
            </a:r>
            <a:r>
              <a:rPr lang="en-US" i="1" dirty="0" smtClean="0"/>
              <a:t> x2, </a:t>
            </a:r>
            <a:r>
              <a:rPr lang="en-US" i="1" dirty="0" err="1" smtClean="0"/>
              <a:t>int</a:t>
            </a:r>
            <a:r>
              <a:rPr lang="en-US" i="1" dirty="0" smtClean="0"/>
              <a:t> y2)</a:t>
            </a:r>
            <a:endParaRPr lang="ru-RU" dirty="0" smtClean="0"/>
          </a:p>
          <a:p>
            <a:r>
              <a:rPr lang="en-US" i="1" dirty="0" smtClean="0"/>
              <a:t>	void </a:t>
            </a:r>
            <a:r>
              <a:rPr lang="en-US" i="1" dirty="0" err="1" smtClean="0"/>
              <a:t>DrawLine</a:t>
            </a:r>
            <a:r>
              <a:rPr lang="en-US" i="1" dirty="0" smtClean="0"/>
              <a:t>(Pen </a:t>
            </a:r>
            <a:r>
              <a:rPr lang="en-US" i="1" dirty="0" err="1" smtClean="0"/>
              <a:t>pen</a:t>
            </a:r>
            <a:r>
              <a:rPr lang="en-US" i="1" dirty="0" smtClean="0"/>
              <a:t>, Point pt1, Point pt2)</a:t>
            </a:r>
            <a:endParaRPr lang="ru-RU" dirty="0" smtClean="0"/>
          </a:p>
          <a:p>
            <a:r>
              <a:rPr lang="en-US" dirty="0" smtClean="0"/>
              <a:t> </a:t>
            </a:r>
            <a:endParaRPr lang="ru-RU" dirty="0" smtClean="0"/>
          </a:p>
          <a:p>
            <a:r>
              <a:rPr lang="ru-RU" dirty="0" smtClean="0"/>
              <a:t>	</a:t>
            </a:r>
          </a:p>
          <a:p>
            <a:r>
              <a:rPr lang="ru-RU" dirty="0" smtClean="0"/>
              <a:t> 	</a:t>
            </a:r>
            <a:endParaRPr lang="ru-RU" dirty="0" smtClean="0"/>
          </a:p>
          <a:p>
            <a:r>
              <a:rPr lang="ru-RU" dirty="0" smtClean="0"/>
              <a:t> </a:t>
            </a:r>
            <a:endParaRPr lang="ru-RU" dirty="0" smtClean="0"/>
          </a:p>
          <a:p>
            <a:r>
              <a:rPr lang="ru-RU" dirty="0" smtClean="0"/>
              <a:t> </a:t>
            </a:r>
          </a:p>
          <a:p>
            <a:r>
              <a:rPr lang="ru-RU" dirty="0" smtClean="0"/>
              <a:t> </a:t>
            </a:r>
          </a:p>
          <a:p>
            <a:r>
              <a:rPr lang="ru-RU" i="1" dirty="0" smtClean="0"/>
              <a:t>	</a:t>
            </a:r>
            <a:r>
              <a:rPr lang="en-US" i="1" dirty="0" smtClean="0"/>
              <a:t>Point(</a:t>
            </a:r>
            <a:r>
              <a:rPr lang="en-US" i="1" dirty="0" err="1" smtClean="0"/>
              <a:t>int</a:t>
            </a:r>
            <a:r>
              <a:rPr lang="en-US" i="1" dirty="0" smtClean="0"/>
              <a:t> x, </a:t>
            </a:r>
            <a:r>
              <a:rPr lang="en-US" i="1" dirty="0" err="1" smtClean="0"/>
              <a:t>int</a:t>
            </a:r>
            <a:r>
              <a:rPr lang="en-US" i="1" dirty="0" smtClean="0"/>
              <a:t> y)</a:t>
            </a:r>
            <a:endParaRPr lang="ru-RU" dirty="0" smtClean="0"/>
          </a:p>
          <a:p>
            <a:r>
              <a:rPr lang="ru-RU" dirty="0" smtClean="0"/>
              <a:t> </a:t>
            </a:r>
          </a:p>
          <a:p>
            <a:r>
              <a:rPr lang="ru-RU" dirty="0" smtClean="0"/>
              <a:t>Структура  </a:t>
            </a:r>
            <a:r>
              <a:rPr lang="en-US" b="1" i="1" dirty="0" smtClean="0"/>
              <a:t>Point</a:t>
            </a:r>
            <a:r>
              <a:rPr lang="ru-RU" dirty="0" smtClean="0"/>
              <a:t>  имеет свойства  </a:t>
            </a:r>
            <a:r>
              <a:rPr lang="en-US" b="1" i="1" dirty="0" smtClean="0"/>
              <a:t>X  </a:t>
            </a:r>
            <a:r>
              <a:rPr lang="ru-RU" dirty="0" smtClean="0"/>
              <a:t>и</a:t>
            </a:r>
            <a:r>
              <a:rPr lang="ru-RU" b="1" i="1" dirty="0" smtClean="0"/>
              <a:t>  </a:t>
            </a:r>
            <a:r>
              <a:rPr lang="en-US" b="1" i="1" dirty="0" smtClean="0"/>
              <a:t>Y</a:t>
            </a:r>
            <a:r>
              <a:rPr lang="ru-RU" dirty="0" smtClean="0"/>
              <a:t>.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 smtClean="0"/>
              <a:t>Прямоугольник и эллипс</a:t>
            </a:r>
            <a:endParaRPr lang="ru-RU" sz="24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u-RU" dirty="0" smtClean="0"/>
              <a:t>	Для рисования прямоугольников используется метод:</a:t>
            </a:r>
          </a:p>
          <a:p>
            <a:r>
              <a:rPr lang="ru-RU" dirty="0" smtClean="0"/>
              <a:t> </a:t>
            </a:r>
          </a:p>
          <a:p>
            <a:r>
              <a:rPr lang="ru-RU" dirty="0" smtClean="0"/>
              <a:t>	</a:t>
            </a:r>
            <a:r>
              <a:rPr lang="en-US" dirty="0" smtClean="0"/>
              <a:t>v</a:t>
            </a:r>
            <a:r>
              <a:rPr lang="en-US" i="1" dirty="0" smtClean="0"/>
              <a:t>oid </a:t>
            </a:r>
            <a:r>
              <a:rPr lang="en-US" i="1" dirty="0" err="1" smtClean="0"/>
              <a:t>DrawRectangle</a:t>
            </a:r>
            <a:r>
              <a:rPr lang="en-US" i="1" dirty="0" smtClean="0"/>
              <a:t>(Pen </a:t>
            </a:r>
            <a:r>
              <a:rPr lang="en-US" i="1" dirty="0" err="1" smtClean="0"/>
              <a:t>pen</a:t>
            </a:r>
            <a:r>
              <a:rPr lang="en-US" i="1" dirty="0" smtClean="0"/>
              <a:t>, </a:t>
            </a:r>
            <a:r>
              <a:rPr lang="en-US" i="1" dirty="0" err="1" smtClean="0"/>
              <a:t>int</a:t>
            </a:r>
            <a:r>
              <a:rPr lang="en-US" i="1" dirty="0" smtClean="0"/>
              <a:t> x, </a:t>
            </a:r>
            <a:r>
              <a:rPr lang="en-US" i="1" dirty="0" err="1" smtClean="0"/>
              <a:t>int</a:t>
            </a:r>
            <a:r>
              <a:rPr lang="en-US" i="1" dirty="0" smtClean="0"/>
              <a:t> y, </a:t>
            </a:r>
            <a:r>
              <a:rPr lang="en-US" i="1" dirty="0" err="1" smtClean="0"/>
              <a:t>int</a:t>
            </a:r>
            <a:r>
              <a:rPr lang="en-US" i="1" dirty="0" smtClean="0"/>
              <a:t> width, </a:t>
            </a:r>
            <a:r>
              <a:rPr lang="en-US" i="1" dirty="0" err="1" smtClean="0"/>
              <a:t>int</a:t>
            </a:r>
            <a:r>
              <a:rPr lang="en-US" i="1" dirty="0" smtClean="0"/>
              <a:t> height)</a:t>
            </a:r>
            <a:endParaRPr lang="ru-RU" dirty="0" smtClean="0"/>
          </a:p>
          <a:p>
            <a:r>
              <a:rPr lang="en-US" dirty="0" smtClean="0"/>
              <a:t> </a:t>
            </a:r>
            <a:endParaRPr lang="ru-RU" dirty="0" smtClean="0"/>
          </a:p>
          <a:p>
            <a:r>
              <a:rPr lang="ru-RU" dirty="0" smtClean="0"/>
              <a:t> 	</a:t>
            </a:r>
          </a:p>
          <a:p>
            <a:r>
              <a:rPr lang="ru-RU" dirty="0" smtClean="0"/>
              <a:t>	Для рисования эллипсов используется метод:</a:t>
            </a:r>
          </a:p>
          <a:p>
            <a:r>
              <a:rPr lang="ru-RU" dirty="0" smtClean="0"/>
              <a:t> </a:t>
            </a:r>
          </a:p>
          <a:p>
            <a:r>
              <a:rPr lang="ru-RU" dirty="0" smtClean="0"/>
              <a:t>	</a:t>
            </a:r>
            <a:r>
              <a:rPr lang="en-US" dirty="0" smtClean="0"/>
              <a:t>v</a:t>
            </a:r>
            <a:r>
              <a:rPr lang="en-US" i="1" dirty="0" smtClean="0"/>
              <a:t>oid </a:t>
            </a:r>
            <a:r>
              <a:rPr lang="en-US" i="1" dirty="0" err="1" smtClean="0"/>
              <a:t>DrawEllipse</a:t>
            </a:r>
            <a:r>
              <a:rPr lang="en-US" i="1" dirty="0" smtClean="0"/>
              <a:t>(Pen </a:t>
            </a:r>
            <a:r>
              <a:rPr lang="en-US" i="1" dirty="0" err="1" smtClean="0"/>
              <a:t>pen</a:t>
            </a:r>
            <a:r>
              <a:rPr lang="en-US" i="1" dirty="0" smtClean="0"/>
              <a:t>, </a:t>
            </a:r>
            <a:r>
              <a:rPr lang="en-US" i="1" dirty="0" err="1" smtClean="0"/>
              <a:t>int</a:t>
            </a:r>
            <a:r>
              <a:rPr lang="en-US" i="1" dirty="0" smtClean="0"/>
              <a:t> x, </a:t>
            </a:r>
            <a:r>
              <a:rPr lang="en-US" i="1" dirty="0" err="1" smtClean="0"/>
              <a:t>int</a:t>
            </a:r>
            <a:r>
              <a:rPr lang="en-US" i="1" dirty="0" smtClean="0"/>
              <a:t> y, </a:t>
            </a:r>
            <a:r>
              <a:rPr lang="en-US" i="1" dirty="0" err="1" smtClean="0"/>
              <a:t>int</a:t>
            </a:r>
            <a:r>
              <a:rPr lang="en-US" i="1" dirty="0" smtClean="0"/>
              <a:t> width, </a:t>
            </a:r>
            <a:r>
              <a:rPr lang="en-US" i="1" dirty="0" err="1" smtClean="0"/>
              <a:t>int</a:t>
            </a:r>
            <a:r>
              <a:rPr lang="en-US" i="1" dirty="0" smtClean="0"/>
              <a:t> height)</a:t>
            </a:r>
            <a:endParaRPr lang="ru-RU" dirty="0" smtClean="0"/>
          </a:p>
          <a:p>
            <a:r>
              <a:rPr lang="ru-RU" dirty="0" smtClean="0"/>
              <a:t> </a:t>
            </a:r>
          </a:p>
          <a:p>
            <a:r>
              <a:rPr lang="ru-RU" dirty="0" smtClean="0"/>
              <a:t> 	</a:t>
            </a:r>
          </a:p>
          <a:p>
            <a:r>
              <a:rPr lang="ru-RU" dirty="0" smtClean="0"/>
              <a:t> 	</a:t>
            </a:r>
            <a:endParaRPr lang="ru-RU" dirty="0" smtClean="0"/>
          </a:p>
          <a:p>
            <a:r>
              <a:rPr lang="ru-RU" dirty="0" smtClean="0"/>
              <a:t> </a:t>
            </a:r>
            <a:endParaRPr lang="ru-RU" dirty="0" smtClean="0"/>
          </a:p>
          <a:p>
            <a:r>
              <a:rPr lang="ru-RU" dirty="0" smtClean="0"/>
              <a:t> 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 smtClean="0"/>
              <a:t>Закрашенные фигуры</a:t>
            </a:r>
            <a:endParaRPr lang="ru-RU" sz="24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u-RU" dirty="0" smtClean="0"/>
              <a:t>	Для рисования закрашенных фигур используются методы   </a:t>
            </a:r>
            <a:r>
              <a:rPr lang="en-US" b="1" i="1" dirty="0" err="1" smtClean="0"/>
              <a:t>FillRectangle</a:t>
            </a:r>
            <a:r>
              <a:rPr lang="ru-RU" dirty="0" smtClean="0"/>
              <a:t>  и</a:t>
            </a:r>
            <a:r>
              <a:rPr lang="ru-RU" b="1" i="1" dirty="0" smtClean="0"/>
              <a:t>  </a:t>
            </a:r>
            <a:r>
              <a:rPr lang="en-US" b="1" i="1" dirty="0" err="1" smtClean="0"/>
              <a:t>FillEllipse</a:t>
            </a:r>
            <a:r>
              <a:rPr lang="ru-RU" dirty="0" smtClean="0"/>
              <a:t>:</a:t>
            </a:r>
          </a:p>
          <a:p>
            <a:r>
              <a:rPr lang="ru-RU" dirty="0" smtClean="0"/>
              <a:t> </a:t>
            </a:r>
          </a:p>
          <a:p>
            <a:r>
              <a:rPr lang="ru-RU" i="1" dirty="0" smtClean="0"/>
              <a:t>	</a:t>
            </a:r>
            <a:r>
              <a:rPr lang="en-US" i="1" dirty="0" smtClean="0"/>
              <a:t>void </a:t>
            </a:r>
            <a:r>
              <a:rPr lang="en-US" i="1" dirty="0" err="1" smtClean="0"/>
              <a:t>FillRectangle</a:t>
            </a:r>
            <a:r>
              <a:rPr lang="en-US" i="1" dirty="0" smtClean="0"/>
              <a:t>(Brush </a:t>
            </a:r>
            <a:r>
              <a:rPr lang="en-US" i="1" dirty="0" err="1" smtClean="0"/>
              <a:t>brush</a:t>
            </a:r>
            <a:r>
              <a:rPr lang="en-US" i="1" dirty="0" smtClean="0"/>
              <a:t>, </a:t>
            </a:r>
            <a:r>
              <a:rPr lang="en-US" i="1" dirty="0" err="1" smtClean="0"/>
              <a:t>int</a:t>
            </a:r>
            <a:r>
              <a:rPr lang="en-US" i="1" dirty="0" smtClean="0"/>
              <a:t> x, </a:t>
            </a:r>
            <a:r>
              <a:rPr lang="en-US" i="1" dirty="0" err="1" smtClean="0"/>
              <a:t>int</a:t>
            </a:r>
            <a:r>
              <a:rPr lang="en-US" i="1" dirty="0" smtClean="0"/>
              <a:t> y, </a:t>
            </a:r>
            <a:r>
              <a:rPr lang="en-US" i="1" dirty="0" err="1" smtClean="0"/>
              <a:t>int</a:t>
            </a:r>
            <a:r>
              <a:rPr lang="en-US" i="1" dirty="0" smtClean="0"/>
              <a:t> width, </a:t>
            </a:r>
            <a:r>
              <a:rPr lang="en-US" i="1" dirty="0" err="1" smtClean="0"/>
              <a:t>int</a:t>
            </a:r>
            <a:r>
              <a:rPr lang="en-US" i="1" dirty="0" smtClean="0"/>
              <a:t> height)</a:t>
            </a:r>
            <a:endParaRPr lang="ru-RU" i="1" dirty="0" smtClean="0"/>
          </a:p>
          <a:p>
            <a:endParaRPr lang="ru-RU" dirty="0" smtClean="0"/>
          </a:p>
          <a:p>
            <a:r>
              <a:rPr lang="en-US" i="1" dirty="0" smtClean="0"/>
              <a:t>	void </a:t>
            </a:r>
            <a:r>
              <a:rPr lang="en-US" i="1" dirty="0" err="1" smtClean="0"/>
              <a:t>FillEllipse</a:t>
            </a:r>
            <a:r>
              <a:rPr lang="en-US" i="1" dirty="0" smtClean="0"/>
              <a:t>(Brush </a:t>
            </a:r>
            <a:r>
              <a:rPr lang="en-US" i="1" dirty="0" err="1" smtClean="0"/>
              <a:t>brush</a:t>
            </a:r>
            <a:r>
              <a:rPr lang="en-US" i="1" dirty="0" smtClean="0"/>
              <a:t>, </a:t>
            </a:r>
            <a:r>
              <a:rPr lang="en-US" i="1" dirty="0" err="1" smtClean="0"/>
              <a:t>int</a:t>
            </a:r>
            <a:r>
              <a:rPr lang="en-US" i="1" dirty="0" smtClean="0"/>
              <a:t> x, </a:t>
            </a:r>
            <a:r>
              <a:rPr lang="en-US" i="1" dirty="0" err="1" smtClean="0"/>
              <a:t>int</a:t>
            </a:r>
            <a:r>
              <a:rPr lang="en-US" i="1" dirty="0" smtClean="0"/>
              <a:t> y, </a:t>
            </a:r>
            <a:r>
              <a:rPr lang="en-US" i="1" dirty="0" err="1" smtClean="0"/>
              <a:t>int</a:t>
            </a:r>
            <a:r>
              <a:rPr lang="en-US" i="1" dirty="0" smtClean="0"/>
              <a:t> width, </a:t>
            </a:r>
            <a:r>
              <a:rPr lang="en-US" i="1" dirty="0" err="1" smtClean="0"/>
              <a:t>int</a:t>
            </a:r>
            <a:r>
              <a:rPr lang="en-US" i="1" dirty="0" smtClean="0"/>
              <a:t> height)</a:t>
            </a:r>
            <a:endParaRPr lang="ru-RU" dirty="0" smtClean="0"/>
          </a:p>
          <a:p>
            <a:r>
              <a:rPr lang="en-US" dirty="0" smtClean="0"/>
              <a:t> </a:t>
            </a:r>
            <a:endParaRPr lang="ru-RU" dirty="0" smtClean="0"/>
          </a:p>
          <a:p>
            <a:r>
              <a:rPr lang="ru-RU" dirty="0" smtClean="0"/>
              <a:t>  </a:t>
            </a:r>
            <a:endParaRPr lang="ru-RU" dirty="0" smtClean="0"/>
          </a:p>
          <a:p>
            <a:r>
              <a:rPr lang="ru-RU" dirty="0" smtClean="0"/>
              <a:t> </a:t>
            </a:r>
          </a:p>
          <a:p>
            <a:endParaRPr lang="ru-RU" dirty="0" smtClean="0"/>
          </a:p>
          <a:p>
            <a:r>
              <a:rPr lang="ru-RU" dirty="0" smtClean="0"/>
              <a:t> </a:t>
            </a:r>
          </a:p>
          <a:p>
            <a:r>
              <a:rPr lang="ru-RU" dirty="0" smtClean="0"/>
              <a:t>	</a:t>
            </a:r>
            <a:r>
              <a:rPr lang="en-US" i="1" dirty="0" err="1" smtClean="0"/>
              <a:t>SolidBrush</a:t>
            </a:r>
            <a:r>
              <a:rPr lang="en-US" i="1" dirty="0" smtClean="0"/>
              <a:t>(Color </a:t>
            </a:r>
            <a:r>
              <a:rPr lang="en-US" i="1" dirty="0" err="1" smtClean="0"/>
              <a:t>col</a:t>
            </a:r>
            <a:r>
              <a:rPr lang="en-US" i="1" dirty="0" smtClean="0"/>
              <a:t>)</a:t>
            </a:r>
            <a:endParaRPr lang="ru-RU" dirty="0" smtClean="0"/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txBody>
          <a:bodyPr>
            <a:normAutofit/>
          </a:bodyPr>
          <a:lstStyle/>
          <a:p>
            <a:r>
              <a:rPr lang="ru-RU" sz="2400" dirty="0" smtClean="0"/>
              <a:t>Пример</a:t>
            </a:r>
            <a:endParaRPr lang="ru-RU" sz="24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400600"/>
          </a:xfrm>
        </p:spPr>
        <p:txBody>
          <a:bodyPr>
            <a:normAutofit fontScale="70000" lnSpcReduction="20000"/>
          </a:bodyPr>
          <a:lstStyle/>
          <a:p>
            <a:r>
              <a:rPr lang="en-US" dirty="0" smtClean="0"/>
              <a:t>	</a:t>
            </a:r>
            <a:endParaRPr lang="ru-RU" dirty="0" smtClean="0"/>
          </a:p>
          <a:p>
            <a:r>
              <a:rPr lang="ru-RU" dirty="0" smtClean="0"/>
              <a:t> </a:t>
            </a:r>
          </a:p>
          <a:p>
            <a:r>
              <a:rPr lang="ru-RU" dirty="0" smtClean="0"/>
              <a:t>        </a:t>
            </a:r>
            <a:r>
              <a:rPr lang="en-US" dirty="0" smtClean="0"/>
              <a:t>private void Form1_Paint(object sender, </a:t>
            </a:r>
            <a:r>
              <a:rPr lang="en-US" dirty="0" err="1" smtClean="0"/>
              <a:t>PaintEventArgs</a:t>
            </a:r>
            <a:r>
              <a:rPr lang="en-US" dirty="0" smtClean="0"/>
              <a:t> e)</a:t>
            </a:r>
            <a:endParaRPr lang="ru-RU" dirty="0" smtClean="0"/>
          </a:p>
          <a:p>
            <a:r>
              <a:rPr lang="en-US" dirty="0" smtClean="0"/>
              <a:t>        {</a:t>
            </a:r>
            <a:endParaRPr lang="ru-RU" dirty="0" smtClean="0"/>
          </a:p>
          <a:p>
            <a:r>
              <a:rPr lang="en-US" dirty="0" smtClean="0"/>
              <a:t>            Graphics g = </a:t>
            </a:r>
            <a:r>
              <a:rPr lang="en-US" dirty="0" err="1" smtClean="0"/>
              <a:t>e.Graphics</a:t>
            </a:r>
            <a:r>
              <a:rPr lang="en-US" dirty="0" smtClean="0"/>
              <a:t>;</a:t>
            </a:r>
            <a:endParaRPr lang="ru-RU" dirty="0" smtClean="0"/>
          </a:p>
          <a:p>
            <a:r>
              <a:rPr lang="en-US" dirty="0" smtClean="0"/>
              <a:t>            Pen p1 = new Pen(</a:t>
            </a:r>
            <a:r>
              <a:rPr lang="en-US" dirty="0" err="1" smtClean="0"/>
              <a:t>Color.Green</a:t>
            </a:r>
            <a:r>
              <a:rPr lang="en-US" dirty="0" smtClean="0"/>
              <a:t>, 3);</a:t>
            </a:r>
            <a:endParaRPr lang="ru-RU" dirty="0" smtClean="0"/>
          </a:p>
          <a:p>
            <a:r>
              <a:rPr lang="en-US" dirty="0" smtClean="0"/>
              <a:t>            Point pt1 = new Point(30, 100);</a:t>
            </a:r>
            <a:endParaRPr lang="ru-RU" dirty="0" smtClean="0"/>
          </a:p>
          <a:p>
            <a:r>
              <a:rPr lang="en-US" dirty="0" smtClean="0"/>
              <a:t>            Point pt2 = new Point(150, 150);</a:t>
            </a:r>
            <a:endParaRPr lang="ru-RU" dirty="0" smtClean="0"/>
          </a:p>
          <a:p>
            <a:r>
              <a:rPr lang="en-US" dirty="0" smtClean="0"/>
              <a:t>            </a:t>
            </a:r>
            <a:r>
              <a:rPr lang="en-US" dirty="0" err="1" smtClean="0"/>
              <a:t>g.DrawLine</a:t>
            </a:r>
            <a:r>
              <a:rPr lang="en-US" dirty="0" smtClean="0"/>
              <a:t>(p1, pt1, pt2);</a:t>
            </a:r>
            <a:endParaRPr lang="ru-RU" dirty="0" smtClean="0"/>
          </a:p>
          <a:p>
            <a:r>
              <a:rPr lang="en-US" dirty="0" smtClean="0"/>
              <a:t>            </a:t>
            </a:r>
            <a:r>
              <a:rPr lang="en-US" dirty="0" err="1" smtClean="0"/>
              <a:t>g.DrawRectangle</a:t>
            </a:r>
            <a:r>
              <a:rPr lang="en-US" dirty="0" smtClean="0"/>
              <a:t>(new Pen(</a:t>
            </a:r>
            <a:r>
              <a:rPr lang="en-US" dirty="0" err="1" smtClean="0"/>
              <a:t>Color.Red</a:t>
            </a:r>
            <a:r>
              <a:rPr lang="en-US" dirty="0" smtClean="0"/>
              <a:t>), 200, 100, 120, 90);</a:t>
            </a:r>
            <a:endParaRPr lang="ru-RU" dirty="0" smtClean="0"/>
          </a:p>
          <a:p>
            <a:r>
              <a:rPr lang="en-US" dirty="0" smtClean="0"/>
              <a:t>            </a:t>
            </a:r>
            <a:r>
              <a:rPr lang="en-US" dirty="0" err="1" smtClean="0"/>
              <a:t>SolidBrush</a:t>
            </a:r>
            <a:r>
              <a:rPr lang="en-US" dirty="0" smtClean="0"/>
              <a:t> </a:t>
            </a:r>
            <a:r>
              <a:rPr lang="en-US" dirty="0" err="1" smtClean="0"/>
              <a:t>solBr</a:t>
            </a:r>
            <a:r>
              <a:rPr lang="en-US" dirty="0" smtClean="0"/>
              <a:t> = new </a:t>
            </a:r>
            <a:r>
              <a:rPr lang="en-US" dirty="0" err="1" smtClean="0"/>
              <a:t>SolidBrush</a:t>
            </a:r>
            <a:r>
              <a:rPr lang="en-US" dirty="0" smtClean="0"/>
              <a:t>(</a:t>
            </a:r>
            <a:r>
              <a:rPr lang="en-US" dirty="0" err="1" smtClean="0"/>
              <a:t>Color.Blue</a:t>
            </a:r>
            <a:r>
              <a:rPr lang="en-US" dirty="0" smtClean="0"/>
              <a:t>);</a:t>
            </a:r>
            <a:endParaRPr lang="ru-RU" dirty="0" smtClean="0"/>
          </a:p>
          <a:p>
            <a:r>
              <a:rPr lang="en-US" dirty="0" smtClean="0"/>
              <a:t>            </a:t>
            </a:r>
            <a:r>
              <a:rPr lang="en-US" dirty="0" err="1" smtClean="0"/>
              <a:t>g.FillEllipse</a:t>
            </a:r>
            <a:r>
              <a:rPr lang="en-US" dirty="0" smtClean="0"/>
              <a:t>(</a:t>
            </a:r>
            <a:r>
              <a:rPr lang="en-US" dirty="0" err="1" smtClean="0"/>
              <a:t>solBr</a:t>
            </a:r>
            <a:r>
              <a:rPr lang="en-US" dirty="0" smtClean="0"/>
              <a:t>, 150, 200, 300, 150);</a:t>
            </a:r>
            <a:endParaRPr lang="ru-RU" dirty="0" smtClean="0"/>
          </a:p>
          <a:p>
            <a:r>
              <a:rPr lang="en-US" dirty="0" smtClean="0"/>
              <a:t>        }</a:t>
            </a:r>
            <a:endParaRPr lang="ru-RU" dirty="0" smtClean="0"/>
          </a:p>
          <a:p>
            <a:r>
              <a:rPr lang="ru-RU" dirty="0" smtClean="0"/>
              <a:t> 	</a:t>
            </a:r>
            <a:endParaRPr lang="ru-RU" dirty="0" smtClean="0"/>
          </a:p>
          <a:p>
            <a:r>
              <a:rPr lang="ru-RU" dirty="0" smtClean="0"/>
              <a:t> </a:t>
            </a:r>
            <a:endParaRPr lang="ru-RU" dirty="0" smtClean="0"/>
          </a:p>
          <a:p>
            <a:endParaRPr lang="ru-RU" dirty="0" smtClean="0"/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92696"/>
          </a:xfrm>
        </p:spPr>
        <p:txBody>
          <a:bodyPr>
            <a:normAutofit/>
          </a:bodyPr>
          <a:lstStyle/>
          <a:p>
            <a:r>
              <a:rPr lang="ru-RU" sz="2400" dirty="0" smtClean="0"/>
              <a:t>Кисти для штриховки</a:t>
            </a:r>
            <a:endParaRPr lang="ru-RU" sz="24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764704"/>
            <a:ext cx="8229600" cy="5904656"/>
          </a:xfrm>
        </p:spPr>
        <p:txBody>
          <a:bodyPr>
            <a:noAutofit/>
          </a:bodyPr>
          <a:lstStyle/>
          <a:p>
            <a:r>
              <a:rPr lang="ru-RU" sz="1600" dirty="0" smtClean="0"/>
              <a:t>	Для создания кистей, выполняющих штриховку, используется класс  </a:t>
            </a:r>
            <a:r>
              <a:rPr lang="en-US" sz="1600" b="1" i="1" dirty="0" err="1" smtClean="0"/>
              <a:t>HatchBrush</a:t>
            </a:r>
            <a:r>
              <a:rPr lang="ru-RU" sz="1600" b="1" i="1" dirty="0" smtClean="0"/>
              <a:t>.</a:t>
            </a:r>
            <a:r>
              <a:rPr lang="ru-RU" sz="1600" dirty="0" smtClean="0"/>
              <a:t>  Класс </a:t>
            </a:r>
            <a:r>
              <a:rPr lang="ru-RU" sz="1600" b="1" i="1" dirty="0" smtClean="0"/>
              <a:t>  </a:t>
            </a:r>
            <a:r>
              <a:rPr lang="en-US" sz="1600" b="1" i="1" dirty="0" smtClean="0"/>
              <a:t>Brush</a:t>
            </a:r>
            <a:r>
              <a:rPr lang="ru-RU" sz="1600" dirty="0" smtClean="0"/>
              <a:t>  является абстрактным классом. Он используется как базовый для классов</a:t>
            </a:r>
            <a:r>
              <a:rPr lang="ru-RU" sz="1600" b="1" i="1" dirty="0" smtClean="0"/>
              <a:t>   </a:t>
            </a:r>
            <a:r>
              <a:rPr lang="en-US" sz="1600" b="1" i="1" dirty="0" err="1" smtClean="0"/>
              <a:t>SolidBrush</a:t>
            </a:r>
            <a:r>
              <a:rPr lang="en-US" sz="1600" b="1" i="1" dirty="0" smtClean="0"/>
              <a:t>  </a:t>
            </a:r>
            <a:r>
              <a:rPr lang="ru-RU" sz="1600" dirty="0" smtClean="0"/>
              <a:t>и</a:t>
            </a:r>
            <a:r>
              <a:rPr lang="ru-RU" sz="1600" b="1" i="1" dirty="0" smtClean="0"/>
              <a:t>  </a:t>
            </a:r>
            <a:r>
              <a:rPr lang="en-US" sz="1600" b="1" i="1" dirty="0" err="1" smtClean="0"/>
              <a:t>HatchBrush</a:t>
            </a:r>
            <a:r>
              <a:rPr lang="ru-RU" sz="1600" dirty="0" smtClean="0"/>
              <a:t>.  Конструктор класса  </a:t>
            </a:r>
            <a:r>
              <a:rPr lang="en-US" sz="1600" b="1" i="1" dirty="0" err="1" smtClean="0"/>
              <a:t>HatchBrush</a:t>
            </a:r>
            <a:r>
              <a:rPr lang="ru-RU" sz="1600" dirty="0" smtClean="0"/>
              <a:t>  имеет следующий вид:</a:t>
            </a:r>
          </a:p>
          <a:p>
            <a:r>
              <a:rPr lang="ru-RU" sz="1600" dirty="0" smtClean="0"/>
              <a:t> </a:t>
            </a:r>
          </a:p>
          <a:p>
            <a:r>
              <a:rPr lang="ru-RU" sz="1600" dirty="0" smtClean="0"/>
              <a:t>	</a:t>
            </a:r>
            <a:r>
              <a:rPr lang="en-US" sz="1600" i="1" dirty="0" err="1" smtClean="0"/>
              <a:t>HatchBrush</a:t>
            </a:r>
            <a:r>
              <a:rPr lang="en-US" sz="1600" i="1" dirty="0" smtClean="0"/>
              <a:t>(</a:t>
            </a:r>
            <a:r>
              <a:rPr lang="en-US" sz="1600" i="1" dirty="0" err="1" smtClean="0"/>
              <a:t>HatchStyle</a:t>
            </a:r>
            <a:r>
              <a:rPr lang="en-US" sz="1600" i="1" dirty="0" smtClean="0"/>
              <a:t> style, Color </a:t>
            </a:r>
            <a:r>
              <a:rPr lang="en-US" sz="1600" i="1" dirty="0" err="1" smtClean="0"/>
              <a:t>foreColor</a:t>
            </a:r>
            <a:r>
              <a:rPr lang="en-US" sz="1600" i="1" dirty="0" smtClean="0"/>
              <a:t>, Color </a:t>
            </a:r>
            <a:r>
              <a:rPr lang="en-US" sz="1600" i="1" dirty="0" err="1" smtClean="0"/>
              <a:t>backColor</a:t>
            </a:r>
            <a:r>
              <a:rPr lang="en-US" sz="1600" i="1" dirty="0" smtClean="0"/>
              <a:t>)</a:t>
            </a:r>
            <a:endParaRPr lang="ru-RU" sz="1600" dirty="0" smtClean="0"/>
          </a:p>
          <a:p>
            <a:r>
              <a:rPr lang="en-US" sz="1600" dirty="0" smtClean="0"/>
              <a:t> </a:t>
            </a:r>
            <a:endParaRPr lang="ru-RU" sz="1600" dirty="0" smtClean="0"/>
          </a:p>
          <a:p>
            <a:r>
              <a:rPr lang="ru-RU" sz="1600" dirty="0" smtClean="0"/>
              <a:t>	</a:t>
            </a:r>
            <a:r>
              <a:rPr lang="en-US" sz="1600" i="1" dirty="0" smtClean="0"/>
              <a:t>Vertical</a:t>
            </a:r>
            <a:r>
              <a:rPr lang="ru-RU" sz="1600" dirty="0" smtClean="0"/>
              <a:t>  			– штриховка вертикальными линиями</a:t>
            </a:r>
          </a:p>
          <a:p>
            <a:r>
              <a:rPr lang="ru-RU" sz="1600" i="1" dirty="0" smtClean="0"/>
              <a:t>	</a:t>
            </a:r>
            <a:r>
              <a:rPr lang="en-US" sz="1600" i="1" dirty="0" err="1" smtClean="0"/>
              <a:t>Horixontal</a:t>
            </a:r>
            <a:r>
              <a:rPr lang="ru-RU" sz="1600" i="1" dirty="0" smtClean="0"/>
              <a:t>  		</a:t>
            </a:r>
            <a:r>
              <a:rPr lang="ru-RU" sz="1600" dirty="0" smtClean="0"/>
              <a:t>– штриховка горизонтальными       линиями</a:t>
            </a:r>
          </a:p>
          <a:p>
            <a:r>
              <a:rPr lang="ru-RU" sz="1600" i="1" dirty="0" smtClean="0"/>
              <a:t>	</a:t>
            </a:r>
            <a:r>
              <a:rPr lang="en-US" sz="1600" i="1" dirty="0" err="1" smtClean="0"/>
              <a:t>BackwardDiagonal</a:t>
            </a:r>
            <a:r>
              <a:rPr lang="ru-RU" sz="1600" i="1" dirty="0" smtClean="0"/>
              <a:t>  		</a:t>
            </a:r>
            <a:r>
              <a:rPr lang="ru-RU" sz="1600" dirty="0" smtClean="0"/>
              <a:t>– штриховка наклонными линиями (наклон</a:t>
            </a:r>
          </a:p>
          <a:p>
            <a:r>
              <a:rPr lang="ru-RU" sz="1600" dirty="0" smtClean="0"/>
              <a:t>                                                                                                                               вправо)</a:t>
            </a:r>
          </a:p>
          <a:p>
            <a:r>
              <a:rPr lang="ru-RU" sz="1600" i="1" dirty="0" smtClean="0"/>
              <a:t>	</a:t>
            </a:r>
            <a:r>
              <a:rPr lang="en-US" sz="1600" i="1" dirty="0" err="1" smtClean="0"/>
              <a:t>ForwardDiagonal</a:t>
            </a:r>
            <a:r>
              <a:rPr lang="ru-RU" sz="1600" i="1" dirty="0" smtClean="0"/>
              <a:t>  		</a:t>
            </a:r>
            <a:r>
              <a:rPr lang="ru-RU" sz="1600" dirty="0" smtClean="0"/>
              <a:t>– штриховка наклонными линиями (наклон</a:t>
            </a:r>
          </a:p>
          <a:p>
            <a:r>
              <a:rPr lang="ru-RU" sz="1600" dirty="0" smtClean="0"/>
              <a:t>                                                                                                                                   влево)</a:t>
            </a:r>
          </a:p>
          <a:p>
            <a:r>
              <a:rPr lang="ru-RU" sz="1600" i="1" dirty="0" smtClean="0"/>
              <a:t>	</a:t>
            </a:r>
            <a:r>
              <a:rPr lang="en-US" sz="1600" i="1" dirty="0" err="1" smtClean="0"/>
              <a:t>DiagonalCross</a:t>
            </a:r>
            <a:r>
              <a:rPr lang="en-US" sz="1600" i="1" dirty="0" smtClean="0"/>
              <a:t> </a:t>
            </a:r>
            <a:r>
              <a:rPr lang="ru-RU" sz="1600" i="1" dirty="0" smtClean="0"/>
              <a:t>		 </a:t>
            </a:r>
            <a:r>
              <a:rPr lang="ru-RU" sz="1600" dirty="0" smtClean="0"/>
              <a:t>– штриховка пересечением наклонных линий</a:t>
            </a:r>
          </a:p>
          <a:p>
            <a:r>
              <a:rPr lang="ru-RU" sz="1600" i="1" dirty="0" smtClean="0"/>
              <a:t>	</a:t>
            </a:r>
            <a:r>
              <a:rPr lang="en-US" sz="1600" i="1" dirty="0" smtClean="0"/>
              <a:t>Cross</a:t>
            </a:r>
            <a:r>
              <a:rPr lang="ru-RU" sz="1600" i="1" dirty="0" smtClean="0"/>
              <a:t>  			 </a:t>
            </a:r>
            <a:r>
              <a:rPr lang="ru-RU" sz="1600" dirty="0" smtClean="0"/>
              <a:t>– штриховка пересечением горизонтальных и </a:t>
            </a:r>
          </a:p>
          <a:p>
            <a:r>
              <a:rPr lang="ru-RU" sz="1600" dirty="0" smtClean="0"/>
              <a:t>                                                                                                                     вертикальных линий</a:t>
            </a:r>
          </a:p>
          <a:p>
            <a:r>
              <a:rPr lang="ru-RU" sz="1600" i="1" dirty="0" smtClean="0"/>
              <a:t>	</a:t>
            </a:r>
            <a:r>
              <a:rPr lang="en-US" sz="1600" i="1" dirty="0" smtClean="0"/>
              <a:t>Solid</a:t>
            </a:r>
            <a:r>
              <a:rPr lang="ru-RU" sz="1600" i="1" dirty="0" smtClean="0"/>
              <a:t>  				 </a:t>
            </a:r>
            <a:r>
              <a:rPr lang="ru-RU" sz="1600" dirty="0" smtClean="0"/>
              <a:t>– сплошная заливка</a:t>
            </a:r>
          </a:p>
          <a:p>
            <a:endParaRPr lang="ru-RU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 smtClean="0"/>
              <a:t>Пример</a:t>
            </a:r>
            <a:endParaRPr lang="ru-RU" sz="24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 smtClean="0"/>
              <a:t> 	</a:t>
            </a:r>
          </a:p>
          <a:p>
            <a:r>
              <a:rPr lang="ru-RU" dirty="0" smtClean="0"/>
              <a:t> </a:t>
            </a:r>
          </a:p>
          <a:p>
            <a:r>
              <a:rPr lang="ru-RU" dirty="0" smtClean="0"/>
              <a:t>	</a:t>
            </a:r>
            <a:r>
              <a:rPr lang="en-US" i="1" dirty="0" smtClean="0"/>
              <a:t>System.Drawing.Drawing2D</a:t>
            </a:r>
            <a:endParaRPr lang="ru-RU" dirty="0" smtClean="0"/>
          </a:p>
          <a:p>
            <a:r>
              <a:rPr lang="ru-RU" dirty="0" smtClean="0"/>
              <a:t> </a:t>
            </a:r>
          </a:p>
          <a:p>
            <a:endParaRPr lang="ru-RU" dirty="0" smtClean="0"/>
          </a:p>
          <a:p>
            <a:r>
              <a:rPr lang="ru-RU" dirty="0" smtClean="0"/>
              <a:t> </a:t>
            </a:r>
          </a:p>
          <a:p>
            <a:r>
              <a:rPr lang="ru-RU" dirty="0" smtClean="0"/>
              <a:t>	 </a:t>
            </a:r>
          </a:p>
          <a:p>
            <a:r>
              <a:rPr lang="ru-RU" dirty="0" smtClean="0"/>
              <a:t> </a:t>
            </a:r>
          </a:p>
          <a:p>
            <a:r>
              <a:rPr lang="ru-RU" dirty="0" smtClean="0"/>
              <a:t> </a:t>
            </a:r>
            <a:endParaRPr lang="ru-RU" dirty="0" smtClean="0"/>
          </a:p>
          <a:p>
            <a:r>
              <a:rPr lang="ru-RU" dirty="0" smtClean="0"/>
              <a:t> </a:t>
            </a:r>
            <a:endParaRPr lang="ru-RU" dirty="0" smtClean="0"/>
          </a:p>
          <a:p>
            <a:r>
              <a:rPr lang="ru-RU" dirty="0" smtClean="0"/>
              <a:t>	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>
            <a:normAutofit/>
          </a:bodyPr>
          <a:lstStyle/>
          <a:p>
            <a:r>
              <a:rPr lang="ru-RU" sz="2400" dirty="0" smtClean="0"/>
              <a:t>Пример (продолжение)</a:t>
            </a:r>
            <a:endParaRPr lang="ru-RU" sz="24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4713387"/>
          </a:xfrm>
        </p:spPr>
        <p:txBody>
          <a:bodyPr>
            <a:normAutofit fontScale="62500" lnSpcReduction="20000"/>
          </a:bodyPr>
          <a:lstStyle/>
          <a:p>
            <a:r>
              <a:rPr lang="ru-RU" dirty="0" smtClean="0"/>
              <a:t>. . .</a:t>
            </a:r>
          </a:p>
          <a:p>
            <a:r>
              <a:rPr lang="ru-RU" dirty="0" err="1" smtClean="0"/>
              <a:t>using</a:t>
            </a:r>
            <a:r>
              <a:rPr lang="ru-RU" dirty="0" smtClean="0"/>
              <a:t> System.Drawing.Drawing2D;</a:t>
            </a:r>
          </a:p>
          <a:p>
            <a:r>
              <a:rPr lang="en-US" dirty="0" smtClean="0"/>
              <a:t>. . .</a:t>
            </a:r>
            <a:endParaRPr lang="ru-RU" dirty="0" smtClean="0"/>
          </a:p>
          <a:p>
            <a:r>
              <a:rPr lang="en-US" dirty="0" smtClean="0"/>
              <a:t>private void Form1_Paint(object sender, </a:t>
            </a:r>
            <a:r>
              <a:rPr lang="en-US" dirty="0" err="1" smtClean="0"/>
              <a:t>PaintEventArgs</a:t>
            </a:r>
            <a:r>
              <a:rPr lang="en-US" dirty="0" smtClean="0"/>
              <a:t> e)</a:t>
            </a:r>
            <a:endParaRPr lang="ru-RU" dirty="0" smtClean="0"/>
          </a:p>
          <a:p>
            <a:r>
              <a:rPr lang="en-US" dirty="0" smtClean="0"/>
              <a:t>{</a:t>
            </a:r>
            <a:endParaRPr lang="ru-RU" dirty="0" smtClean="0"/>
          </a:p>
          <a:p>
            <a:r>
              <a:rPr lang="en-US" dirty="0" smtClean="0"/>
              <a:t>   Graphics g = </a:t>
            </a:r>
            <a:r>
              <a:rPr lang="en-US" dirty="0" err="1" smtClean="0"/>
              <a:t>e.Graphics</a:t>
            </a:r>
            <a:r>
              <a:rPr lang="en-US" dirty="0" smtClean="0"/>
              <a:t>;</a:t>
            </a:r>
            <a:endParaRPr lang="ru-RU" dirty="0" smtClean="0"/>
          </a:p>
          <a:p>
            <a:r>
              <a:rPr lang="en-US" dirty="0" smtClean="0"/>
              <a:t>   Pen p1 = new Pen(</a:t>
            </a:r>
            <a:r>
              <a:rPr lang="en-US" dirty="0" err="1" smtClean="0"/>
              <a:t>Color.Blue</a:t>
            </a:r>
            <a:r>
              <a:rPr lang="en-US" dirty="0" smtClean="0"/>
              <a:t>);</a:t>
            </a:r>
            <a:endParaRPr lang="ru-RU" dirty="0" smtClean="0"/>
          </a:p>
          <a:p>
            <a:r>
              <a:rPr lang="en-US" dirty="0" smtClean="0"/>
              <a:t>   p1.DashStyle = </a:t>
            </a:r>
            <a:r>
              <a:rPr lang="en-US" dirty="0" err="1" smtClean="0"/>
              <a:t>DashStyle.DashDot</a:t>
            </a:r>
            <a:r>
              <a:rPr lang="en-US" dirty="0" smtClean="0"/>
              <a:t>;</a:t>
            </a:r>
            <a:endParaRPr lang="ru-RU" dirty="0" smtClean="0"/>
          </a:p>
          <a:p>
            <a:r>
              <a:rPr lang="en-US" dirty="0" smtClean="0"/>
              <a:t>   </a:t>
            </a:r>
            <a:r>
              <a:rPr lang="en-US" dirty="0" err="1" smtClean="0"/>
              <a:t>g.DrawLine</a:t>
            </a:r>
            <a:r>
              <a:rPr lang="en-US" dirty="0" smtClean="0"/>
              <a:t>(p1, 50, 50, 180, 100);</a:t>
            </a:r>
            <a:endParaRPr lang="ru-RU" dirty="0" smtClean="0"/>
          </a:p>
          <a:p>
            <a:r>
              <a:rPr lang="en-US" dirty="0" smtClean="0"/>
              <a:t>   </a:t>
            </a:r>
            <a:r>
              <a:rPr lang="en-US" dirty="0" err="1" smtClean="0"/>
              <a:t>HatchStyle</a:t>
            </a:r>
            <a:r>
              <a:rPr lang="en-US" dirty="0" smtClean="0"/>
              <a:t> </a:t>
            </a:r>
            <a:r>
              <a:rPr lang="en-US" dirty="0" err="1" smtClean="0"/>
              <a:t>hst</a:t>
            </a:r>
            <a:r>
              <a:rPr lang="en-US" dirty="0" smtClean="0"/>
              <a:t> = </a:t>
            </a:r>
            <a:r>
              <a:rPr lang="en-US" dirty="0" err="1" smtClean="0"/>
              <a:t>HatchStyle.DiagonalCross</a:t>
            </a:r>
            <a:r>
              <a:rPr lang="en-US" dirty="0" smtClean="0"/>
              <a:t>;</a:t>
            </a:r>
            <a:endParaRPr lang="ru-RU" dirty="0" smtClean="0"/>
          </a:p>
          <a:p>
            <a:r>
              <a:rPr lang="en-US" dirty="0" smtClean="0"/>
              <a:t>   </a:t>
            </a:r>
            <a:r>
              <a:rPr lang="en-US" dirty="0" err="1" smtClean="0"/>
              <a:t>HatchBrush</a:t>
            </a:r>
            <a:r>
              <a:rPr lang="en-US" dirty="0" smtClean="0"/>
              <a:t> </a:t>
            </a:r>
            <a:r>
              <a:rPr lang="en-US" dirty="0" err="1" smtClean="0"/>
              <a:t>hbr</a:t>
            </a:r>
            <a:r>
              <a:rPr lang="en-US" dirty="0" smtClean="0"/>
              <a:t> = new </a:t>
            </a:r>
            <a:r>
              <a:rPr lang="en-US" dirty="0" err="1" smtClean="0"/>
              <a:t>HatchBrush</a:t>
            </a:r>
            <a:r>
              <a:rPr lang="en-US" dirty="0" smtClean="0"/>
              <a:t>(</a:t>
            </a:r>
            <a:r>
              <a:rPr lang="en-US" dirty="0" err="1" smtClean="0"/>
              <a:t>hst</a:t>
            </a:r>
            <a:r>
              <a:rPr lang="en-US" dirty="0" smtClean="0"/>
              <a:t>, </a:t>
            </a:r>
            <a:r>
              <a:rPr lang="en-US" dirty="0" err="1" smtClean="0"/>
              <a:t>Color.Red</a:t>
            </a:r>
            <a:r>
              <a:rPr lang="en-US" dirty="0" smtClean="0"/>
              <a:t>, </a:t>
            </a:r>
            <a:r>
              <a:rPr lang="en-US" dirty="0" err="1" smtClean="0"/>
              <a:t>Color.Cyan</a:t>
            </a:r>
            <a:r>
              <a:rPr lang="en-US" dirty="0" smtClean="0"/>
              <a:t>);</a:t>
            </a:r>
            <a:endParaRPr lang="ru-RU" dirty="0" smtClean="0"/>
          </a:p>
          <a:p>
            <a:r>
              <a:rPr lang="ru-RU" dirty="0" smtClean="0"/>
              <a:t>   </a:t>
            </a:r>
            <a:r>
              <a:rPr lang="ru-RU" dirty="0" err="1" smtClean="0"/>
              <a:t>g.FillEllipse</a:t>
            </a:r>
            <a:r>
              <a:rPr lang="ru-RU" dirty="0" smtClean="0"/>
              <a:t>(</a:t>
            </a:r>
            <a:r>
              <a:rPr lang="ru-RU" dirty="0" err="1" smtClean="0"/>
              <a:t>hbr</a:t>
            </a:r>
            <a:r>
              <a:rPr lang="ru-RU" dirty="0" smtClean="0"/>
              <a:t>, 200, 50, 350, 150);</a:t>
            </a:r>
          </a:p>
          <a:p>
            <a:r>
              <a:rPr lang="ru-RU" dirty="0" smtClean="0"/>
              <a:t> }</a:t>
            </a:r>
          </a:p>
          <a:p>
            <a:r>
              <a:rPr lang="ru-RU" dirty="0" smtClean="0"/>
              <a:t> 	</a:t>
            </a:r>
          </a:p>
          <a:p>
            <a:endParaRPr lang="ru-RU" dirty="0" smtClean="0"/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22114"/>
          </a:xfrm>
        </p:spPr>
        <p:txBody>
          <a:bodyPr>
            <a:normAutofit/>
          </a:bodyPr>
          <a:lstStyle/>
          <a:p>
            <a:r>
              <a:rPr lang="ru-RU" sz="3200" dirty="0" smtClean="0"/>
              <a:t>Пример рисования</a:t>
            </a:r>
            <a:endParaRPr lang="ru-RU" sz="3200" dirty="0"/>
          </a:p>
        </p:txBody>
      </p:sp>
      <p:pic>
        <p:nvPicPr>
          <p:cNvPr id="4" name="Содержимое 3" descr="Рис_5_3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899592" y="1412776"/>
            <a:ext cx="7488832" cy="5112568"/>
          </a:xfr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>
            <a:normAutofit/>
          </a:bodyPr>
          <a:lstStyle/>
          <a:p>
            <a:r>
              <a:rPr lang="ru-RU" sz="2400" dirty="0" smtClean="0"/>
              <a:t>Обработчик</a:t>
            </a:r>
            <a:endParaRPr lang="ru-RU" sz="24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5040560"/>
          </a:xfrm>
        </p:spPr>
        <p:txBody>
          <a:bodyPr>
            <a:normAutofit fontScale="70000" lnSpcReduction="20000"/>
          </a:bodyPr>
          <a:lstStyle/>
          <a:p>
            <a:r>
              <a:rPr lang="ru-RU" dirty="0" smtClean="0"/>
              <a:t>	</a:t>
            </a:r>
          </a:p>
          <a:p>
            <a:r>
              <a:rPr lang="ru-RU" dirty="0" smtClean="0"/>
              <a:t> </a:t>
            </a:r>
          </a:p>
          <a:p>
            <a:r>
              <a:rPr lang="en-US" dirty="0" smtClean="0"/>
              <a:t>        private void Form1_Paint(object sender, </a:t>
            </a:r>
            <a:r>
              <a:rPr lang="en-US" dirty="0" err="1" smtClean="0"/>
              <a:t>PaintEventArgs</a:t>
            </a:r>
            <a:r>
              <a:rPr lang="en-US" dirty="0" smtClean="0"/>
              <a:t> e)</a:t>
            </a:r>
            <a:endParaRPr lang="ru-RU" dirty="0" smtClean="0"/>
          </a:p>
          <a:p>
            <a:r>
              <a:rPr lang="en-US" dirty="0" smtClean="0"/>
              <a:t>        {</a:t>
            </a:r>
            <a:endParaRPr lang="ru-RU" dirty="0" smtClean="0"/>
          </a:p>
          <a:p>
            <a:r>
              <a:rPr lang="en-US" dirty="0" smtClean="0"/>
              <a:t>            Graphics g = </a:t>
            </a:r>
            <a:r>
              <a:rPr lang="en-US" dirty="0" err="1" smtClean="0"/>
              <a:t>e.Graphics</a:t>
            </a:r>
            <a:r>
              <a:rPr lang="en-US" dirty="0" smtClean="0"/>
              <a:t>;</a:t>
            </a:r>
            <a:endParaRPr lang="ru-RU" dirty="0" smtClean="0"/>
          </a:p>
          <a:p>
            <a:r>
              <a:rPr lang="en-US" dirty="0" smtClean="0"/>
              <a:t>            Pen p1 = new Pen(</a:t>
            </a:r>
            <a:r>
              <a:rPr lang="en-US" dirty="0" err="1" smtClean="0"/>
              <a:t>Color.Black</a:t>
            </a:r>
            <a:r>
              <a:rPr lang="en-US" dirty="0" smtClean="0"/>
              <a:t>, 2);</a:t>
            </a:r>
            <a:endParaRPr lang="ru-RU" dirty="0" smtClean="0"/>
          </a:p>
          <a:p>
            <a:r>
              <a:rPr lang="en-US" dirty="0" smtClean="0"/>
              <a:t>            </a:t>
            </a:r>
            <a:r>
              <a:rPr lang="en-US" dirty="0" err="1" smtClean="0"/>
              <a:t>g.DrawEllipse</a:t>
            </a:r>
            <a:r>
              <a:rPr lang="en-US" dirty="0" smtClean="0"/>
              <a:t>(p1, 40, 40, 100, 60);</a:t>
            </a:r>
            <a:endParaRPr lang="ru-RU" dirty="0" smtClean="0"/>
          </a:p>
          <a:p>
            <a:r>
              <a:rPr lang="en-US" dirty="0" smtClean="0"/>
              <a:t>            </a:t>
            </a:r>
            <a:r>
              <a:rPr lang="en-US" dirty="0" err="1" smtClean="0"/>
              <a:t>g.DrawLine</a:t>
            </a:r>
            <a:r>
              <a:rPr lang="en-US" dirty="0" smtClean="0"/>
              <a:t>(p1, 160, 40, 300, 100);</a:t>
            </a:r>
            <a:endParaRPr lang="ru-RU" dirty="0" smtClean="0"/>
          </a:p>
          <a:p>
            <a:r>
              <a:rPr lang="ru-RU" dirty="0" smtClean="0"/>
              <a:t>            </a:t>
            </a:r>
            <a:r>
              <a:rPr lang="ru-RU" dirty="0" err="1" smtClean="0"/>
              <a:t>g.DrawRectangle</a:t>
            </a:r>
            <a:r>
              <a:rPr lang="ru-RU" dirty="0" smtClean="0"/>
              <a:t>(p1, 150, 130, 150, 100);</a:t>
            </a:r>
          </a:p>
          <a:p>
            <a:r>
              <a:rPr lang="en-US" dirty="0" smtClean="0"/>
              <a:t>            </a:t>
            </a:r>
            <a:r>
              <a:rPr lang="en-US" dirty="0" err="1" smtClean="0"/>
              <a:t>HatchStyle</a:t>
            </a:r>
            <a:r>
              <a:rPr lang="en-US" dirty="0" smtClean="0"/>
              <a:t> </a:t>
            </a:r>
            <a:r>
              <a:rPr lang="en-US" dirty="0" err="1" smtClean="0"/>
              <a:t>hst</a:t>
            </a:r>
            <a:r>
              <a:rPr lang="en-US" dirty="0" smtClean="0"/>
              <a:t> = </a:t>
            </a:r>
            <a:r>
              <a:rPr lang="en-US" dirty="0" err="1" smtClean="0"/>
              <a:t>HatchStyle.BackwardDiagonal</a:t>
            </a:r>
            <a:r>
              <a:rPr lang="en-US" dirty="0" smtClean="0"/>
              <a:t>;</a:t>
            </a:r>
            <a:endParaRPr lang="ru-RU" dirty="0" smtClean="0"/>
          </a:p>
          <a:p>
            <a:r>
              <a:rPr lang="en-US" dirty="0" smtClean="0"/>
              <a:t>            </a:t>
            </a:r>
            <a:r>
              <a:rPr lang="en-US" dirty="0" err="1" smtClean="0"/>
              <a:t>HatchBrush</a:t>
            </a:r>
            <a:r>
              <a:rPr lang="en-US" dirty="0" smtClean="0"/>
              <a:t> </a:t>
            </a:r>
            <a:r>
              <a:rPr lang="en-US" dirty="0" err="1" smtClean="0"/>
              <a:t>hbr</a:t>
            </a:r>
            <a:r>
              <a:rPr lang="en-US" dirty="0" smtClean="0"/>
              <a:t> = new </a:t>
            </a:r>
            <a:r>
              <a:rPr lang="en-US" dirty="0" err="1" smtClean="0"/>
              <a:t>HatchBrush</a:t>
            </a:r>
            <a:r>
              <a:rPr lang="en-US" dirty="0" smtClean="0"/>
              <a:t>(</a:t>
            </a:r>
            <a:r>
              <a:rPr lang="en-US" dirty="0" err="1" smtClean="0"/>
              <a:t>hst</a:t>
            </a:r>
            <a:r>
              <a:rPr lang="en-US" dirty="0" smtClean="0"/>
              <a:t>, </a:t>
            </a:r>
            <a:r>
              <a:rPr lang="en-US" dirty="0" err="1" smtClean="0"/>
              <a:t>Color.Black</a:t>
            </a:r>
            <a:r>
              <a:rPr lang="en-US" dirty="0" smtClean="0"/>
              <a:t>,</a:t>
            </a:r>
            <a:endParaRPr lang="ru-RU" dirty="0" smtClean="0"/>
          </a:p>
          <a:p>
            <a:r>
              <a:rPr lang="en-US" dirty="0" smtClean="0"/>
              <a:t>                                  </a:t>
            </a:r>
            <a:r>
              <a:rPr lang="en-US" dirty="0" err="1" smtClean="0"/>
              <a:t>Color.White</a:t>
            </a:r>
            <a:r>
              <a:rPr lang="en-US" dirty="0" smtClean="0"/>
              <a:t>);</a:t>
            </a:r>
            <a:endParaRPr lang="ru-RU" dirty="0" smtClean="0"/>
          </a:p>
          <a:p>
            <a:r>
              <a:rPr lang="en-US" dirty="0" smtClean="0"/>
              <a:t>            </a:t>
            </a:r>
            <a:r>
              <a:rPr lang="en-US" dirty="0" err="1" smtClean="0"/>
              <a:t>g.FillRectangle</a:t>
            </a:r>
            <a:r>
              <a:rPr lang="en-US" dirty="0" smtClean="0"/>
              <a:t>(</a:t>
            </a:r>
            <a:r>
              <a:rPr lang="en-US" dirty="0" err="1" smtClean="0"/>
              <a:t>hbr</a:t>
            </a:r>
            <a:r>
              <a:rPr lang="en-US" dirty="0" smtClean="0"/>
              <a:t>, 150, 130, 150, 100);</a:t>
            </a:r>
            <a:endParaRPr lang="ru-RU" dirty="0" smtClean="0"/>
          </a:p>
          <a:p>
            <a:r>
              <a:rPr lang="en-US" dirty="0" smtClean="0"/>
              <a:t>        </a:t>
            </a:r>
            <a:r>
              <a:rPr lang="ru-RU" dirty="0" smtClean="0"/>
              <a:t>}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 smtClean="0"/>
              <a:t>Комментарий</a:t>
            </a:r>
            <a:endParaRPr lang="ru-RU" sz="32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988839"/>
            <a:ext cx="8229600" cy="3384377"/>
          </a:xfrm>
        </p:spPr>
        <p:txBody>
          <a:bodyPr>
            <a:normAutofit fontScale="85000" lnSpcReduction="20000"/>
          </a:bodyPr>
          <a:lstStyle/>
          <a:p>
            <a:r>
              <a:rPr lang="ru-RU" dirty="0" smtClean="0"/>
              <a:t>	Сначала создаётся чёрное перо толщиной два пикселя, затем это перо используется для рисования отрезка прямой и границ эллипса и прямоугольника. </a:t>
            </a:r>
          </a:p>
          <a:p>
            <a:r>
              <a:rPr lang="ru-RU" dirty="0" smtClean="0"/>
              <a:t> 	После этого внутренняя область прямоугольника заполняется штриховкой. </a:t>
            </a:r>
          </a:p>
          <a:p>
            <a:r>
              <a:rPr lang="ru-RU" dirty="0" smtClean="0"/>
              <a:t> 	В примере используются только чёрный и белый цвета. </a:t>
            </a:r>
          </a:p>
          <a:p>
            <a:r>
              <a:rPr lang="ru-RU" dirty="0" smtClean="0"/>
              <a:t> 	В общем случае цвета могут быть любыми.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426170"/>
          </a:xfrm>
        </p:spPr>
        <p:txBody>
          <a:bodyPr>
            <a:normAutofit fontScale="90000"/>
          </a:bodyPr>
          <a:lstStyle/>
          <a:p>
            <a:r>
              <a:rPr lang="ru-RU" sz="2400" b="1" dirty="0" smtClean="0"/>
              <a:t/>
            </a:r>
            <a:br>
              <a:rPr lang="ru-RU" sz="2400" b="1" dirty="0" smtClean="0"/>
            </a:br>
            <a:r>
              <a:rPr lang="ru-RU" sz="3100" b="1" dirty="0" smtClean="0"/>
              <a:t>6. РАБОТА С НЕСКОЛЬКИМИ ФОРМАМИ</a:t>
            </a:r>
            <a:br>
              <a:rPr lang="ru-RU" sz="3100" b="1" dirty="0" smtClean="0"/>
            </a:br>
            <a:r>
              <a:rPr lang="ru-RU" sz="3100" dirty="0" smtClean="0"/>
              <a:t> </a:t>
            </a:r>
            <a:br>
              <a:rPr lang="ru-RU" sz="3100" dirty="0" smtClean="0"/>
            </a:br>
            <a:r>
              <a:rPr lang="ru-RU" sz="3100" b="1" dirty="0" smtClean="0"/>
              <a:t>6.1. Создание новой формы</a:t>
            </a:r>
            <a:r>
              <a:rPr lang="ru-RU" sz="3100" b="1" i="1" dirty="0" smtClean="0"/>
              <a:t/>
            </a:r>
            <a:br>
              <a:rPr lang="ru-RU" sz="3100" b="1" i="1" dirty="0" smtClean="0"/>
            </a:br>
            <a:endParaRPr lang="ru-RU" sz="31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2132856"/>
            <a:ext cx="8229600" cy="3993307"/>
          </a:xfrm>
        </p:spPr>
        <p:txBody>
          <a:bodyPr>
            <a:normAutofit fontScale="77500" lnSpcReduction="20000"/>
          </a:bodyPr>
          <a:lstStyle/>
          <a:p>
            <a:r>
              <a:rPr lang="ru-RU" dirty="0" smtClean="0"/>
              <a:t>	Чтобы создать новую форму на языке  </a:t>
            </a:r>
            <a:r>
              <a:rPr lang="en-US" b="1" i="1" dirty="0" smtClean="0"/>
              <a:t>C</a:t>
            </a:r>
            <a:r>
              <a:rPr lang="ru-RU" b="1" i="1" dirty="0" smtClean="0"/>
              <a:t>#</a:t>
            </a:r>
            <a:r>
              <a:rPr lang="ru-RU" dirty="0" smtClean="0"/>
              <a:t>  нужно выбрать пункт меню  </a:t>
            </a:r>
            <a:r>
              <a:rPr lang="en-US" b="1" i="1" dirty="0" smtClean="0"/>
              <a:t>Project</a:t>
            </a:r>
            <a:r>
              <a:rPr lang="ru-RU" b="1" i="1" dirty="0" smtClean="0"/>
              <a:t> =&gt; </a:t>
            </a:r>
            <a:r>
              <a:rPr lang="en-US" b="1" i="1" dirty="0" err="1" smtClean="0"/>
              <a:t>AddWindowsForm</a:t>
            </a:r>
            <a:r>
              <a:rPr lang="ru-RU" dirty="0" smtClean="0"/>
              <a:t>.  </a:t>
            </a:r>
          </a:p>
          <a:p>
            <a:r>
              <a:rPr lang="ru-RU" dirty="0" smtClean="0"/>
              <a:t> 	Затем в появившемся окне  </a:t>
            </a:r>
            <a:r>
              <a:rPr lang="en-US" b="1" i="1" dirty="0" err="1" smtClean="0"/>
              <a:t>Categpries</a:t>
            </a:r>
            <a:r>
              <a:rPr lang="ru-RU" dirty="0" smtClean="0"/>
              <a:t>  выбрать  </a:t>
            </a:r>
            <a:r>
              <a:rPr lang="en-US" b="1" i="1" dirty="0" smtClean="0"/>
              <a:t>Windows Forms</a:t>
            </a:r>
            <a:r>
              <a:rPr lang="ru-RU" dirty="0" smtClean="0"/>
              <a:t>,  а в окне шаблонов – шаблон  </a:t>
            </a:r>
            <a:r>
              <a:rPr lang="en-US" b="1" i="1" dirty="0" smtClean="0"/>
              <a:t>Windows Form</a:t>
            </a:r>
            <a:r>
              <a:rPr lang="ru-RU" dirty="0" smtClean="0"/>
              <a:t>,  и нажать кнопку  </a:t>
            </a:r>
            <a:r>
              <a:rPr lang="en-US" b="1" i="1" dirty="0" smtClean="0"/>
              <a:t>Add</a:t>
            </a:r>
            <a:r>
              <a:rPr lang="ru-RU" dirty="0" smtClean="0"/>
              <a:t>.  </a:t>
            </a:r>
          </a:p>
          <a:p>
            <a:r>
              <a:rPr lang="ru-RU" dirty="0" smtClean="0"/>
              <a:t> 	Будет создана форма с именем по умолчанию  </a:t>
            </a:r>
            <a:r>
              <a:rPr lang="en-US" b="1" i="1" dirty="0" smtClean="0"/>
              <a:t>Form</a:t>
            </a:r>
            <a:r>
              <a:rPr lang="ru-RU" b="1" i="1" dirty="0" smtClean="0"/>
              <a:t>2</a:t>
            </a:r>
            <a:r>
              <a:rPr lang="ru-RU" dirty="0" smtClean="0"/>
              <a:t>  (имя при создании можно выбрать другим). </a:t>
            </a:r>
          </a:p>
          <a:p>
            <a:r>
              <a:rPr lang="ru-RU" dirty="0" smtClean="0"/>
              <a:t> 	</a:t>
            </a:r>
            <a:endParaRPr lang="ru-RU" dirty="0" smtClean="0"/>
          </a:p>
          <a:p>
            <a:r>
              <a:rPr lang="ru-RU" dirty="0" smtClean="0"/>
              <a:t> </a:t>
            </a:r>
            <a:endParaRPr lang="ru-RU" dirty="0" smtClean="0"/>
          </a:p>
          <a:p>
            <a:r>
              <a:rPr lang="ru-RU" dirty="0" smtClean="0"/>
              <a:t> </a:t>
            </a:r>
            <a:endParaRPr lang="ru-RU" dirty="0" smtClean="0"/>
          </a:p>
          <a:p>
            <a:r>
              <a:rPr lang="ru-RU" dirty="0" smtClean="0"/>
              <a:t> </a:t>
            </a:r>
            <a:endParaRPr lang="ru-RU" dirty="0" smtClean="0"/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dirty="0" smtClean="0"/>
              <a:t>Создание второй формы</a:t>
            </a:r>
            <a:endParaRPr lang="ru-RU" sz="28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/>
              <a:t> . . .</a:t>
            </a:r>
            <a:endParaRPr lang="ru-RU" dirty="0" smtClean="0"/>
          </a:p>
          <a:p>
            <a:r>
              <a:rPr lang="en-US" dirty="0" smtClean="0"/>
              <a:t>{</a:t>
            </a:r>
            <a:endParaRPr lang="ru-RU" dirty="0" smtClean="0"/>
          </a:p>
          <a:p>
            <a:r>
              <a:rPr lang="en-US" dirty="0" smtClean="0"/>
              <a:t>   Form2 f = new Form2();</a:t>
            </a:r>
            <a:endParaRPr lang="ru-RU" dirty="0" smtClean="0"/>
          </a:p>
          <a:p>
            <a:r>
              <a:rPr lang="en-US" dirty="0" smtClean="0"/>
              <a:t>   </a:t>
            </a:r>
            <a:r>
              <a:rPr lang="en-US" dirty="0" err="1" smtClean="0"/>
              <a:t>f.ShowDialog</a:t>
            </a:r>
            <a:r>
              <a:rPr lang="en-US" dirty="0" smtClean="0"/>
              <a:t>();</a:t>
            </a:r>
            <a:endParaRPr lang="ru-RU" dirty="0" smtClean="0"/>
          </a:p>
          <a:p>
            <a:r>
              <a:rPr lang="en-US" dirty="0" smtClean="0"/>
              <a:t>   if (</a:t>
            </a:r>
            <a:r>
              <a:rPr lang="en-US" dirty="0" err="1" smtClean="0"/>
              <a:t>f.DialogResult</a:t>
            </a:r>
            <a:r>
              <a:rPr lang="en-US" dirty="0" smtClean="0"/>
              <a:t> == </a:t>
            </a:r>
            <a:r>
              <a:rPr lang="en-US" dirty="0" err="1" smtClean="0"/>
              <a:t>DialogResult.OK</a:t>
            </a:r>
            <a:r>
              <a:rPr lang="en-US" dirty="0" smtClean="0"/>
              <a:t>)</a:t>
            </a:r>
            <a:endParaRPr lang="ru-RU" dirty="0" smtClean="0"/>
          </a:p>
          <a:p>
            <a:r>
              <a:rPr lang="en-US" dirty="0" smtClean="0"/>
              <a:t>   </a:t>
            </a:r>
            <a:r>
              <a:rPr lang="ru-RU" dirty="0" smtClean="0"/>
              <a:t>{</a:t>
            </a:r>
          </a:p>
          <a:p>
            <a:r>
              <a:rPr lang="en-US" dirty="0" smtClean="0"/>
              <a:t>  </a:t>
            </a:r>
            <a:r>
              <a:rPr lang="ru-RU" dirty="0" smtClean="0"/>
              <a:t>   . . .  // Обработка данных из диалогового окна (из </a:t>
            </a:r>
            <a:r>
              <a:rPr lang="en-US" dirty="0" smtClean="0"/>
              <a:t>Form</a:t>
            </a:r>
            <a:r>
              <a:rPr lang="ru-RU" dirty="0" smtClean="0"/>
              <a:t>2)</a:t>
            </a:r>
          </a:p>
          <a:p>
            <a:r>
              <a:rPr lang="ru-RU" dirty="0" smtClean="0"/>
              <a:t>    }</a:t>
            </a:r>
          </a:p>
          <a:p>
            <a:r>
              <a:rPr lang="ru-RU" dirty="0" smtClean="0"/>
              <a:t> }</a:t>
            </a:r>
          </a:p>
          <a:p>
            <a:r>
              <a:rPr lang="ru-RU" dirty="0" smtClean="0"/>
              <a:t> </a:t>
            </a:r>
          </a:p>
          <a:p>
            <a:r>
              <a:rPr lang="ru-RU" dirty="0" smtClean="0"/>
              <a:t>	</a:t>
            </a:r>
            <a:endParaRPr lang="ru-RU" dirty="0" smtClean="0"/>
          </a:p>
          <a:p>
            <a:r>
              <a:rPr lang="ru-RU" dirty="0" smtClean="0"/>
              <a:t> </a:t>
            </a:r>
            <a:endParaRPr lang="ru-RU" dirty="0" smtClean="0"/>
          </a:p>
          <a:p>
            <a:r>
              <a:rPr lang="ru-RU" dirty="0" smtClean="0"/>
              <a:t> </a:t>
            </a:r>
            <a:endParaRPr lang="ru-RU" dirty="0" smtClean="0"/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2800" b="1" dirty="0" smtClean="0"/>
              <a:t/>
            </a:r>
            <a:br>
              <a:rPr lang="ru-RU" sz="2800" b="1" dirty="0" smtClean="0"/>
            </a:br>
            <a:r>
              <a:rPr lang="ru-RU" sz="3100" b="1" dirty="0" smtClean="0"/>
              <a:t>6.2. Пример с двумя формами</a:t>
            </a:r>
            <a:r>
              <a:rPr lang="ru-RU" sz="2800" b="1" i="1" dirty="0" smtClean="0"/>
              <a:t/>
            </a:r>
            <a:br>
              <a:rPr lang="ru-RU" sz="2800" b="1" i="1" dirty="0" smtClean="0"/>
            </a:br>
            <a:endParaRPr lang="ru-RU" sz="28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772816"/>
            <a:ext cx="8229600" cy="4353347"/>
          </a:xfrm>
        </p:spPr>
        <p:txBody>
          <a:bodyPr>
            <a:normAutofit fontScale="70000" lnSpcReduction="20000"/>
          </a:bodyPr>
          <a:lstStyle/>
          <a:p>
            <a:r>
              <a:rPr lang="ru-RU" dirty="0" smtClean="0"/>
              <a:t>	Пусть вторая форма будет диалоговым окном для ввода строки.</a:t>
            </a:r>
          </a:p>
          <a:p>
            <a:endParaRPr lang="ru-RU" dirty="0" smtClean="0"/>
          </a:p>
          <a:p>
            <a:r>
              <a:rPr lang="ru-RU" dirty="0" smtClean="0"/>
              <a:t> 	На форму поместим текстовое поле и две кнопки:  ‘</a:t>
            </a:r>
            <a:r>
              <a:rPr lang="ru-RU" i="1" dirty="0" smtClean="0"/>
              <a:t>Ввод</a:t>
            </a:r>
            <a:r>
              <a:rPr lang="ru-RU" dirty="0" smtClean="0"/>
              <a:t>’  и ‘</a:t>
            </a:r>
            <a:r>
              <a:rPr lang="ru-RU" i="1" dirty="0" smtClean="0"/>
              <a:t>Отмена</a:t>
            </a:r>
            <a:r>
              <a:rPr lang="ru-RU" dirty="0" smtClean="0"/>
              <a:t>’.</a:t>
            </a:r>
          </a:p>
          <a:p>
            <a:endParaRPr lang="ru-RU" dirty="0" smtClean="0"/>
          </a:p>
          <a:p>
            <a:r>
              <a:rPr lang="ru-RU" dirty="0" smtClean="0"/>
              <a:t>	Для кнопки  ‘</a:t>
            </a:r>
            <a:r>
              <a:rPr lang="ru-RU" i="1" dirty="0" smtClean="0"/>
              <a:t>Ввод</a:t>
            </a:r>
            <a:r>
              <a:rPr lang="ru-RU" dirty="0" smtClean="0"/>
              <a:t>’  установим значение свойства  </a:t>
            </a:r>
            <a:r>
              <a:rPr lang="en-US" b="1" i="1" dirty="0" err="1" smtClean="0"/>
              <a:t>DialogResult</a:t>
            </a:r>
            <a:r>
              <a:rPr lang="ru-RU" dirty="0" smtClean="0"/>
              <a:t> – </a:t>
            </a:r>
            <a:r>
              <a:rPr lang="en-US" b="1" i="1" dirty="0" smtClean="0"/>
              <a:t>OK</a:t>
            </a:r>
            <a:r>
              <a:rPr lang="ru-RU" dirty="0" smtClean="0"/>
              <a:t>,  для кнопки  ‘</a:t>
            </a:r>
            <a:r>
              <a:rPr lang="ru-RU" i="1" dirty="0" smtClean="0"/>
              <a:t>Отмена</a:t>
            </a:r>
            <a:r>
              <a:rPr lang="ru-RU" dirty="0" smtClean="0"/>
              <a:t>’ – </a:t>
            </a:r>
            <a:r>
              <a:rPr lang="en-US" b="1" i="1" dirty="0" smtClean="0"/>
              <a:t>Cancel</a:t>
            </a:r>
            <a:r>
              <a:rPr lang="ru-RU" dirty="0" smtClean="0"/>
              <a:t>.  </a:t>
            </a:r>
          </a:p>
          <a:p>
            <a:endParaRPr lang="ru-RU" dirty="0" smtClean="0"/>
          </a:p>
          <a:p>
            <a:r>
              <a:rPr lang="ru-RU" dirty="0" smtClean="0"/>
              <a:t> 	Форма будет автоматически закрываться при нажатии любой из этих кнопок.</a:t>
            </a:r>
          </a:p>
          <a:p>
            <a:endParaRPr lang="ru-RU" dirty="0" smtClean="0"/>
          </a:p>
          <a:p>
            <a:r>
              <a:rPr lang="ru-RU" dirty="0" smtClean="0"/>
              <a:t> 	Тогда  </a:t>
            </a:r>
            <a:r>
              <a:rPr lang="en-US" b="1" i="1" dirty="0" smtClean="0"/>
              <a:t>Form</a:t>
            </a:r>
            <a:r>
              <a:rPr lang="ru-RU" b="1" i="1" dirty="0" smtClean="0"/>
              <a:t>2</a:t>
            </a:r>
            <a:r>
              <a:rPr lang="ru-RU" dirty="0" smtClean="0"/>
              <a:t>  будет выглядеть следующим образом: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>
            <a:normAutofit/>
          </a:bodyPr>
          <a:lstStyle/>
          <a:p>
            <a:r>
              <a:rPr lang="ru-RU" sz="2800" dirty="0" smtClean="0"/>
              <a:t>Вторая форма</a:t>
            </a:r>
            <a:endParaRPr lang="ru-RU" sz="2800" dirty="0"/>
          </a:p>
        </p:txBody>
      </p:sp>
      <p:pic>
        <p:nvPicPr>
          <p:cNvPr id="4" name="Содержимое 3" descr="Рис_6_1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539552" y="1340768"/>
            <a:ext cx="8064896" cy="5112568"/>
          </a:xfr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 smtClean="0"/>
              <a:t>Обработчик для кнопки на второй форме</a:t>
            </a:r>
            <a:endParaRPr lang="ru-RU" sz="24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ru-RU" dirty="0" smtClean="0"/>
              <a:t>	В класс  </a:t>
            </a:r>
            <a:r>
              <a:rPr lang="en-US" b="1" i="1" dirty="0" smtClean="0"/>
              <a:t>Form</a:t>
            </a:r>
            <a:r>
              <a:rPr lang="ru-RU" b="1" i="1" dirty="0" smtClean="0"/>
              <a:t>2</a:t>
            </a:r>
            <a:r>
              <a:rPr lang="ru-RU" dirty="0" smtClean="0"/>
              <a:t>  включим открытую переменную  </a:t>
            </a:r>
            <a:r>
              <a:rPr lang="en-US" b="1" i="1" dirty="0" err="1" smtClean="0"/>
              <a:t>str</a:t>
            </a:r>
            <a:r>
              <a:rPr lang="ru-RU" dirty="0" smtClean="0"/>
              <a:t>:</a:t>
            </a:r>
          </a:p>
          <a:p>
            <a:r>
              <a:rPr lang="ru-RU" dirty="0" smtClean="0"/>
              <a:t> </a:t>
            </a:r>
          </a:p>
          <a:p>
            <a:r>
              <a:rPr lang="ru-RU" dirty="0" smtClean="0"/>
              <a:t>    . . .</a:t>
            </a:r>
            <a:r>
              <a:rPr lang="en-US" dirty="0" smtClean="0"/>
              <a:t>   class Form</a:t>
            </a:r>
            <a:r>
              <a:rPr lang="ru-RU" dirty="0" smtClean="0"/>
              <a:t>2 : </a:t>
            </a:r>
            <a:r>
              <a:rPr lang="en-US" dirty="0" smtClean="0"/>
              <a:t>Form</a:t>
            </a:r>
            <a:endParaRPr lang="ru-RU" dirty="0" smtClean="0"/>
          </a:p>
          <a:p>
            <a:r>
              <a:rPr lang="ru-RU" dirty="0" smtClean="0"/>
              <a:t>    {</a:t>
            </a:r>
          </a:p>
          <a:p>
            <a:r>
              <a:rPr lang="ru-RU" dirty="0" smtClean="0"/>
              <a:t>        </a:t>
            </a:r>
            <a:r>
              <a:rPr lang="ru-RU" dirty="0" err="1" smtClean="0"/>
              <a:t>public</a:t>
            </a:r>
            <a:r>
              <a:rPr lang="ru-RU" dirty="0" smtClean="0"/>
              <a:t> </a:t>
            </a:r>
            <a:r>
              <a:rPr lang="ru-RU" dirty="0" err="1" smtClean="0"/>
              <a:t>string</a:t>
            </a:r>
            <a:r>
              <a:rPr lang="ru-RU" dirty="0" smtClean="0"/>
              <a:t> </a:t>
            </a:r>
            <a:r>
              <a:rPr lang="ru-RU" dirty="0" err="1" smtClean="0"/>
              <a:t>str</a:t>
            </a:r>
            <a:r>
              <a:rPr lang="ru-RU" dirty="0" smtClean="0"/>
              <a:t>;</a:t>
            </a:r>
          </a:p>
          <a:p>
            <a:r>
              <a:rPr lang="en-US" dirty="0" smtClean="0"/>
              <a:t>	</a:t>
            </a:r>
            <a:r>
              <a:rPr lang="ru-RU" dirty="0" smtClean="0"/>
              <a:t>   . . . </a:t>
            </a:r>
          </a:p>
          <a:p>
            <a:r>
              <a:rPr lang="en-US" dirty="0" smtClean="0"/>
              <a:t>	}</a:t>
            </a:r>
            <a:endParaRPr lang="ru-RU" dirty="0" smtClean="0"/>
          </a:p>
          <a:p>
            <a:r>
              <a:rPr lang="ru-RU" dirty="0" smtClean="0"/>
              <a:t>	  </a:t>
            </a:r>
          </a:p>
          <a:p>
            <a:r>
              <a:rPr lang="ru-RU" dirty="0" smtClean="0"/>
              <a:t>	Создадим обработчик нажатия кнопки   ‘</a:t>
            </a:r>
            <a:r>
              <a:rPr lang="ru-RU" i="1" dirty="0" smtClean="0"/>
              <a:t>Ввод</a:t>
            </a:r>
            <a:r>
              <a:rPr lang="ru-RU" dirty="0" smtClean="0"/>
              <a:t>’  формы  </a:t>
            </a:r>
            <a:r>
              <a:rPr lang="en-US" b="1" i="1" dirty="0" smtClean="0"/>
              <a:t>Form</a:t>
            </a:r>
            <a:r>
              <a:rPr lang="ru-RU" b="1" i="1" dirty="0" smtClean="0"/>
              <a:t>2</a:t>
            </a:r>
            <a:r>
              <a:rPr lang="ru-RU" dirty="0" smtClean="0"/>
              <a:t>:</a:t>
            </a:r>
          </a:p>
          <a:p>
            <a:r>
              <a:rPr lang="ru-RU" dirty="0" smtClean="0"/>
              <a:t> </a:t>
            </a:r>
          </a:p>
          <a:p>
            <a:r>
              <a:rPr lang="en-US" dirty="0" smtClean="0"/>
              <a:t>        private void button1_Click(object sender, </a:t>
            </a:r>
            <a:r>
              <a:rPr lang="en-US" dirty="0" err="1" smtClean="0"/>
              <a:t>EventArgs</a:t>
            </a:r>
            <a:r>
              <a:rPr lang="en-US" dirty="0" smtClean="0"/>
              <a:t> e)</a:t>
            </a:r>
            <a:endParaRPr lang="ru-RU" dirty="0" smtClean="0"/>
          </a:p>
          <a:p>
            <a:r>
              <a:rPr lang="en-US" dirty="0" smtClean="0"/>
              <a:t>        </a:t>
            </a:r>
            <a:r>
              <a:rPr lang="ru-RU" dirty="0" smtClean="0"/>
              <a:t>{</a:t>
            </a:r>
          </a:p>
          <a:p>
            <a:r>
              <a:rPr lang="ru-RU" dirty="0" smtClean="0"/>
              <a:t>            </a:t>
            </a:r>
            <a:r>
              <a:rPr lang="ru-RU" dirty="0" err="1" smtClean="0"/>
              <a:t>str</a:t>
            </a:r>
            <a:r>
              <a:rPr lang="ru-RU" dirty="0" smtClean="0"/>
              <a:t> = textBox1.Text;</a:t>
            </a:r>
          </a:p>
          <a:p>
            <a:r>
              <a:rPr lang="ru-RU" dirty="0" smtClean="0"/>
              <a:t>        }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 smtClean="0"/>
              <a:t>О первой форме</a:t>
            </a:r>
            <a:endParaRPr lang="ru-RU" sz="32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	</a:t>
            </a:r>
            <a:r>
              <a:rPr lang="ru-RU" dirty="0" smtClean="0"/>
              <a:t>Вторую форму будем вызывать из пункта меню ‘</a:t>
            </a:r>
            <a:r>
              <a:rPr lang="ru-RU" i="1" dirty="0" smtClean="0"/>
              <a:t>Вызов диалогового окна</a:t>
            </a:r>
            <a:r>
              <a:rPr lang="ru-RU" dirty="0" smtClean="0"/>
              <a:t>’ подменю  ‘</a:t>
            </a:r>
            <a:r>
              <a:rPr lang="ru-RU" i="1" dirty="0" smtClean="0"/>
              <a:t>Работа</a:t>
            </a:r>
            <a:r>
              <a:rPr lang="ru-RU" dirty="0" smtClean="0"/>
              <a:t>’  главного меню первой формы. </a:t>
            </a:r>
          </a:p>
          <a:p>
            <a:r>
              <a:rPr lang="ru-RU" dirty="0" smtClean="0"/>
              <a:t> 	В первую форму поместим также элемент  </a:t>
            </a:r>
            <a:r>
              <a:rPr lang="en-US" b="1" i="1" dirty="0" err="1" smtClean="0"/>
              <a:t>textBox</a:t>
            </a:r>
            <a:r>
              <a:rPr lang="ru-RU" b="1" i="1" dirty="0" smtClean="0"/>
              <a:t>1</a:t>
            </a:r>
            <a:r>
              <a:rPr lang="ru-RU" dirty="0" smtClean="0"/>
              <a:t>  для перенесения в него текста из второй формы. </a:t>
            </a:r>
          </a:p>
          <a:p>
            <a:r>
              <a:rPr lang="ru-RU" dirty="0" smtClean="0"/>
              <a:t> 	Тогда первая форма будет иметь вид :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 smtClean="0"/>
              <a:t>Первая форма</a:t>
            </a:r>
            <a:endParaRPr lang="ru-RU" sz="3200" dirty="0"/>
          </a:p>
        </p:txBody>
      </p:sp>
      <p:pic>
        <p:nvPicPr>
          <p:cNvPr id="4" name="Содержимое 3" descr="Рис_6_2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467544" y="1844824"/>
            <a:ext cx="8280920" cy="4464496"/>
          </a:xfr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txBody>
          <a:bodyPr>
            <a:normAutofit/>
          </a:bodyPr>
          <a:lstStyle/>
          <a:p>
            <a:r>
              <a:rPr lang="ru-RU" sz="2400" dirty="0" smtClean="0"/>
              <a:t>Обработчик</a:t>
            </a:r>
            <a:endParaRPr lang="ru-RU" sz="24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400600"/>
          </a:xfrm>
        </p:spPr>
        <p:txBody>
          <a:bodyPr>
            <a:normAutofit fontScale="70000" lnSpcReduction="20000"/>
          </a:bodyPr>
          <a:lstStyle/>
          <a:p>
            <a:r>
              <a:rPr lang="ru-RU" dirty="0" smtClean="0"/>
              <a:t>	</a:t>
            </a:r>
          </a:p>
          <a:p>
            <a:r>
              <a:rPr lang="ru-RU" dirty="0" smtClean="0"/>
              <a:t> </a:t>
            </a:r>
          </a:p>
          <a:p>
            <a:r>
              <a:rPr lang="en-US" dirty="0" smtClean="0"/>
              <a:t>private void </a:t>
            </a:r>
            <a:r>
              <a:rPr lang="ru-RU" dirty="0" err="1" smtClean="0"/>
              <a:t>вызовВторойФормы</a:t>
            </a:r>
            <a:r>
              <a:rPr lang="en-US" dirty="0" err="1" smtClean="0"/>
              <a:t>ToolStripMenuItem_Click</a:t>
            </a:r>
            <a:r>
              <a:rPr lang="en-US" dirty="0" smtClean="0"/>
              <a:t>(object sender, </a:t>
            </a:r>
            <a:endParaRPr lang="ru-RU" dirty="0" smtClean="0"/>
          </a:p>
          <a:p>
            <a:r>
              <a:rPr lang="en-US" dirty="0" smtClean="0"/>
              <a:t>                                    </a:t>
            </a:r>
            <a:r>
              <a:rPr lang="en-US" dirty="0" err="1" smtClean="0"/>
              <a:t>EventArgs</a:t>
            </a:r>
            <a:r>
              <a:rPr lang="en-US" dirty="0" smtClean="0"/>
              <a:t> e)</a:t>
            </a:r>
            <a:endParaRPr lang="ru-RU" dirty="0" smtClean="0"/>
          </a:p>
          <a:p>
            <a:r>
              <a:rPr lang="en-US" dirty="0" smtClean="0"/>
              <a:t>{</a:t>
            </a:r>
            <a:endParaRPr lang="ru-RU" dirty="0" smtClean="0"/>
          </a:p>
          <a:p>
            <a:r>
              <a:rPr lang="en-US" dirty="0" smtClean="0"/>
              <a:t>    Form2 f = new Form2();</a:t>
            </a:r>
            <a:endParaRPr lang="ru-RU" dirty="0" smtClean="0"/>
          </a:p>
          <a:p>
            <a:r>
              <a:rPr lang="en-US" dirty="0" smtClean="0"/>
              <a:t>    </a:t>
            </a:r>
            <a:r>
              <a:rPr lang="en-US" dirty="0" err="1" smtClean="0"/>
              <a:t>f.ShowDialog</a:t>
            </a:r>
            <a:r>
              <a:rPr lang="en-US" dirty="0" smtClean="0"/>
              <a:t>();</a:t>
            </a:r>
            <a:endParaRPr lang="ru-RU" dirty="0" smtClean="0"/>
          </a:p>
          <a:p>
            <a:r>
              <a:rPr lang="en-US" dirty="0" smtClean="0"/>
              <a:t>    if (</a:t>
            </a:r>
            <a:r>
              <a:rPr lang="en-US" dirty="0" err="1" smtClean="0"/>
              <a:t>f.DialogResult</a:t>
            </a:r>
            <a:r>
              <a:rPr lang="en-US" dirty="0" smtClean="0"/>
              <a:t> == </a:t>
            </a:r>
            <a:r>
              <a:rPr lang="en-US" dirty="0" err="1" smtClean="0"/>
              <a:t>DialogResult.OK</a:t>
            </a:r>
            <a:r>
              <a:rPr lang="en-US" dirty="0" smtClean="0"/>
              <a:t>)</a:t>
            </a:r>
            <a:endParaRPr lang="ru-RU" dirty="0" smtClean="0"/>
          </a:p>
          <a:p>
            <a:r>
              <a:rPr lang="en-US" dirty="0" smtClean="0"/>
              <a:t>    {</a:t>
            </a:r>
            <a:endParaRPr lang="ru-RU" dirty="0" smtClean="0"/>
          </a:p>
          <a:p>
            <a:r>
              <a:rPr lang="en-US" dirty="0" smtClean="0"/>
              <a:t>       textBox1.Text = f.str;</a:t>
            </a:r>
            <a:endParaRPr lang="ru-RU" dirty="0" smtClean="0"/>
          </a:p>
          <a:p>
            <a:r>
              <a:rPr lang="en-US" dirty="0" smtClean="0"/>
              <a:t>     }</a:t>
            </a:r>
            <a:endParaRPr lang="ru-RU" dirty="0" smtClean="0"/>
          </a:p>
          <a:p>
            <a:r>
              <a:rPr lang="en-US" dirty="0" smtClean="0"/>
              <a:t>    else</a:t>
            </a:r>
            <a:endParaRPr lang="ru-RU" dirty="0" smtClean="0"/>
          </a:p>
          <a:p>
            <a:r>
              <a:rPr lang="en-US" dirty="0" smtClean="0"/>
              <a:t>       textBox1.Text = "";</a:t>
            </a:r>
            <a:endParaRPr lang="ru-RU" dirty="0" smtClean="0"/>
          </a:p>
          <a:p>
            <a:r>
              <a:rPr lang="en-US" dirty="0" smtClean="0"/>
              <a:t> </a:t>
            </a:r>
            <a:r>
              <a:rPr lang="ru-RU" dirty="0" smtClean="0"/>
              <a:t>}</a:t>
            </a:r>
          </a:p>
          <a:p>
            <a:r>
              <a:rPr lang="ru-RU" dirty="0" smtClean="0"/>
              <a:t> 	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dirty="0" smtClean="0"/>
              <a:t>Модальная и не модальная форма</a:t>
            </a:r>
            <a:endParaRPr lang="ru-RU" sz="28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700808"/>
            <a:ext cx="8229600" cy="4032448"/>
          </a:xfrm>
        </p:spPr>
        <p:txBody>
          <a:bodyPr>
            <a:normAutofit fontScale="70000" lnSpcReduction="20000"/>
          </a:bodyPr>
          <a:lstStyle/>
          <a:p>
            <a:r>
              <a:rPr lang="ru-RU" dirty="0" smtClean="0"/>
              <a:t>	При использовании метода </a:t>
            </a:r>
            <a:r>
              <a:rPr lang="en-US" b="1" i="1" dirty="0" err="1" smtClean="0"/>
              <a:t>ShowDialog</a:t>
            </a:r>
            <a:r>
              <a:rPr lang="ru-RU" b="1" i="1" dirty="0" smtClean="0"/>
              <a:t>()</a:t>
            </a:r>
            <a:r>
              <a:rPr lang="ru-RU" dirty="0" smtClean="0"/>
              <a:t>  вторая форма вызывается как модальная форма. Это означает, что нельзя переключиться ни на одно другое окно того же приложения, пока не будет закрыта модальная форма. </a:t>
            </a:r>
          </a:p>
          <a:p>
            <a:r>
              <a:rPr lang="ru-RU" dirty="0" smtClean="0"/>
              <a:t>	Если использовать метод  </a:t>
            </a:r>
            <a:r>
              <a:rPr lang="en-US" b="1" i="1" dirty="0" smtClean="0"/>
              <a:t>Show</a:t>
            </a:r>
            <a:r>
              <a:rPr lang="ru-RU" b="1" i="1" dirty="0" smtClean="0"/>
              <a:t> ()</a:t>
            </a:r>
            <a:r>
              <a:rPr lang="ru-RU" dirty="0" smtClean="0"/>
              <a:t>  для вызова второй формы, то эта форма будет вызываться как немодальная. Это означает, что можно переключаться на другие окна того же приложения не закрывая этой немодальной формы.</a:t>
            </a:r>
          </a:p>
          <a:p>
            <a:r>
              <a:rPr lang="ru-RU" dirty="0" smtClean="0"/>
              <a:t>	Например, на языке  </a:t>
            </a:r>
            <a:r>
              <a:rPr lang="en-US" b="1" i="1" dirty="0" smtClean="0"/>
              <a:t>C</a:t>
            </a:r>
            <a:r>
              <a:rPr lang="ru-RU" b="1" i="1" dirty="0" smtClean="0"/>
              <a:t>#</a:t>
            </a:r>
            <a:r>
              <a:rPr lang="ru-RU" dirty="0" smtClean="0"/>
              <a:t>  вызов немодальной формы имеет следующий вид:</a:t>
            </a:r>
          </a:p>
          <a:p>
            <a:r>
              <a:rPr lang="ru-RU" dirty="0" smtClean="0"/>
              <a:t> </a:t>
            </a:r>
          </a:p>
          <a:p>
            <a:r>
              <a:rPr lang="ru-RU" dirty="0" smtClean="0"/>
              <a:t>            </a:t>
            </a:r>
            <a:r>
              <a:rPr lang="en-US" dirty="0" smtClean="0"/>
              <a:t>Form2 f = new Form2();</a:t>
            </a:r>
            <a:endParaRPr lang="ru-RU" dirty="0" smtClean="0"/>
          </a:p>
          <a:p>
            <a:r>
              <a:rPr lang="en-US" dirty="0" smtClean="0"/>
              <a:t>            </a:t>
            </a:r>
            <a:r>
              <a:rPr lang="en-US" dirty="0" err="1" smtClean="0"/>
              <a:t>f.Show</a:t>
            </a:r>
            <a:r>
              <a:rPr lang="en-US" dirty="0" smtClean="0"/>
              <a:t>();</a:t>
            </a:r>
            <a:endParaRPr lang="ru-RU" dirty="0" smtClean="0"/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839</TotalTime>
  <Words>188</Words>
  <Application>Microsoft Office PowerPoint</Application>
  <PresentationFormat>Экран (4:3)</PresentationFormat>
  <Paragraphs>277</Paragraphs>
  <Slides>26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26</vt:i4>
      </vt:variant>
    </vt:vector>
  </HeadingPairs>
  <TitlesOfParts>
    <vt:vector size="27" baseType="lpstr">
      <vt:lpstr>Тема Office</vt:lpstr>
      <vt:lpstr>Лекция 4</vt:lpstr>
      <vt:lpstr>5.3. Использование графики </vt:lpstr>
      <vt:lpstr>Графика (продолжение)</vt:lpstr>
      <vt:lpstr>Цвет</vt:lpstr>
      <vt:lpstr>Цвет (продолжение)</vt:lpstr>
      <vt:lpstr>Перо</vt:lpstr>
      <vt:lpstr>Перо (продолжение)</vt:lpstr>
      <vt:lpstr>Рисование прямой</vt:lpstr>
      <vt:lpstr>Прямоугольник и эллипс</vt:lpstr>
      <vt:lpstr>Закрашенные фигуры</vt:lpstr>
      <vt:lpstr>Пример</vt:lpstr>
      <vt:lpstr>Кисти для штриховки</vt:lpstr>
      <vt:lpstr>Пример</vt:lpstr>
      <vt:lpstr>Пример (продолжение)</vt:lpstr>
      <vt:lpstr>Пример рисования</vt:lpstr>
      <vt:lpstr>Обработчик</vt:lpstr>
      <vt:lpstr>Комментарий</vt:lpstr>
      <vt:lpstr> 6. РАБОТА С НЕСКОЛЬКИМИ ФОРМАМИ   6.1. Создание новой формы </vt:lpstr>
      <vt:lpstr>Создание второй формы</vt:lpstr>
      <vt:lpstr> 6.2. Пример с двумя формами </vt:lpstr>
      <vt:lpstr>Вторая форма</vt:lpstr>
      <vt:lpstr>Обработчик для кнопки на второй форме</vt:lpstr>
      <vt:lpstr>О первой форме</vt:lpstr>
      <vt:lpstr>Первая форма</vt:lpstr>
      <vt:lpstr>Обработчик</vt:lpstr>
      <vt:lpstr>Модальная и не модальная форма</vt:lpstr>
    </vt:vector>
  </TitlesOfParts>
  <Company>Кафедра ММ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Князев А.В.</dc:creator>
  <cp:lastModifiedBy>Князев А.В.</cp:lastModifiedBy>
  <cp:revision>89</cp:revision>
  <dcterms:created xsi:type="dcterms:W3CDTF">2020-09-12T08:31:53Z</dcterms:created>
  <dcterms:modified xsi:type="dcterms:W3CDTF">2020-09-18T06:31:44Z</dcterms:modified>
</cp:coreProperties>
</file>