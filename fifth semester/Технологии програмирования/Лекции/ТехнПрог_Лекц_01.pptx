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DCAB3-2504-45A9-A7F3-2FD7ACB328EB}" type="datetimeFigureOut">
              <a:rPr lang="ru-RU" smtClean="0"/>
              <a:t>30.08.2020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5E0F6-FD1D-4155-BFF3-66C528A3046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20689"/>
            <a:ext cx="7772400" cy="1728191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Раздел 1. Разработка программ на языке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#  на основе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Windows Forms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  </a:t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Простые элементы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Windows Forms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1.1. Создание приложения</a:t>
            </a:r>
            <a:r>
              <a:rPr lang="ru-RU" sz="18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1" i="1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636912"/>
            <a:ext cx="7992888" cy="3816424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ru-RU" sz="1400" dirty="0"/>
              <a:t>	</a:t>
            </a:r>
            <a:r>
              <a:rPr lang="ru-RU" sz="2000" dirty="0">
                <a:latin typeface="+mj-lt"/>
                <a:cs typeface="Times New Roman" pitchFamily="18" charset="0"/>
              </a:rPr>
              <a:t>Для создания приложения на языке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C</a:t>
            </a:r>
            <a:r>
              <a:rPr lang="ru-RU" sz="2000" b="1" i="1" dirty="0">
                <a:latin typeface="+mj-lt"/>
                <a:cs typeface="Times New Roman" pitchFamily="18" charset="0"/>
              </a:rPr>
              <a:t>#</a:t>
            </a:r>
            <a:r>
              <a:rPr lang="ru-RU" sz="2000" dirty="0">
                <a:latin typeface="+mj-lt"/>
                <a:cs typeface="Times New Roman" pitchFamily="18" charset="0"/>
              </a:rPr>
              <a:t>  выбираем пункт меню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File</a:t>
            </a:r>
            <a:r>
              <a:rPr lang="ru-RU" sz="2000" b="1" i="1" dirty="0">
                <a:latin typeface="+mj-lt"/>
                <a:cs typeface="Times New Roman" pitchFamily="18" charset="0"/>
              </a:rPr>
              <a:t> =&gt; </a:t>
            </a:r>
            <a:r>
              <a:rPr lang="en-US" sz="2000" b="1" i="1" dirty="0">
                <a:latin typeface="+mj-lt"/>
                <a:cs typeface="Times New Roman" pitchFamily="18" charset="0"/>
              </a:rPr>
              <a:t>New</a:t>
            </a:r>
            <a:r>
              <a:rPr lang="ru-RU" sz="2000" b="1" i="1" dirty="0">
                <a:latin typeface="+mj-lt"/>
                <a:cs typeface="Times New Roman" pitchFamily="18" charset="0"/>
              </a:rPr>
              <a:t> =&gt; </a:t>
            </a:r>
            <a:r>
              <a:rPr lang="en-US" sz="2000" b="1" i="1" dirty="0">
                <a:latin typeface="+mj-lt"/>
                <a:cs typeface="Times New Roman" pitchFamily="18" charset="0"/>
              </a:rPr>
              <a:t>Project</a:t>
            </a:r>
            <a:r>
              <a:rPr lang="ru-RU" sz="2000" dirty="0">
                <a:latin typeface="+mj-lt"/>
                <a:cs typeface="Times New Roman" pitchFamily="18" charset="0"/>
              </a:rPr>
              <a:t>  – появляется окно с несколькими вкладками. </a:t>
            </a:r>
            <a:endParaRPr lang="ru-RU" sz="2000" dirty="0" smtClean="0">
              <a:latin typeface="+mj-lt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2000" dirty="0">
                <a:latin typeface="+mj-lt"/>
                <a:cs typeface="Times New Roman" pitchFamily="18" charset="0"/>
              </a:rPr>
              <a:t> </a:t>
            </a:r>
            <a:r>
              <a:rPr lang="ru-RU" sz="2000" dirty="0" smtClean="0">
                <a:latin typeface="+mj-lt"/>
                <a:cs typeface="Times New Roman" pitchFamily="18" charset="0"/>
              </a:rPr>
              <a:t> 	На </a:t>
            </a:r>
            <a:r>
              <a:rPr lang="ru-RU" sz="2000" dirty="0">
                <a:latin typeface="+mj-lt"/>
                <a:cs typeface="Times New Roman" pitchFamily="18" charset="0"/>
              </a:rPr>
              <a:t>левой вкладке (</a:t>
            </a:r>
            <a:r>
              <a:rPr lang="en-US" sz="2000" b="1" i="1" dirty="0">
                <a:latin typeface="+mj-lt"/>
                <a:cs typeface="Times New Roman" pitchFamily="18" charset="0"/>
              </a:rPr>
              <a:t>Project types</a:t>
            </a:r>
            <a:r>
              <a:rPr lang="ru-RU" sz="2000" b="1" i="1" dirty="0">
                <a:latin typeface="+mj-lt"/>
                <a:cs typeface="Times New Roman" pitchFamily="18" charset="0"/>
              </a:rPr>
              <a:t>)</a:t>
            </a:r>
            <a:r>
              <a:rPr lang="ru-RU" sz="2000" dirty="0">
                <a:latin typeface="+mj-lt"/>
                <a:cs typeface="Times New Roman" pitchFamily="18" charset="0"/>
              </a:rPr>
              <a:t> выбираем тип проекта: </a:t>
            </a:r>
            <a:r>
              <a:rPr lang="en-US" sz="2000" b="1" i="1" dirty="0">
                <a:latin typeface="+mj-lt"/>
                <a:cs typeface="Times New Roman" pitchFamily="18" charset="0"/>
              </a:rPr>
              <a:t>Visual C</a:t>
            </a:r>
            <a:r>
              <a:rPr lang="ru-RU" sz="2000" b="1" i="1" dirty="0">
                <a:latin typeface="+mj-lt"/>
                <a:cs typeface="Times New Roman" pitchFamily="18" charset="0"/>
              </a:rPr>
              <a:t>#</a:t>
            </a:r>
            <a:r>
              <a:rPr lang="ru-RU" sz="2000" dirty="0">
                <a:latin typeface="+mj-lt"/>
                <a:cs typeface="Times New Roman" pitchFamily="18" charset="0"/>
              </a:rPr>
              <a:t>  и</a:t>
            </a:r>
            <a:r>
              <a:rPr lang="ru-RU" sz="2000" b="1" i="1" dirty="0">
                <a:latin typeface="+mj-lt"/>
                <a:cs typeface="Times New Roman" pitchFamily="18" charset="0"/>
              </a:rPr>
              <a:t>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Windows</a:t>
            </a:r>
            <a:r>
              <a:rPr lang="ru-RU" sz="2000" dirty="0" smtClean="0">
                <a:latin typeface="+mj-lt"/>
                <a:cs typeface="Times New Roman" pitchFamily="18" charset="0"/>
              </a:rPr>
              <a:t>.</a:t>
            </a:r>
          </a:p>
          <a:p>
            <a:pPr algn="l">
              <a:buFont typeface="Arial" pitchFamily="34" charset="0"/>
              <a:buChar char="•"/>
            </a:pPr>
            <a:r>
              <a:rPr lang="ru-RU" sz="2000" dirty="0">
                <a:latin typeface="+mj-lt"/>
                <a:cs typeface="Times New Roman" pitchFamily="18" charset="0"/>
              </a:rPr>
              <a:t> </a:t>
            </a:r>
            <a:r>
              <a:rPr lang="ru-RU" sz="2000" dirty="0" smtClean="0">
                <a:latin typeface="+mj-lt"/>
                <a:cs typeface="Times New Roman" pitchFamily="18" charset="0"/>
              </a:rPr>
              <a:t>	На </a:t>
            </a:r>
            <a:r>
              <a:rPr lang="ru-RU" sz="2000" dirty="0">
                <a:latin typeface="+mj-lt"/>
                <a:cs typeface="Times New Roman" pitchFamily="18" charset="0"/>
              </a:rPr>
              <a:t>правой вкладке </a:t>
            </a:r>
            <a:r>
              <a:rPr lang="en-US" sz="2000" b="1" i="1" dirty="0">
                <a:latin typeface="+mj-lt"/>
                <a:cs typeface="Times New Roman" pitchFamily="18" charset="0"/>
              </a:rPr>
              <a:t> (Templates)</a:t>
            </a:r>
            <a:r>
              <a:rPr lang="en-US" sz="2000" dirty="0">
                <a:latin typeface="+mj-lt"/>
                <a:cs typeface="Times New Roman" pitchFamily="18" charset="0"/>
              </a:rPr>
              <a:t>  </a:t>
            </a:r>
            <a:r>
              <a:rPr lang="ru-RU" sz="2000" dirty="0">
                <a:latin typeface="+mj-lt"/>
                <a:cs typeface="Times New Roman" pitchFamily="18" charset="0"/>
              </a:rPr>
              <a:t>выбираем тип шаблона</a:t>
            </a:r>
            <a:r>
              <a:rPr lang="en-US" sz="2000" dirty="0">
                <a:latin typeface="+mj-lt"/>
                <a:cs typeface="Times New Roman" pitchFamily="18" charset="0"/>
              </a:rPr>
              <a:t>: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Windows Forms Application</a:t>
            </a:r>
            <a:r>
              <a:rPr lang="en-US" sz="2000" dirty="0">
                <a:latin typeface="+mj-lt"/>
                <a:cs typeface="Times New Roman" pitchFamily="18" charset="0"/>
              </a:rPr>
              <a:t>. </a:t>
            </a:r>
            <a:endParaRPr lang="ru-RU" sz="2000" dirty="0" smtClean="0">
              <a:latin typeface="+mj-lt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2000" dirty="0">
                <a:latin typeface="+mj-lt"/>
                <a:cs typeface="Times New Roman" pitchFamily="18" charset="0"/>
              </a:rPr>
              <a:t> </a:t>
            </a:r>
            <a:r>
              <a:rPr lang="ru-RU" sz="2000" dirty="0" smtClean="0">
                <a:latin typeface="+mj-lt"/>
                <a:cs typeface="Times New Roman" pitchFamily="18" charset="0"/>
              </a:rPr>
              <a:t> 	В </a:t>
            </a:r>
            <a:r>
              <a:rPr lang="ru-RU" sz="2000" dirty="0">
                <a:latin typeface="+mj-lt"/>
                <a:cs typeface="Times New Roman" pitchFamily="18" charset="0"/>
              </a:rPr>
              <a:t>нижней части окна находится несколько полей для ввода: в поле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Name</a:t>
            </a:r>
            <a:r>
              <a:rPr lang="ru-RU" sz="2000" dirty="0">
                <a:latin typeface="+mj-lt"/>
                <a:cs typeface="Times New Roman" pitchFamily="18" charset="0"/>
              </a:rPr>
              <a:t>  указываем имя нашего проекта, в поле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Location</a:t>
            </a:r>
            <a:r>
              <a:rPr lang="ru-RU" sz="2000" dirty="0">
                <a:latin typeface="+mj-lt"/>
                <a:cs typeface="Times New Roman" pitchFamily="18" charset="0"/>
              </a:rPr>
              <a:t>  задаём расположение проекта, используя при необходимости кнопку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Browse</a:t>
            </a:r>
            <a:r>
              <a:rPr lang="ru-RU" sz="2000" dirty="0">
                <a:latin typeface="+mj-lt"/>
                <a:cs typeface="Times New Roman" pitchFamily="18" charset="0"/>
              </a:rPr>
              <a:t>.  Затем нажимаем кнопку  </a:t>
            </a:r>
            <a:r>
              <a:rPr lang="en-US" sz="2000" b="1" i="1" dirty="0">
                <a:latin typeface="+mj-lt"/>
                <a:cs typeface="Times New Roman" pitchFamily="18" charset="0"/>
              </a:rPr>
              <a:t>OK</a:t>
            </a:r>
            <a:r>
              <a:rPr lang="ru-RU" sz="2000" dirty="0">
                <a:latin typeface="+mj-lt"/>
                <a:cs typeface="Times New Roman" pitchFamily="18" charset="0"/>
              </a:rPr>
              <a:t>.</a:t>
            </a:r>
          </a:p>
          <a:p>
            <a:pPr algn="l"/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Создание приложения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Рис_1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268760"/>
            <a:ext cx="7848872" cy="511256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1600" dirty="0" smtClean="0"/>
              <a:t>	</a:t>
            </a:r>
            <a:r>
              <a:rPr lang="ru-RU" sz="2000" dirty="0" smtClean="0"/>
              <a:t>При </a:t>
            </a:r>
            <a:r>
              <a:rPr lang="ru-RU" sz="2000" dirty="0"/>
              <a:t>этом создаётся несколько файлов. На вкладке  </a:t>
            </a:r>
            <a:r>
              <a:rPr lang="en-US" sz="2000" b="1" i="1" dirty="0"/>
              <a:t>Form</a:t>
            </a:r>
            <a:r>
              <a:rPr lang="ru-RU" sz="2000" b="1" i="1" dirty="0"/>
              <a:t>1.</a:t>
            </a:r>
            <a:r>
              <a:rPr lang="en-US" sz="2000" b="1" i="1" dirty="0" err="1"/>
              <a:t>cs</a:t>
            </a:r>
            <a:r>
              <a:rPr lang="ru-RU" sz="2000" dirty="0"/>
              <a:t>  находится код файла  </a:t>
            </a:r>
            <a:r>
              <a:rPr lang="en-US" sz="2000" b="1" i="1" dirty="0"/>
              <a:t>Form</a:t>
            </a:r>
            <a:r>
              <a:rPr lang="ru-RU" sz="2000" b="1" i="1" dirty="0"/>
              <a:t>1.</a:t>
            </a:r>
            <a:r>
              <a:rPr lang="en-US" sz="2000" b="1" i="1" dirty="0" err="1"/>
              <a:t>cs</a:t>
            </a:r>
            <a:r>
              <a:rPr lang="ru-RU" sz="2000" dirty="0"/>
              <a:t>.  На вкладке  </a:t>
            </a:r>
            <a:r>
              <a:rPr lang="en-US" sz="2000" b="1" i="1" dirty="0"/>
              <a:t>Form</a:t>
            </a:r>
            <a:r>
              <a:rPr lang="ru-RU" sz="2000" b="1" i="1" dirty="0"/>
              <a:t>1.</a:t>
            </a:r>
            <a:r>
              <a:rPr lang="en-US" sz="2000" b="1" i="1" dirty="0" err="1"/>
              <a:t>cs</a:t>
            </a:r>
            <a:r>
              <a:rPr lang="ru-RU" sz="2000" b="1" i="1" dirty="0"/>
              <a:t> [</a:t>
            </a:r>
            <a:r>
              <a:rPr lang="en-US" sz="2000" b="1" i="1" dirty="0"/>
              <a:t>Design</a:t>
            </a:r>
            <a:r>
              <a:rPr lang="ru-RU" sz="2000" b="1" i="1" dirty="0"/>
              <a:t>]</a:t>
            </a:r>
            <a:r>
              <a:rPr lang="ru-RU" sz="2000" dirty="0"/>
              <a:t>  находится сама форма  </a:t>
            </a:r>
            <a:r>
              <a:rPr lang="en-US" sz="2000" b="1" i="1" dirty="0"/>
              <a:t>Form</a:t>
            </a:r>
            <a:r>
              <a:rPr lang="ru-RU" sz="2000" b="1" i="1" dirty="0"/>
              <a:t>1</a:t>
            </a:r>
            <a:r>
              <a:rPr lang="ru-RU" sz="2000" dirty="0"/>
              <a:t>.  Файл  </a:t>
            </a:r>
            <a:r>
              <a:rPr lang="en-US" sz="2000" b="1" i="1" dirty="0"/>
              <a:t>Program</a:t>
            </a:r>
            <a:r>
              <a:rPr lang="ru-RU" sz="2000" b="1" i="1" dirty="0"/>
              <a:t>.</a:t>
            </a:r>
            <a:r>
              <a:rPr lang="en-US" sz="2000" b="1" i="1" dirty="0" err="1"/>
              <a:t>cs</a:t>
            </a:r>
            <a:r>
              <a:rPr lang="ru-RU" sz="2000" dirty="0"/>
              <a:t>  выглядит следующим образом:</a:t>
            </a:r>
            <a:br>
              <a:rPr lang="ru-RU" sz="2000" dirty="0"/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using System</a:t>
            </a:r>
            <a:r>
              <a:rPr lang="ru-RU" sz="1800" dirty="0"/>
              <a:t>;</a:t>
            </a:r>
          </a:p>
          <a:p>
            <a:r>
              <a:rPr lang="en-US" sz="1800" dirty="0"/>
              <a:t>using System</a:t>
            </a:r>
            <a:r>
              <a:rPr lang="ru-RU" sz="1800" dirty="0"/>
              <a:t>.</a:t>
            </a:r>
            <a:r>
              <a:rPr lang="en-US" sz="1800" dirty="0"/>
              <a:t>Collections</a:t>
            </a:r>
            <a:r>
              <a:rPr lang="ru-RU" sz="1800" dirty="0"/>
              <a:t>.</a:t>
            </a:r>
            <a:r>
              <a:rPr lang="en-US" sz="1800" dirty="0"/>
              <a:t>Generic</a:t>
            </a:r>
            <a:r>
              <a:rPr lang="ru-RU" sz="1800" dirty="0"/>
              <a:t>;</a:t>
            </a:r>
          </a:p>
          <a:p>
            <a:r>
              <a:rPr lang="en-US" sz="1800" dirty="0"/>
              <a:t>using System</a:t>
            </a:r>
            <a:r>
              <a:rPr lang="ru-RU" sz="1800" dirty="0"/>
              <a:t>.</a:t>
            </a:r>
            <a:r>
              <a:rPr lang="en-US" sz="1800" dirty="0" err="1"/>
              <a:t>Linq</a:t>
            </a:r>
            <a:r>
              <a:rPr lang="ru-RU" sz="1800" dirty="0"/>
              <a:t>;</a:t>
            </a:r>
          </a:p>
          <a:p>
            <a:r>
              <a:rPr lang="en-US" sz="1800" dirty="0"/>
              <a:t>using System</a:t>
            </a:r>
            <a:r>
              <a:rPr lang="ru-RU" sz="1800" dirty="0"/>
              <a:t>.</a:t>
            </a:r>
            <a:r>
              <a:rPr lang="en-US" sz="1800" dirty="0"/>
              <a:t>Windows</a:t>
            </a:r>
            <a:r>
              <a:rPr lang="ru-RU" sz="1800" dirty="0"/>
              <a:t>.</a:t>
            </a:r>
            <a:r>
              <a:rPr lang="en-US" sz="1800" dirty="0"/>
              <a:t>Forms</a:t>
            </a:r>
            <a:r>
              <a:rPr lang="ru-RU" sz="1800" dirty="0"/>
              <a:t>;</a:t>
            </a:r>
          </a:p>
          <a:p>
            <a:r>
              <a:rPr lang="ru-RU" sz="1800" dirty="0"/>
              <a:t> </a:t>
            </a:r>
          </a:p>
          <a:p>
            <a:r>
              <a:rPr lang="en-US" sz="1800" dirty="0"/>
              <a:t>namespace First</a:t>
            </a:r>
            <a:endParaRPr lang="ru-RU" sz="1800" dirty="0"/>
          </a:p>
          <a:p>
            <a:r>
              <a:rPr lang="ru-RU" sz="1800" dirty="0"/>
              <a:t>{</a:t>
            </a:r>
          </a:p>
          <a:p>
            <a:r>
              <a:rPr lang="ru-RU" sz="1800" dirty="0"/>
              <a:t>    </a:t>
            </a:r>
            <a:r>
              <a:rPr lang="en-US" sz="1800" dirty="0"/>
              <a:t>static class Program</a:t>
            </a:r>
            <a:endParaRPr lang="ru-RU" sz="1800" dirty="0"/>
          </a:p>
          <a:p>
            <a:r>
              <a:rPr lang="en-US" sz="1800" dirty="0"/>
              <a:t>    {</a:t>
            </a:r>
            <a:endParaRPr lang="ru-RU" sz="1800" dirty="0"/>
          </a:p>
          <a:p>
            <a:r>
              <a:rPr lang="en-US" sz="1800" dirty="0" smtClean="0"/>
              <a:t>     static </a:t>
            </a:r>
            <a:r>
              <a:rPr lang="en-US" sz="1800" dirty="0"/>
              <a:t>void Main()</a:t>
            </a:r>
            <a:endParaRPr lang="ru-RU" sz="1800" dirty="0"/>
          </a:p>
          <a:p>
            <a:r>
              <a:rPr lang="en-US" sz="1800" dirty="0"/>
              <a:t>        {</a:t>
            </a:r>
            <a:endParaRPr lang="ru-RU" sz="1800" dirty="0"/>
          </a:p>
          <a:p>
            <a:r>
              <a:rPr lang="en-US" sz="1800" dirty="0"/>
              <a:t>            </a:t>
            </a:r>
            <a:r>
              <a:rPr lang="en-US" sz="1800" dirty="0" err="1"/>
              <a:t>Application.EnableVisualStyles</a:t>
            </a:r>
            <a:r>
              <a:rPr lang="en-US" sz="1800" dirty="0"/>
              <a:t>();</a:t>
            </a:r>
            <a:endParaRPr lang="ru-RU" sz="1800" dirty="0"/>
          </a:p>
          <a:p>
            <a:r>
              <a:rPr lang="en-US" sz="1800" dirty="0"/>
              <a:t>            </a:t>
            </a:r>
            <a:r>
              <a:rPr lang="en-US" sz="1800" dirty="0" err="1"/>
              <a:t>Application.SetCompatibleTextRenderingDefault</a:t>
            </a:r>
            <a:r>
              <a:rPr lang="en-US" sz="1800" dirty="0"/>
              <a:t>(false);</a:t>
            </a:r>
            <a:endParaRPr lang="ru-RU" sz="1800" dirty="0"/>
          </a:p>
          <a:p>
            <a:r>
              <a:rPr lang="en-US" sz="1800" dirty="0"/>
              <a:t>            </a:t>
            </a:r>
            <a:r>
              <a:rPr lang="ru-RU" sz="1800" dirty="0" err="1"/>
              <a:t>Application.Run</a:t>
            </a:r>
            <a:r>
              <a:rPr lang="ru-RU" sz="1800" dirty="0"/>
              <a:t>(</a:t>
            </a:r>
            <a:r>
              <a:rPr lang="ru-RU" sz="1800" dirty="0" err="1"/>
              <a:t>new</a:t>
            </a:r>
            <a:r>
              <a:rPr lang="ru-RU" sz="1800" dirty="0"/>
              <a:t> Form1());</a:t>
            </a:r>
          </a:p>
          <a:p>
            <a:r>
              <a:rPr lang="ru-RU" sz="1800" dirty="0"/>
              <a:t>        }</a:t>
            </a:r>
          </a:p>
          <a:p>
            <a:r>
              <a:rPr lang="ru-RU" sz="1800" dirty="0"/>
              <a:t>    }</a:t>
            </a:r>
          </a:p>
          <a:p>
            <a:r>
              <a:rPr lang="ru-RU" sz="1800" dirty="0" smtClean="0"/>
              <a:t>}</a:t>
            </a:r>
            <a:endParaRPr lang="en-US" sz="1800" dirty="0" smtClean="0"/>
          </a:p>
          <a:p>
            <a:endParaRPr lang="ru-RU" sz="1800" dirty="0"/>
          </a:p>
          <a:p>
            <a:r>
              <a:rPr lang="ru-RU" sz="1900" dirty="0" smtClean="0"/>
              <a:t>Это по сути дела главная программа (точка входа приложения). </a:t>
            </a:r>
            <a:r>
              <a:rPr lang="ru-RU" sz="1900" dirty="0"/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	</a:t>
            </a:r>
            <a:r>
              <a:rPr lang="ru-RU" sz="1800" dirty="0" smtClean="0"/>
              <a:t>Файл  </a:t>
            </a:r>
            <a:r>
              <a:rPr lang="en-US" sz="1800" b="1" i="1" dirty="0"/>
              <a:t>Form</a:t>
            </a:r>
            <a:r>
              <a:rPr lang="ru-RU" sz="1800" b="1" i="1" dirty="0"/>
              <a:t>1.</a:t>
            </a:r>
            <a:r>
              <a:rPr lang="en-US" sz="1800" b="1" i="1" dirty="0" err="1"/>
              <a:t>cs</a:t>
            </a:r>
            <a:r>
              <a:rPr lang="ru-RU" sz="1800" dirty="0"/>
              <a:t>  имеет следующий вид:</a:t>
            </a:r>
            <a:br>
              <a:rPr lang="ru-RU" sz="1800" dirty="0"/>
            </a:br>
            <a:endParaRPr lang="ru-RU" sz="1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544616"/>
          </a:xfrm>
        </p:spPr>
        <p:txBody>
          <a:bodyPr>
            <a:normAutofit fontScale="92500"/>
          </a:bodyPr>
          <a:lstStyle/>
          <a:p>
            <a:r>
              <a:rPr lang="en-US" sz="1400" dirty="0"/>
              <a:t>using System;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System.Collections.Generic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System.ComponentModel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System.Data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System.Drawing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System.Linq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System.Text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using </a:t>
            </a:r>
            <a:r>
              <a:rPr lang="en-US" sz="1400" dirty="0" err="1"/>
              <a:t>System.Windows.Forms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en-US" sz="1400" dirty="0"/>
              <a:t> </a:t>
            </a:r>
            <a:endParaRPr lang="ru-RU" sz="1400" dirty="0"/>
          </a:p>
          <a:p>
            <a:r>
              <a:rPr lang="en-US" sz="1400" dirty="0"/>
              <a:t>namespace First1</a:t>
            </a:r>
            <a:endParaRPr lang="ru-RU" sz="1400" dirty="0"/>
          </a:p>
          <a:p>
            <a:r>
              <a:rPr lang="en-US" sz="1400" dirty="0"/>
              <a:t>{</a:t>
            </a:r>
            <a:endParaRPr lang="ru-RU" sz="1400" dirty="0"/>
          </a:p>
          <a:p>
            <a:r>
              <a:rPr lang="en-US" sz="1400" dirty="0"/>
              <a:t>    public partial class Form1 : Form</a:t>
            </a:r>
            <a:endParaRPr lang="ru-RU" sz="1400" dirty="0"/>
          </a:p>
          <a:p>
            <a:r>
              <a:rPr lang="en-US" sz="1400" dirty="0"/>
              <a:t>    {</a:t>
            </a:r>
            <a:endParaRPr lang="ru-RU" sz="1400" dirty="0"/>
          </a:p>
          <a:p>
            <a:r>
              <a:rPr lang="en-US" sz="1400" dirty="0"/>
              <a:t>        public Form1()</a:t>
            </a:r>
            <a:endParaRPr lang="ru-RU" sz="1400" dirty="0"/>
          </a:p>
          <a:p>
            <a:r>
              <a:rPr lang="en-US" sz="1400" dirty="0"/>
              <a:t>        {</a:t>
            </a:r>
            <a:endParaRPr lang="ru-RU" sz="1400" dirty="0"/>
          </a:p>
          <a:p>
            <a:r>
              <a:rPr lang="en-US" sz="1400" dirty="0"/>
              <a:t>            </a:t>
            </a:r>
            <a:r>
              <a:rPr lang="en-US" sz="1400" dirty="0" err="1"/>
              <a:t>InitializeComponent</a:t>
            </a:r>
            <a:r>
              <a:rPr lang="en-US" sz="1400" dirty="0"/>
              <a:t>();</a:t>
            </a:r>
            <a:endParaRPr lang="ru-RU" sz="1400" dirty="0"/>
          </a:p>
          <a:p>
            <a:r>
              <a:rPr lang="en-US" sz="1400" dirty="0"/>
              <a:t>        }</a:t>
            </a:r>
            <a:endParaRPr lang="ru-RU" sz="1400" dirty="0"/>
          </a:p>
          <a:p>
            <a:r>
              <a:rPr lang="en-US" sz="1400" dirty="0"/>
              <a:t>    }</a:t>
            </a:r>
            <a:endParaRPr lang="ru-RU" sz="1400" dirty="0"/>
          </a:p>
          <a:p>
            <a:r>
              <a:rPr lang="en-US" sz="1400" dirty="0"/>
              <a:t>}</a:t>
            </a:r>
            <a:endParaRPr lang="ru-RU" sz="1400" dirty="0"/>
          </a:p>
          <a:p>
            <a:r>
              <a:rPr lang="en-US" sz="1400" dirty="0"/>
              <a:t> </a:t>
            </a:r>
            <a:endParaRPr lang="ru-RU" sz="1400" dirty="0"/>
          </a:p>
          <a:p>
            <a:r>
              <a:rPr lang="en-US" sz="1400" dirty="0"/>
              <a:t>	</a:t>
            </a:r>
            <a:r>
              <a:rPr lang="ru-RU" sz="1400" dirty="0"/>
              <a:t>Класс</a:t>
            </a:r>
            <a:r>
              <a:rPr lang="en-US" sz="1400" dirty="0"/>
              <a:t>  </a:t>
            </a:r>
            <a:r>
              <a:rPr lang="en-US" sz="1400" b="1" i="1" dirty="0"/>
              <a:t>Form1</a:t>
            </a:r>
            <a:r>
              <a:rPr lang="en-US" sz="1400" dirty="0"/>
              <a:t>  </a:t>
            </a:r>
            <a:r>
              <a:rPr lang="ru-RU" sz="1400" dirty="0"/>
              <a:t>описывает форму</a:t>
            </a:r>
            <a:r>
              <a:rPr lang="en-US" sz="1400" dirty="0"/>
              <a:t>  </a:t>
            </a:r>
            <a:r>
              <a:rPr lang="en-US" sz="1400" b="1" i="1" dirty="0"/>
              <a:t>Form1</a:t>
            </a:r>
            <a:r>
              <a:rPr lang="en-US" sz="1400" dirty="0"/>
              <a:t>  (</a:t>
            </a:r>
            <a:r>
              <a:rPr lang="ru-RU" sz="1400" dirty="0"/>
              <a:t>главное окно приложения</a:t>
            </a:r>
            <a:r>
              <a:rPr lang="en-US" sz="1400" dirty="0"/>
              <a:t>). </a:t>
            </a:r>
            <a:r>
              <a:rPr lang="ru-RU" sz="1400" dirty="0"/>
              <a:t>В конструкторе вызывается метод  </a:t>
            </a:r>
            <a:r>
              <a:rPr lang="ru-RU" sz="1400" b="1" i="1" dirty="0" err="1"/>
              <a:t>InitializeComponent</a:t>
            </a:r>
            <a:r>
              <a:rPr lang="ru-RU" sz="1400" dirty="0"/>
              <a:t>,  который используется для создания элементов, размещаемых на форме. В этом классе будут располагаться обработчики событий, обеспечивающие функционирование формы. </a:t>
            </a:r>
          </a:p>
          <a:p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1800" b="1" dirty="0"/>
              <a:t>1.2. Простейшие компоненты</a:t>
            </a:r>
            <a:endParaRPr lang="ru-RU" sz="1800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fontScale="47500" lnSpcReduction="20000"/>
          </a:bodyPr>
          <a:lstStyle/>
          <a:p>
            <a:r>
              <a:rPr lang="ru-RU" sz="3400" dirty="0"/>
              <a:t>	Рассмотрим компоненты  </a:t>
            </a:r>
            <a:r>
              <a:rPr lang="en-US" sz="3400" b="1" i="1" dirty="0"/>
              <a:t>Button</a:t>
            </a:r>
            <a:r>
              <a:rPr lang="ru-RU" sz="3400" b="1" i="1" dirty="0"/>
              <a:t>, </a:t>
            </a:r>
            <a:r>
              <a:rPr lang="en-US" sz="3400" b="1" i="1" dirty="0"/>
              <a:t>Label</a:t>
            </a:r>
            <a:r>
              <a:rPr lang="ru-RU" sz="3400" b="1" i="1" dirty="0"/>
              <a:t>, </a:t>
            </a:r>
            <a:r>
              <a:rPr lang="en-US" sz="3400" b="1" i="1" dirty="0" err="1"/>
              <a:t>TextBox</a:t>
            </a:r>
            <a:r>
              <a:rPr lang="ru-RU" sz="3400" b="1" i="1" dirty="0"/>
              <a:t>.</a:t>
            </a:r>
            <a:r>
              <a:rPr lang="ru-RU" sz="3400" dirty="0"/>
              <a:t> Они находятся на вкладке  </a:t>
            </a:r>
            <a:r>
              <a:rPr lang="en-US" sz="3400" b="1" i="1" dirty="0"/>
              <a:t>Common Controls</a:t>
            </a:r>
            <a:r>
              <a:rPr lang="ru-RU" sz="3400" dirty="0"/>
              <a:t>.  Класс  </a:t>
            </a:r>
            <a:r>
              <a:rPr lang="en-US" sz="3400" b="1" i="1" dirty="0"/>
              <a:t>Button</a:t>
            </a:r>
            <a:r>
              <a:rPr lang="ru-RU" sz="3400" dirty="0"/>
              <a:t>  представляет кнопку. Свойство  </a:t>
            </a:r>
            <a:r>
              <a:rPr lang="en-US" sz="3400" b="1" i="1" dirty="0"/>
              <a:t>Text</a:t>
            </a:r>
            <a:r>
              <a:rPr lang="ru-RU" sz="3400" dirty="0"/>
              <a:t>  класса задаёт надпись на кнопке. При нажатии на кнопку генерируется событие  </a:t>
            </a:r>
            <a:r>
              <a:rPr lang="en-US" sz="3400" b="1" i="1" dirty="0"/>
              <a:t>Click</a:t>
            </a:r>
            <a:r>
              <a:rPr lang="ru-RU" sz="3400" dirty="0"/>
              <a:t>.  Обработчик этого события может быть создан путём двойного щелчка мышью по кнопке. Класс  </a:t>
            </a:r>
            <a:r>
              <a:rPr lang="en-US" sz="3400" b="1" i="1" dirty="0"/>
              <a:t>Label</a:t>
            </a:r>
            <a:r>
              <a:rPr lang="ru-RU" sz="3400" dirty="0"/>
              <a:t>  представляет статический текст (метка), помещаемый на форму. Свойство  </a:t>
            </a:r>
            <a:r>
              <a:rPr lang="en-US" sz="3400" b="1" i="1" dirty="0"/>
              <a:t>Text</a:t>
            </a:r>
            <a:r>
              <a:rPr lang="ru-RU" sz="3400" dirty="0"/>
              <a:t>  содержит текстовую строку, отображаемую этой меткой.  Класс  </a:t>
            </a:r>
            <a:r>
              <a:rPr lang="en-US" sz="3400" b="1" i="1" dirty="0" err="1"/>
              <a:t>TextBox</a:t>
            </a:r>
            <a:r>
              <a:rPr lang="ru-RU" sz="3400" dirty="0"/>
              <a:t>  – это однострочный элемент редактирования. Свойство  </a:t>
            </a:r>
            <a:r>
              <a:rPr lang="en-US" sz="3400" b="1" i="1" dirty="0"/>
              <a:t>Text</a:t>
            </a:r>
            <a:r>
              <a:rPr lang="ru-RU" sz="3400" dirty="0"/>
              <a:t>  этого элемента представляет собой редактируемую строку. </a:t>
            </a:r>
          </a:p>
          <a:p>
            <a:r>
              <a:rPr lang="ru-RU" sz="3400" dirty="0"/>
              <a:t>	Рассмотрим пример, где при нажатии на кнопку текст из одного элемента редактирования переносится в другой.</a:t>
            </a:r>
          </a:p>
          <a:p>
            <a:r>
              <a:rPr lang="ru-RU" sz="3400" dirty="0"/>
              <a:t>	Создадим новый проект, и переместим из палитры компонент на форму два элемента редактирования, две метки и кнопку. Для вызова палитры компонент можно использовать пункт меню  </a:t>
            </a:r>
            <a:r>
              <a:rPr lang="en-US" sz="3400" b="1" i="1" dirty="0"/>
              <a:t>View</a:t>
            </a:r>
            <a:r>
              <a:rPr lang="ru-RU" sz="3400" b="1" i="1" dirty="0"/>
              <a:t> =&gt; </a:t>
            </a:r>
            <a:r>
              <a:rPr lang="en-US" sz="3400" b="1" i="1" dirty="0"/>
              <a:t>Toolbox</a:t>
            </a:r>
            <a:r>
              <a:rPr lang="ru-RU" sz="3400" dirty="0"/>
              <a:t>  или соответствующую кнопку быстрого доступа. Элементы на палитре компонент сгруппированы во вкладки. Для перемещения компоненты на форму выделяется нужный элемент, и затем выполняется щелчок мыши в том месте формы, где надо разместить элемент. При необходимости элемент можно переместить в пределах формы или изменить его размеры, используя специальные маркеры по углам и в середине границ элемента. Затем с помощью окна  </a:t>
            </a:r>
            <a:r>
              <a:rPr lang="en-US" sz="3400" b="1" i="1" dirty="0"/>
              <a:t>Properties</a:t>
            </a:r>
            <a:r>
              <a:rPr lang="ru-RU" sz="3400" dirty="0"/>
              <a:t> (свойства) зададим нужные свойства элементам. Окно  </a:t>
            </a:r>
            <a:r>
              <a:rPr lang="en-US" sz="3400" b="1" i="1" dirty="0"/>
              <a:t>Properties</a:t>
            </a:r>
            <a:r>
              <a:rPr lang="ru-RU" sz="3400" dirty="0"/>
              <a:t> содержит свойства активного элемента формы. Чтобы сделать элемент активным, нужно щёлкнуть по нему мышкой. На кнопке поместим надпись ‘</a:t>
            </a:r>
            <a:r>
              <a:rPr lang="ru-RU" sz="3400" i="1" dirty="0"/>
              <a:t>Перенести</a:t>
            </a:r>
            <a:r>
              <a:rPr lang="ru-RU" sz="3400" dirty="0"/>
              <a:t>’, в метках разместим надписи ‘</a:t>
            </a:r>
            <a:r>
              <a:rPr lang="ru-RU" sz="3400" i="1" dirty="0"/>
              <a:t>Исходный текст</a:t>
            </a:r>
            <a:r>
              <a:rPr lang="ru-RU" sz="3400" dirty="0"/>
              <a:t>’ и ‘</a:t>
            </a:r>
            <a:r>
              <a:rPr lang="ru-RU" sz="3400" i="1" dirty="0"/>
              <a:t>Результирующий текст</a:t>
            </a:r>
            <a:r>
              <a:rPr lang="ru-RU" sz="3400" dirty="0"/>
              <a:t>’  и поместим эти метки над первым и вторым элементами редактирования соответственно. Кроме того, заменим заголовок формы на ‘</a:t>
            </a:r>
            <a:r>
              <a:rPr lang="ru-RU" sz="3400" i="1" dirty="0"/>
              <a:t>Перенос текста</a:t>
            </a:r>
            <a:r>
              <a:rPr lang="ru-RU" sz="3400" dirty="0"/>
              <a:t>’ – для этого щелчком по форме сделаем её активной и отредактируем свойство  </a:t>
            </a:r>
            <a:r>
              <a:rPr lang="en-US" sz="3400" b="1" i="1" dirty="0"/>
              <a:t>Text</a:t>
            </a:r>
            <a:r>
              <a:rPr lang="ru-RU" sz="3400" dirty="0"/>
              <a:t>  формы. В итоге получим </a:t>
            </a:r>
            <a:r>
              <a:rPr lang="ru-RU" sz="3400" dirty="0" smtClean="0"/>
              <a:t>:</a:t>
            </a:r>
            <a:endParaRPr lang="ru-RU" sz="3400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Окна системы</a:t>
            </a:r>
            <a:endParaRPr lang="ru-RU" sz="2000" dirty="0"/>
          </a:p>
        </p:txBody>
      </p:sp>
      <p:pic>
        <p:nvPicPr>
          <p:cNvPr id="4" name="Содержимое 3" descr="Рис_1_1б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3" y="908720"/>
            <a:ext cx="8280920" cy="576064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Autofit/>
          </a:bodyPr>
          <a:lstStyle/>
          <a:p>
            <a:r>
              <a:rPr lang="ru-RU" sz="2000" dirty="0" smtClean="0"/>
              <a:t>Форма</a:t>
            </a:r>
            <a:endParaRPr lang="ru-RU" sz="2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 descr="Рис_1_1а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764704"/>
            <a:ext cx="8640960" cy="5688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Обработчик</a:t>
            </a:r>
            <a:endParaRPr lang="ru-RU" sz="1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16624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Далее двойным щелчком по кнопке создадим обработчик нажатия кнопки. </a:t>
            </a:r>
          </a:p>
          <a:p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файле  </a:t>
            </a:r>
            <a:r>
              <a:rPr lang="en-US" b="1" i="1" dirty="0"/>
              <a:t>Form</a:t>
            </a:r>
            <a:r>
              <a:rPr lang="ru-RU" b="1" i="1" dirty="0"/>
              <a:t>1.</a:t>
            </a:r>
            <a:r>
              <a:rPr lang="en-US" b="1" i="1" dirty="0" err="1"/>
              <a:t>cs</a:t>
            </a:r>
            <a:r>
              <a:rPr lang="ru-RU" dirty="0"/>
              <a:t>  появится фрагмент кода: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. . .</a:t>
            </a:r>
            <a:endParaRPr lang="ru-RU" dirty="0"/>
          </a:p>
          <a:p>
            <a:r>
              <a:rPr lang="en-US" dirty="0"/>
              <a:t>        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</a:t>
            </a:r>
            <a:r>
              <a:rPr lang="ru-RU" dirty="0"/>
              <a:t>{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        }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Т.е. создаётся пустой обработчик. В него помещаем оператор копирования текста из первого элемента редактирования во второй: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	</a:t>
            </a:r>
            <a:r>
              <a:rPr lang="en-US" dirty="0"/>
              <a:t>. . .</a:t>
            </a:r>
            <a:endParaRPr lang="ru-RU" dirty="0"/>
          </a:p>
          <a:p>
            <a:r>
              <a:rPr lang="en-US" dirty="0"/>
              <a:t>        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textBox2.Text = textBox1.Text;</a:t>
            </a:r>
            <a:endParaRPr lang="ru-RU" dirty="0"/>
          </a:p>
          <a:p>
            <a:r>
              <a:rPr lang="en-US" dirty="0"/>
              <a:t>        }</a:t>
            </a:r>
            <a:endParaRPr lang="ru-RU" dirty="0"/>
          </a:p>
          <a:p>
            <a:r>
              <a:rPr lang="ru-RU" dirty="0" smtClean="0"/>
              <a:t>---------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/>
              <a:t>1.3. Элемент  </a:t>
            </a:r>
            <a:r>
              <a:rPr lang="en-US" sz="2400" b="1" dirty="0" err="1"/>
              <a:t>DataGridView</a:t>
            </a:r>
            <a:r>
              <a:rPr lang="ru-RU" sz="1800" b="1" i="1" dirty="0"/>
              <a:t/>
            </a:r>
            <a:br>
              <a:rPr lang="ru-RU" sz="1800" b="1" i="1" dirty="0"/>
            </a:br>
            <a:endParaRPr lang="ru-RU" sz="1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Этот элемент предназначен для хранения и отображения двумерного массива данных в виде таблицы. Он расположен на вкладке  </a:t>
            </a:r>
            <a:r>
              <a:rPr lang="en-US" b="1" i="1" dirty="0"/>
              <a:t>Data</a:t>
            </a:r>
            <a:r>
              <a:rPr lang="ru-RU" dirty="0"/>
              <a:t>. Свойство  </a:t>
            </a:r>
            <a:r>
              <a:rPr lang="en-US" b="1" i="1" dirty="0"/>
              <a:t>Columns</a:t>
            </a:r>
            <a:r>
              <a:rPr lang="ru-RU" dirty="0"/>
              <a:t>  позволяет редактировать информацию о столбцах: добавлять столбцы, изменять ширину поля, давать заголовки столбцам. Свойства  </a:t>
            </a:r>
            <a:r>
              <a:rPr lang="en-US" b="1" i="1" dirty="0" err="1"/>
              <a:t>ColumnCount</a:t>
            </a:r>
            <a:r>
              <a:rPr lang="ru-RU" dirty="0"/>
              <a:t>,</a:t>
            </a:r>
            <a:r>
              <a:rPr lang="ru-RU" b="1" i="1" dirty="0"/>
              <a:t>  </a:t>
            </a:r>
            <a:r>
              <a:rPr lang="en-US" b="1" i="1" dirty="0" err="1"/>
              <a:t>RowCount</a:t>
            </a:r>
            <a:r>
              <a:rPr lang="en-US" dirty="0"/>
              <a:t>  </a:t>
            </a:r>
            <a:r>
              <a:rPr lang="ru-RU" dirty="0"/>
              <a:t>определяют число столбцов и число строк в таблице соответственно.</a:t>
            </a:r>
          </a:p>
          <a:p>
            <a:r>
              <a:rPr lang="ru-RU" dirty="0"/>
              <a:t>	Рассмотрим пример, в котором будем вычислять сумму положительных элементов каждой строки матрицы. Для хранения и отображения элементов матрицы используем элемент </a:t>
            </a:r>
            <a:r>
              <a:rPr lang="en-US" b="1" i="1" dirty="0" err="1"/>
              <a:t>DataGridView</a:t>
            </a:r>
            <a:r>
              <a:rPr lang="ru-RU" dirty="0"/>
              <a:t>. Поместим на форму элемент  </a:t>
            </a:r>
            <a:r>
              <a:rPr lang="en-US" b="1" i="1" dirty="0" err="1"/>
              <a:t>DataGridView</a:t>
            </a:r>
            <a:r>
              <a:rPr lang="ru-RU" dirty="0"/>
              <a:t>  – он получит имя  </a:t>
            </a:r>
            <a:r>
              <a:rPr lang="en-US" b="1" i="1" dirty="0" err="1"/>
              <a:t>dataGridView</a:t>
            </a:r>
            <a:r>
              <a:rPr lang="ru-RU" b="1" i="1" dirty="0"/>
              <a:t>1</a:t>
            </a:r>
            <a:r>
              <a:rPr lang="ru-RU" dirty="0"/>
              <a:t>.  С помощью свойства  </a:t>
            </a:r>
            <a:r>
              <a:rPr lang="en-US" b="1" i="1" dirty="0"/>
              <a:t>Columns</a:t>
            </a:r>
            <a:r>
              <a:rPr lang="ru-RU" dirty="0"/>
              <a:t>  зададим для этого элемента пять столбцов и укажем их заголовки: ‘</a:t>
            </a:r>
            <a:r>
              <a:rPr lang="ru-RU" i="1" dirty="0"/>
              <a:t>Ст_1</a:t>
            </a:r>
            <a:r>
              <a:rPr lang="ru-RU" dirty="0"/>
              <a:t>’, ‘</a:t>
            </a:r>
            <a:r>
              <a:rPr lang="ru-RU" i="1" dirty="0"/>
              <a:t>Ст_2</a:t>
            </a:r>
            <a:r>
              <a:rPr lang="ru-RU" dirty="0"/>
              <a:t>’, ‘</a:t>
            </a:r>
            <a:r>
              <a:rPr lang="ru-RU" i="1" dirty="0"/>
              <a:t>Ст_3</a:t>
            </a:r>
            <a:r>
              <a:rPr lang="ru-RU" dirty="0"/>
              <a:t>’, ‘</a:t>
            </a:r>
            <a:r>
              <a:rPr lang="ru-RU" i="1" dirty="0"/>
              <a:t>Ст_4</a:t>
            </a:r>
            <a:r>
              <a:rPr lang="ru-RU" dirty="0"/>
              <a:t>’, ‘</a:t>
            </a:r>
            <a:r>
              <a:rPr lang="ru-RU" i="1" dirty="0"/>
              <a:t>Ст_5</a:t>
            </a:r>
            <a:r>
              <a:rPr lang="ru-RU" dirty="0"/>
              <a:t>’. Затем поместим на форму ещё один элемент  </a:t>
            </a:r>
            <a:r>
              <a:rPr lang="en-US" b="1" i="1" dirty="0" err="1"/>
              <a:t>DataGridView</a:t>
            </a:r>
            <a:r>
              <a:rPr lang="ru-RU" dirty="0"/>
              <a:t>  – он получит имя  </a:t>
            </a:r>
            <a:r>
              <a:rPr lang="en-US" b="1" i="1" dirty="0" err="1"/>
              <a:t>dataGridView</a:t>
            </a:r>
            <a:r>
              <a:rPr lang="ru-RU" b="1" i="1" dirty="0"/>
              <a:t>2</a:t>
            </a:r>
            <a:r>
              <a:rPr lang="ru-RU" dirty="0"/>
              <a:t>. Этот элемент будет отображать результаты. С помощью свойства  </a:t>
            </a:r>
            <a:r>
              <a:rPr lang="en-US" b="1" i="1" dirty="0"/>
              <a:t>Columns</a:t>
            </a:r>
            <a:r>
              <a:rPr lang="ru-RU" dirty="0"/>
              <a:t>  зададим для этого элемента один столбец и укажем его заголовок: ‘</a:t>
            </a:r>
            <a:r>
              <a:rPr lang="ru-RU" i="1" dirty="0"/>
              <a:t>Массив</a:t>
            </a:r>
            <a:r>
              <a:rPr lang="ru-RU" dirty="0"/>
              <a:t>’. При этом можем поменять ширину столбцов  </a:t>
            </a:r>
            <a:r>
              <a:rPr lang="en-US" b="1" i="1" dirty="0"/>
              <a:t>Width</a:t>
            </a:r>
            <a:r>
              <a:rPr lang="ru-RU" dirty="0"/>
              <a:t> (по умолчанию 100). Поместим также на форму кнопку с надписью ‘</a:t>
            </a:r>
            <a:r>
              <a:rPr lang="ru-RU" i="1" dirty="0"/>
              <a:t>Подсчёт</a:t>
            </a:r>
            <a:r>
              <a:rPr lang="ru-RU" dirty="0"/>
              <a:t>’. В результате получим форму, приведённую </a:t>
            </a:r>
            <a:r>
              <a:rPr lang="ru-RU" dirty="0" smtClean="0"/>
              <a:t>на следующем  рисунке: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Форма для примера</a:t>
            </a:r>
            <a:endParaRPr lang="ru-RU" sz="2400" dirty="0"/>
          </a:p>
        </p:txBody>
      </p:sp>
      <p:pic>
        <p:nvPicPr>
          <p:cNvPr id="4" name="Содержимое 3" descr="Рис_1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052736"/>
            <a:ext cx="8352928" cy="554461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Обработчик события  </a:t>
            </a:r>
            <a:r>
              <a:rPr lang="en-US" sz="2400" b="1" i="1" dirty="0" smtClean="0"/>
              <a:t>Activated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	Создадим теперь обработчик события  </a:t>
            </a:r>
            <a:r>
              <a:rPr lang="en-US" b="1" i="1" dirty="0"/>
              <a:t>Activated </a:t>
            </a:r>
            <a:r>
              <a:rPr lang="ru-RU" dirty="0"/>
              <a:t> формы – это событие генерируется при создании формы перед её появлением на экране. Внутрь обработчика поместим код для задания числа строк элементов  </a:t>
            </a:r>
            <a:r>
              <a:rPr lang="en-US" b="1" i="1" dirty="0" err="1"/>
              <a:t>DataGridView</a:t>
            </a:r>
            <a:r>
              <a:rPr lang="ru-RU" dirty="0"/>
              <a:t>.  </a:t>
            </a:r>
            <a:endParaRPr lang="ru-RU" dirty="0" smtClean="0"/>
          </a:p>
          <a:p>
            <a:endParaRPr lang="ru-RU" dirty="0"/>
          </a:p>
          <a:p>
            <a:r>
              <a:rPr lang="ru-RU" dirty="0"/>
              <a:t>Обработчик </a:t>
            </a:r>
            <a:r>
              <a:rPr lang="ru-RU" dirty="0" smtClean="0"/>
              <a:t>будет </a:t>
            </a:r>
            <a:r>
              <a:rPr lang="ru-RU" dirty="0"/>
              <a:t>выглядеть следующим образом: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        </a:t>
            </a:r>
            <a:r>
              <a:rPr lang="en-US" dirty="0"/>
              <a:t>private void Form</a:t>
            </a:r>
            <a:r>
              <a:rPr lang="ru-RU" dirty="0"/>
              <a:t>1_</a:t>
            </a:r>
            <a:r>
              <a:rPr lang="en-US" dirty="0"/>
              <a:t>Activated</a:t>
            </a:r>
            <a:r>
              <a:rPr lang="ru-RU" dirty="0"/>
              <a:t>(</a:t>
            </a:r>
            <a:r>
              <a:rPr lang="en-US" dirty="0"/>
              <a:t>object sender</a:t>
            </a:r>
            <a:r>
              <a:rPr lang="ru-RU" dirty="0"/>
              <a:t>, </a:t>
            </a:r>
            <a:r>
              <a:rPr lang="en-US" dirty="0" err="1"/>
              <a:t>EventArgs</a:t>
            </a:r>
            <a:r>
              <a:rPr lang="en-US" dirty="0"/>
              <a:t> e</a:t>
            </a:r>
            <a:r>
              <a:rPr lang="ru-RU" dirty="0"/>
              <a:t>)</a:t>
            </a:r>
          </a:p>
          <a:p>
            <a:r>
              <a:rPr lang="ru-RU" dirty="0"/>
              <a:t>        {</a:t>
            </a:r>
          </a:p>
          <a:p>
            <a:r>
              <a:rPr lang="ru-RU" dirty="0"/>
              <a:t>            dataGridView1.RowCount = 4;</a:t>
            </a:r>
          </a:p>
          <a:p>
            <a:r>
              <a:rPr lang="ru-RU" dirty="0"/>
              <a:t>            dataGridView2.RowCount = 4;</a:t>
            </a:r>
          </a:p>
          <a:p>
            <a:r>
              <a:rPr lang="ru-RU" dirty="0"/>
              <a:t>        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Обработчик </a:t>
            </a:r>
            <a:r>
              <a:rPr lang="ru-RU" sz="2400" dirty="0"/>
              <a:t>нажатия кнопки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60640"/>
          </a:xfrm>
        </p:spPr>
        <p:txBody>
          <a:bodyPr>
            <a:normAutofit fontScale="47500" lnSpcReduction="20000"/>
          </a:bodyPr>
          <a:lstStyle/>
          <a:p>
            <a:r>
              <a:rPr lang="ru-RU" dirty="0"/>
              <a:t>	Теперь создадим обработчик нажатия кнопки и поместим туда код для вычисления сумм положительных элементов строк матрицы.</a:t>
            </a:r>
          </a:p>
          <a:p>
            <a:r>
              <a:rPr lang="ru-RU" dirty="0"/>
              <a:t>	 </a:t>
            </a:r>
          </a:p>
          <a:p>
            <a:r>
              <a:rPr lang="ru-RU" dirty="0"/>
              <a:t>        </a:t>
            </a:r>
            <a:r>
              <a:rPr lang="en-US" dirty="0"/>
              <a:t>private void button1_Click 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float[,] a = new float[4, 5];</a:t>
            </a:r>
            <a:endParaRPr lang="ru-RU" dirty="0"/>
          </a:p>
          <a:p>
            <a:r>
              <a:rPr lang="en-US" dirty="0"/>
              <a:t>            float[] b = new float[4];</a:t>
            </a:r>
            <a:endParaRPr lang="ru-RU" dirty="0"/>
          </a:p>
          <a:p>
            <a:r>
              <a:rPr lang="en-US" dirty="0"/>
              <a:t>            string s;</a:t>
            </a:r>
            <a:endParaRPr lang="ru-RU" dirty="0"/>
          </a:p>
          <a:p>
            <a:r>
              <a:rPr lang="en-US" dirty="0"/>
              <a:t>            float sum;</a:t>
            </a:r>
            <a:endParaRPr lang="ru-RU" dirty="0"/>
          </a:p>
          <a:p>
            <a:r>
              <a:rPr lang="en-US" dirty="0"/>
              <a:t>        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</a:t>
            </a:r>
            <a:endParaRPr lang="ru-RU" dirty="0"/>
          </a:p>
          <a:p>
            <a:r>
              <a:rPr lang="en-US" dirty="0"/>
              <a:t>                for (</a:t>
            </a:r>
            <a:r>
              <a:rPr lang="en-US" dirty="0" err="1"/>
              <a:t>int</a:t>
            </a:r>
            <a:r>
              <a:rPr lang="en-US" dirty="0"/>
              <a:t> j = 0; j &lt; 5; j++)</a:t>
            </a:r>
            <a:endParaRPr lang="ru-RU" dirty="0"/>
          </a:p>
          <a:p>
            <a:r>
              <a:rPr lang="en-US" dirty="0"/>
              <a:t>                {</a:t>
            </a:r>
            <a:endParaRPr lang="ru-RU" dirty="0"/>
          </a:p>
          <a:p>
            <a:r>
              <a:rPr lang="en-US" dirty="0"/>
              <a:t>                    s = dataGridView1[j, 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Value.ToString</a:t>
            </a:r>
            <a:r>
              <a:rPr lang="en-US" dirty="0"/>
              <a:t>();</a:t>
            </a:r>
            <a:endParaRPr lang="ru-RU" dirty="0"/>
          </a:p>
          <a:p>
            <a:r>
              <a:rPr lang="en-US" dirty="0"/>
              <a:t>                    a[</a:t>
            </a:r>
            <a:r>
              <a:rPr lang="en-US" dirty="0" err="1"/>
              <a:t>i</a:t>
            </a:r>
            <a:r>
              <a:rPr lang="en-US" dirty="0"/>
              <a:t>, j] = </a:t>
            </a:r>
            <a:r>
              <a:rPr lang="en-US" dirty="0" err="1"/>
              <a:t>Single.Parse</a:t>
            </a:r>
            <a:r>
              <a:rPr lang="en-US" dirty="0"/>
              <a:t>(s);</a:t>
            </a:r>
            <a:endParaRPr lang="ru-RU" dirty="0"/>
          </a:p>
          <a:p>
            <a:r>
              <a:rPr lang="en-US" dirty="0"/>
              <a:t>                }</a:t>
            </a:r>
            <a:endParaRPr lang="ru-RU" dirty="0"/>
          </a:p>
          <a:p>
            <a:r>
              <a:rPr lang="en-US" dirty="0"/>
              <a:t>        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</a:t>
            </a:r>
            <a:endParaRPr lang="ru-RU" dirty="0"/>
          </a:p>
          <a:p>
            <a:r>
              <a:rPr lang="en-US" dirty="0"/>
              <a:t>            {</a:t>
            </a:r>
            <a:endParaRPr lang="ru-RU" dirty="0"/>
          </a:p>
          <a:p>
            <a:r>
              <a:rPr lang="en-US" dirty="0"/>
              <a:t>                sum = 0;</a:t>
            </a:r>
            <a:endParaRPr lang="ru-RU" dirty="0"/>
          </a:p>
          <a:p>
            <a:r>
              <a:rPr lang="en-US" dirty="0"/>
              <a:t>                for (</a:t>
            </a:r>
            <a:r>
              <a:rPr lang="en-US" dirty="0" err="1"/>
              <a:t>int</a:t>
            </a:r>
            <a:r>
              <a:rPr lang="en-US" dirty="0"/>
              <a:t> j = 0; j &lt; 5; j++)</a:t>
            </a:r>
            <a:endParaRPr lang="ru-RU" dirty="0"/>
          </a:p>
          <a:p>
            <a:r>
              <a:rPr lang="en-US" dirty="0"/>
              <a:t>                    if (a[</a:t>
            </a:r>
            <a:r>
              <a:rPr lang="en-US" dirty="0" err="1"/>
              <a:t>i</a:t>
            </a:r>
            <a:r>
              <a:rPr lang="en-US" dirty="0"/>
              <a:t>, j] &gt; 0) sum += a[</a:t>
            </a:r>
            <a:r>
              <a:rPr lang="en-US" dirty="0" err="1"/>
              <a:t>i</a:t>
            </a:r>
            <a:r>
              <a:rPr lang="en-US" dirty="0"/>
              <a:t>, j];</a:t>
            </a:r>
            <a:endParaRPr lang="ru-RU" dirty="0"/>
          </a:p>
          <a:p>
            <a:r>
              <a:rPr lang="en-US" dirty="0"/>
              <a:t>                b[</a:t>
            </a:r>
            <a:r>
              <a:rPr lang="en-US" dirty="0" err="1"/>
              <a:t>i</a:t>
            </a:r>
            <a:r>
              <a:rPr lang="en-US" dirty="0"/>
              <a:t>] = sum;</a:t>
            </a:r>
            <a:endParaRPr lang="ru-RU" dirty="0"/>
          </a:p>
          <a:p>
            <a:r>
              <a:rPr lang="en-US" dirty="0"/>
              <a:t>            }</a:t>
            </a:r>
            <a:endParaRPr lang="ru-RU" dirty="0"/>
          </a:p>
          <a:p>
            <a:r>
              <a:rPr lang="en-US" dirty="0"/>
              <a:t>        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</a:t>
            </a:r>
            <a:endParaRPr lang="ru-RU" dirty="0"/>
          </a:p>
          <a:p>
            <a:r>
              <a:rPr lang="en-US" dirty="0"/>
              <a:t>                dataGridView2[0, </a:t>
            </a:r>
            <a:r>
              <a:rPr lang="en-US" dirty="0" err="1"/>
              <a:t>i</a:t>
            </a:r>
            <a:r>
              <a:rPr lang="en-US" dirty="0"/>
              <a:t>].Value = b[</a:t>
            </a:r>
            <a:r>
              <a:rPr lang="en-US" dirty="0" err="1"/>
              <a:t>i</a:t>
            </a:r>
            <a:r>
              <a:rPr lang="en-US" dirty="0"/>
              <a:t>];</a:t>
            </a:r>
            <a:endParaRPr lang="ru-RU" dirty="0"/>
          </a:p>
          <a:p>
            <a:r>
              <a:rPr lang="en-US" dirty="0"/>
              <a:t>        </a:t>
            </a:r>
            <a:r>
              <a:rPr lang="ru-RU" dirty="0"/>
              <a:t>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Комментарий к обработчику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ru-RU" dirty="0" smtClean="0"/>
              <a:t>	Сначала </a:t>
            </a:r>
            <a:r>
              <a:rPr lang="ru-RU" dirty="0"/>
              <a:t>производится считывание значений из элемента </a:t>
            </a:r>
            <a:r>
              <a:rPr lang="en-US" b="1" i="1" dirty="0" err="1"/>
              <a:t>dataGridView</a:t>
            </a:r>
            <a:r>
              <a:rPr lang="ru-RU" b="1" i="1" dirty="0"/>
              <a:t>1 </a:t>
            </a:r>
            <a:r>
              <a:rPr lang="ru-RU" dirty="0"/>
              <a:t>в двумерный массив  </a:t>
            </a:r>
            <a:r>
              <a:rPr lang="en-US" b="1" i="1" dirty="0"/>
              <a:t>a </a:t>
            </a:r>
            <a:r>
              <a:rPr lang="ru-RU" dirty="0"/>
              <a:t>(при этом выполняется преобразование в числа с плавающей точкой), затем вычисляются суммы положительных элементов строк матрицы и заносятся в массив  </a:t>
            </a:r>
            <a:r>
              <a:rPr lang="en-US" b="1" i="1" dirty="0"/>
              <a:t>b</a:t>
            </a:r>
            <a:r>
              <a:rPr lang="ru-RU" dirty="0"/>
              <a:t>.  После этого полученные значения из массива  </a:t>
            </a:r>
            <a:r>
              <a:rPr lang="en-US" b="1" i="1" dirty="0"/>
              <a:t>b </a:t>
            </a:r>
            <a:r>
              <a:rPr lang="ru-RU" dirty="0"/>
              <a:t> переписываются в элемент  </a:t>
            </a:r>
            <a:r>
              <a:rPr lang="en-US" b="1" i="1" dirty="0" err="1"/>
              <a:t>dataGridView</a:t>
            </a:r>
            <a:r>
              <a:rPr lang="ru-RU" b="1" i="1" dirty="0"/>
              <a:t>2</a:t>
            </a:r>
            <a:r>
              <a:rPr lang="ru-RU" dirty="0"/>
              <a:t>.  Обратим внимание на то, что индексы у элементов  </a:t>
            </a:r>
            <a:r>
              <a:rPr lang="en-US" b="1" i="1" dirty="0" err="1"/>
              <a:t>DataGridView</a:t>
            </a:r>
            <a:r>
              <a:rPr lang="ru-RU" dirty="0"/>
              <a:t>  переставлены: сначала идёт номер столбца, а затем номер строки.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b="1" dirty="0"/>
              <a:t>1.4. Элементы </a:t>
            </a:r>
            <a:r>
              <a:rPr lang="en-US" sz="2400" b="1" dirty="0" err="1"/>
              <a:t>CheckBox</a:t>
            </a:r>
            <a:r>
              <a:rPr lang="ru-RU" sz="2400" b="1" dirty="0"/>
              <a:t>, </a:t>
            </a:r>
            <a:r>
              <a:rPr lang="en-US" sz="2400" b="1" dirty="0" err="1"/>
              <a:t>RadioButton</a:t>
            </a:r>
            <a:r>
              <a:rPr lang="ru-RU" sz="2400" b="1" dirty="0"/>
              <a:t>, </a:t>
            </a:r>
            <a:r>
              <a:rPr lang="en-US" sz="2400" b="1" dirty="0" err="1"/>
              <a:t>GroupBox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Элемент  </a:t>
            </a:r>
            <a:r>
              <a:rPr lang="en-US" b="1" i="1" dirty="0" err="1"/>
              <a:t>CheckBox</a:t>
            </a:r>
            <a:r>
              <a:rPr lang="ru-RU" dirty="0"/>
              <a:t>  представляет собой небольшой квадратик, внутри которого может быть ‘</a:t>
            </a:r>
            <a:r>
              <a:rPr lang="ru-RU" i="1" dirty="0"/>
              <a:t>галочка</a:t>
            </a:r>
            <a:r>
              <a:rPr lang="ru-RU" dirty="0"/>
              <a:t>’, а справа – поясняющий текст. Свойства элемента: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en-US" i="1" dirty="0"/>
              <a:t>Checked</a:t>
            </a:r>
            <a:r>
              <a:rPr lang="ru-RU" dirty="0"/>
              <a:t>  –  </a:t>
            </a:r>
            <a:r>
              <a:rPr lang="en-US" b="1" dirty="0"/>
              <a:t>true </a:t>
            </a:r>
            <a:r>
              <a:rPr lang="ru-RU" dirty="0"/>
              <a:t>(элемент выбран: есть ‘</a:t>
            </a:r>
            <a:r>
              <a:rPr lang="ru-RU" i="1" dirty="0"/>
              <a:t>галочка</a:t>
            </a:r>
            <a:r>
              <a:rPr lang="ru-RU" dirty="0"/>
              <a:t>’),</a:t>
            </a:r>
            <a:r>
              <a:rPr lang="ru-RU" b="1" dirty="0"/>
              <a:t>  </a:t>
            </a:r>
            <a:r>
              <a:rPr lang="en-US" b="1" dirty="0"/>
              <a:t>false </a:t>
            </a:r>
            <a:r>
              <a:rPr lang="ru-RU" dirty="0"/>
              <a:t>(не выбран)</a:t>
            </a:r>
          </a:p>
          <a:p>
            <a:r>
              <a:rPr lang="ru-RU" i="1" dirty="0"/>
              <a:t>	</a:t>
            </a:r>
            <a:r>
              <a:rPr lang="en-US" i="1" dirty="0"/>
              <a:t>Text</a:t>
            </a:r>
            <a:r>
              <a:rPr lang="ru-RU" dirty="0"/>
              <a:t>  – надпись справа от элемента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Элемент  </a:t>
            </a:r>
            <a:r>
              <a:rPr lang="en-US" b="1" i="1" dirty="0" err="1"/>
              <a:t>RadioButton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ru-RU" dirty="0" err="1"/>
              <a:t>радиокнопка</a:t>
            </a:r>
            <a:r>
              <a:rPr lang="ru-RU" dirty="0"/>
              <a:t>) представляет собой небольшой кружок, внутри которого может быть ‘</a:t>
            </a:r>
            <a:r>
              <a:rPr lang="ru-RU" i="1" dirty="0"/>
              <a:t>большая жирная точка</a:t>
            </a:r>
            <a:r>
              <a:rPr lang="ru-RU" dirty="0"/>
              <a:t>’, а справа – поясняющий текст. Свойства элемента: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en-US" i="1" dirty="0"/>
              <a:t>Checked</a:t>
            </a:r>
            <a:r>
              <a:rPr lang="ru-RU" dirty="0"/>
              <a:t>  –  </a:t>
            </a:r>
            <a:r>
              <a:rPr lang="en-US" b="1" dirty="0"/>
              <a:t>true </a:t>
            </a:r>
            <a:r>
              <a:rPr lang="ru-RU" dirty="0"/>
              <a:t>(элемент выбран: есть ‘</a:t>
            </a:r>
            <a:r>
              <a:rPr lang="ru-RU" i="1" dirty="0"/>
              <a:t>точка</a:t>
            </a:r>
            <a:r>
              <a:rPr lang="ru-RU" dirty="0"/>
              <a:t>’),</a:t>
            </a:r>
            <a:r>
              <a:rPr lang="ru-RU" b="1" dirty="0"/>
              <a:t>  </a:t>
            </a:r>
            <a:r>
              <a:rPr lang="en-US" b="1" dirty="0"/>
              <a:t>false </a:t>
            </a:r>
            <a:r>
              <a:rPr lang="ru-RU" dirty="0"/>
              <a:t>(не выбран)</a:t>
            </a:r>
          </a:p>
          <a:p>
            <a:r>
              <a:rPr lang="ru-RU" i="1" dirty="0"/>
              <a:t>	</a:t>
            </a:r>
            <a:r>
              <a:rPr lang="en-US" i="1" dirty="0"/>
              <a:t>Text</a:t>
            </a:r>
            <a:r>
              <a:rPr lang="ru-RU" dirty="0"/>
              <a:t>  – надпись справа от элемента</a:t>
            </a:r>
          </a:p>
          <a:p>
            <a:r>
              <a:rPr lang="ru-RU" dirty="0"/>
              <a:t> </a:t>
            </a:r>
          </a:p>
          <a:p>
            <a:r>
              <a:rPr lang="ru-RU" dirty="0" err="1"/>
              <a:t>Радиокнопки</a:t>
            </a:r>
            <a:r>
              <a:rPr lang="ru-RU" dirty="0"/>
              <a:t> обычно размещаются группами. Для группирования </a:t>
            </a:r>
            <a:r>
              <a:rPr lang="ru-RU" dirty="0" err="1"/>
              <a:t>радиокнопок</a:t>
            </a:r>
            <a:r>
              <a:rPr lang="ru-RU" dirty="0"/>
              <a:t> используется группирующая рамка  </a:t>
            </a:r>
            <a:r>
              <a:rPr lang="en-US" b="1" i="1" dirty="0" err="1"/>
              <a:t>GroupBox</a:t>
            </a:r>
            <a:r>
              <a:rPr lang="ru-RU" dirty="0"/>
              <a:t>. Свойство  </a:t>
            </a:r>
            <a:r>
              <a:rPr lang="en-US" b="1" i="1" dirty="0"/>
              <a:t>Text</a:t>
            </a:r>
            <a:r>
              <a:rPr lang="ru-RU" dirty="0"/>
              <a:t>  этого элемента представляет надпись в верхней части рамки.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	Рассмотрим следующий пример. Окно формы представляет простую анкету, где пользователь вводит информацию о знании им иностранных языков и о своей профессии. При нажатии на кнопку информация переносится в соответствующие текстовые поля. Разместим на форме три элемента </a:t>
            </a:r>
            <a:r>
              <a:rPr lang="en-US" b="1" i="1" dirty="0" err="1"/>
              <a:t>CheckBox</a:t>
            </a:r>
            <a:r>
              <a:rPr lang="ru-RU" dirty="0"/>
              <a:t>,  группирующую рамку</a:t>
            </a:r>
            <a:r>
              <a:rPr lang="ru-RU" b="1" i="1" dirty="0"/>
              <a:t>  </a:t>
            </a:r>
            <a:r>
              <a:rPr lang="en-US" b="1" i="1" dirty="0" err="1"/>
              <a:t>GroupBox</a:t>
            </a:r>
            <a:r>
              <a:rPr lang="ru-RU" dirty="0"/>
              <a:t>  и три элемента</a:t>
            </a:r>
            <a:r>
              <a:rPr lang="ru-RU" b="1" i="1" dirty="0"/>
              <a:t>  </a:t>
            </a:r>
            <a:r>
              <a:rPr lang="en-US" b="1" i="1" dirty="0" err="1"/>
              <a:t>RadioGroup</a:t>
            </a:r>
            <a:r>
              <a:rPr lang="ru-RU" dirty="0"/>
              <a:t>.  Зададим соответствующие надписи и получим следующую форму </a:t>
            </a:r>
            <a:r>
              <a:rPr lang="ru-RU" dirty="0" smtClean="0"/>
              <a:t>: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Форма для примера</a:t>
            </a:r>
            <a:endParaRPr lang="ru-RU" sz="2800" dirty="0"/>
          </a:p>
        </p:txBody>
      </p:sp>
      <p:pic>
        <p:nvPicPr>
          <p:cNvPr id="4" name="Содержимое 3" descr="Рис_1_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908720"/>
            <a:ext cx="7848872" cy="576064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Обработчик нажатия кнопки  ‘</a:t>
            </a:r>
            <a:r>
              <a:rPr lang="ru-RU" sz="2800" i="1" dirty="0" smtClean="0"/>
              <a:t>Перенести</a:t>
            </a:r>
            <a:r>
              <a:rPr lang="ru-RU" sz="2800" dirty="0" smtClean="0"/>
              <a:t>’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        </a:t>
            </a:r>
            <a:r>
              <a:rPr lang="en-US" dirty="0"/>
              <a:t>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string txt = "";</a:t>
            </a:r>
            <a:endParaRPr lang="ru-RU" dirty="0"/>
          </a:p>
          <a:p>
            <a:r>
              <a:rPr lang="en-US" dirty="0"/>
              <a:t>            if (checkBox1.Checked) txt += checkBox1.Text;</a:t>
            </a:r>
            <a:endParaRPr lang="ru-RU" dirty="0"/>
          </a:p>
          <a:p>
            <a:r>
              <a:rPr lang="en-US" dirty="0"/>
              <a:t>            if (checkBox2.Checked) txt += " " + checkBox2.Text;</a:t>
            </a:r>
            <a:endParaRPr lang="ru-RU" dirty="0"/>
          </a:p>
          <a:p>
            <a:r>
              <a:rPr lang="en-US" dirty="0"/>
              <a:t>            if (checkBox3.Checked) txt += " " + checkBox3.Text;</a:t>
            </a:r>
            <a:endParaRPr lang="ru-RU" dirty="0"/>
          </a:p>
          <a:p>
            <a:r>
              <a:rPr lang="en-US" dirty="0"/>
              <a:t>            textBox1.Text = txt;</a:t>
            </a:r>
            <a:endParaRPr lang="ru-RU" dirty="0"/>
          </a:p>
          <a:p>
            <a:r>
              <a:rPr lang="en-US" dirty="0"/>
              <a:t>            txt = "";</a:t>
            </a:r>
            <a:endParaRPr lang="ru-RU" dirty="0"/>
          </a:p>
          <a:p>
            <a:r>
              <a:rPr lang="en-US" dirty="0"/>
              <a:t>            if (radioButton1.Checked)</a:t>
            </a:r>
            <a:endParaRPr lang="ru-RU" dirty="0"/>
          </a:p>
          <a:p>
            <a:r>
              <a:rPr lang="en-US" dirty="0"/>
              <a:t>                txt = radioButton1.Text;</a:t>
            </a:r>
            <a:endParaRPr lang="ru-RU" dirty="0"/>
          </a:p>
          <a:p>
            <a:r>
              <a:rPr lang="en-US" dirty="0"/>
              <a:t>            else</a:t>
            </a:r>
            <a:endParaRPr lang="ru-RU" dirty="0"/>
          </a:p>
          <a:p>
            <a:r>
              <a:rPr lang="en-US" dirty="0"/>
              <a:t>                if (radioButton2.Checked)</a:t>
            </a:r>
            <a:endParaRPr lang="ru-RU" dirty="0"/>
          </a:p>
          <a:p>
            <a:r>
              <a:rPr lang="en-US" dirty="0"/>
              <a:t>                    txt = radioButton2.Text;</a:t>
            </a:r>
            <a:endParaRPr lang="ru-RU" dirty="0"/>
          </a:p>
          <a:p>
            <a:r>
              <a:rPr lang="en-US" dirty="0"/>
              <a:t>                else</a:t>
            </a:r>
            <a:endParaRPr lang="ru-RU" dirty="0"/>
          </a:p>
          <a:p>
            <a:r>
              <a:rPr lang="en-US" dirty="0"/>
              <a:t>                    if (radioButton3.Checked)</a:t>
            </a:r>
            <a:endParaRPr lang="ru-RU" dirty="0"/>
          </a:p>
          <a:p>
            <a:r>
              <a:rPr lang="en-US" dirty="0"/>
              <a:t>                        txt = radioButton3.Text;</a:t>
            </a:r>
            <a:endParaRPr lang="ru-RU" dirty="0"/>
          </a:p>
          <a:p>
            <a:r>
              <a:rPr lang="en-US" dirty="0"/>
              <a:t>            textBox2.Text = txt;</a:t>
            </a:r>
            <a:endParaRPr lang="ru-RU" dirty="0"/>
          </a:p>
          <a:p>
            <a:r>
              <a:rPr lang="en-US" dirty="0"/>
              <a:t>        </a:t>
            </a:r>
            <a:r>
              <a:rPr lang="ru-RU" dirty="0"/>
              <a:t>}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Комментарий к обработчику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ru-RU" dirty="0"/>
              <a:t>Сначала проверяются состояния каждого из элементов </a:t>
            </a:r>
            <a:r>
              <a:rPr lang="en-US" b="1" i="1" dirty="0" err="1"/>
              <a:t>CheckBox</a:t>
            </a:r>
            <a:r>
              <a:rPr lang="ru-RU" dirty="0"/>
              <a:t>,  и если он выбран, то текст, связанный с соответствующим элементом, заносится в результирующую строку. Затем аналогично проверяются состояния </a:t>
            </a:r>
            <a:r>
              <a:rPr lang="ru-RU" dirty="0" err="1"/>
              <a:t>радиокнопок</a:t>
            </a:r>
            <a:r>
              <a:rPr lang="ru-RU" dirty="0"/>
              <a:t>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>
            <a:normAutofit/>
          </a:bodyPr>
          <a:lstStyle/>
          <a:p>
            <a:r>
              <a:rPr lang="ru-RU" sz="2800" b="1" dirty="0"/>
              <a:t>1.5. Статусная строка </a:t>
            </a:r>
            <a:r>
              <a:rPr lang="en-US" sz="2800" b="1" dirty="0" err="1"/>
              <a:t>StatusStrip</a:t>
            </a:r>
            <a:r>
              <a:rPr lang="ru-RU" sz="2800" b="1" i="1" dirty="0"/>
              <a:t/>
            </a:r>
            <a:br>
              <a:rPr lang="ru-RU" sz="2800" b="1" i="1" dirty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	Статусная строка используется для отображения информации. Она располагается в нижней части окна формы. Основные свойства: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en-US" i="1" dirty="0"/>
              <a:t>Text</a:t>
            </a:r>
            <a:r>
              <a:rPr lang="ru-RU" dirty="0"/>
              <a:t> – содержимое статусной строки без панелей</a:t>
            </a:r>
          </a:p>
          <a:p>
            <a:r>
              <a:rPr lang="ru-RU" i="1" dirty="0"/>
              <a:t>	</a:t>
            </a:r>
            <a:r>
              <a:rPr lang="en-US" i="1" dirty="0"/>
              <a:t>Items</a:t>
            </a:r>
            <a:r>
              <a:rPr lang="ru-RU" dirty="0"/>
              <a:t> – совокупность панелей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При выделении свойства  </a:t>
            </a:r>
            <a:r>
              <a:rPr lang="en-US" b="1" i="1" dirty="0"/>
              <a:t>Items</a:t>
            </a:r>
            <a:r>
              <a:rPr lang="ru-RU" dirty="0"/>
              <a:t>  и нажатии появившейся кнопки вызывается специальный редактор для добавления панелей. Каждая панель имеет свойство  </a:t>
            </a:r>
            <a:r>
              <a:rPr lang="en-US" b="1" i="1" dirty="0"/>
              <a:t>Text</a:t>
            </a:r>
            <a:r>
              <a:rPr lang="ru-RU" dirty="0"/>
              <a:t>  для отображения информации.</a:t>
            </a:r>
          </a:p>
          <a:p>
            <a:r>
              <a:rPr lang="ru-RU" dirty="0"/>
              <a:t>	По умолчанию статусная строка имеет имя  </a:t>
            </a:r>
            <a:r>
              <a:rPr lang="en-US" b="1" i="1" dirty="0" err="1"/>
              <a:t>statusStrip</a:t>
            </a:r>
            <a:r>
              <a:rPr lang="ru-RU" b="1" i="1" dirty="0"/>
              <a:t>1</a:t>
            </a:r>
            <a:r>
              <a:rPr lang="ru-RU" dirty="0"/>
              <a:t>,  панели имеют имена  </a:t>
            </a:r>
            <a:r>
              <a:rPr lang="en-US" b="1" i="1" dirty="0" err="1"/>
              <a:t>toolStripStatusLabel</a:t>
            </a:r>
            <a:r>
              <a:rPr lang="ru-RU" b="1" i="1" dirty="0"/>
              <a:t>1,  </a:t>
            </a:r>
            <a:r>
              <a:rPr lang="en-US" b="1" i="1" dirty="0" err="1"/>
              <a:t>toolStripStatusLabel</a:t>
            </a:r>
            <a:r>
              <a:rPr lang="ru-RU" b="1" i="1" dirty="0"/>
              <a:t>2</a:t>
            </a:r>
            <a:r>
              <a:rPr lang="ru-RU" dirty="0"/>
              <a:t>  и т.д.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	Рассмотрим следующий пример. Статусная строка имеет две панели: одна для отображения координат мыши при нажатии клавиши; другая – для отображения координат при движении мыши</a:t>
            </a:r>
            <a:r>
              <a:rPr lang="ru-RU" dirty="0" smtClean="0"/>
              <a:t>. </a:t>
            </a:r>
            <a:r>
              <a:rPr lang="ru-RU" dirty="0"/>
              <a:t>На форме также находятся два элемента редактирования и кнопка, в приведённых обработчиках они не используются.</a:t>
            </a:r>
          </a:p>
          <a:p>
            <a:r>
              <a:rPr lang="ru-RU" dirty="0" smtClean="0"/>
              <a:t> </a:t>
            </a:r>
            <a:r>
              <a:rPr lang="ru-RU" dirty="0"/>
              <a:t>Окно формы при этом выглядит следующим образом </a:t>
            </a:r>
            <a:r>
              <a:rPr lang="ru-RU" dirty="0" smtClean="0"/>
              <a:t>: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Форма для примера</a:t>
            </a:r>
            <a:endParaRPr lang="ru-RU" sz="3200" dirty="0"/>
          </a:p>
        </p:txBody>
      </p:sp>
      <p:pic>
        <p:nvPicPr>
          <p:cNvPr id="4" name="Содержимое 3" descr="Рис_1_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484784"/>
            <a:ext cx="8352928" cy="4608512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Обработчики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>
            <a:noAutofit/>
          </a:bodyPr>
          <a:lstStyle/>
          <a:p>
            <a:r>
              <a:rPr lang="ru-RU" sz="1800" dirty="0" smtClean="0"/>
              <a:t>             </a:t>
            </a:r>
            <a:r>
              <a:rPr lang="en-US" sz="1800" dirty="0" smtClean="0"/>
              <a:t>// </a:t>
            </a:r>
            <a:r>
              <a:rPr lang="ru-RU" sz="1800" dirty="0"/>
              <a:t>Обработчик нажатия клавиши мыши </a:t>
            </a:r>
          </a:p>
          <a:p>
            <a:r>
              <a:rPr lang="en-US" sz="1800" dirty="0"/>
              <a:t>  private void Form1_MouseDown(object sender, </a:t>
            </a:r>
            <a:r>
              <a:rPr lang="en-US" sz="1800" dirty="0" err="1"/>
              <a:t>MouseEventArgs</a:t>
            </a:r>
            <a:r>
              <a:rPr lang="en-US" sz="1800" dirty="0"/>
              <a:t> e)</a:t>
            </a:r>
            <a:endParaRPr lang="ru-RU" sz="1800" dirty="0"/>
          </a:p>
          <a:p>
            <a:r>
              <a:rPr lang="en-US" sz="1800" dirty="0"/>
              <a:t>        {</a:t>
            </a:r>
            <a:endParaRPr lang="ru-RU" sz="1800" dirty="0"/>
          </a:p>
          <a:p>
            <a:r>
              <a:rPr lang="en-US" sz="1800" dirty="0"/>
              <a:t>            </a:t>
            </a:r>
            <a:r>
              <a:rPr lang="en-US" sz="1800" dirty="0" err="1"/>
              <a:t>int</a:t>
            </a:r>
            <a:r>
              <a:rPr lang="en-US" sz="1800" dirty="0"/>
              <a:t> x, y;</a:t>
            </a:r>
            <a:endParaRPr lang="ru-RU" sz="1800" dirty="0"/>
          </a:p>
          <a:p>
            <a:r>
              <a:rPr lang="en-US" sz="1800" dirty="0"/>
              <a:t>            x = </a:t>
            </a:r>
            <a:r>
              <a:rPr lang="en-US" sz="1800" dirty="0" err="1"/>
              <a:t>e.X</a:t>
            </a:r>
            <a:r>
              <a:rPr lang="en-US" sz="1800" dirty="0"/>
              <a:t>;</a:t>
            </a:r>
            <a:endParaRPr lang="ru-RU" sz="1800" dirty="0"/>
          </a:p>
          <a:p>
            <a:r>
              <a:rPr lang="en-US" sz="1800" dirty="0"/>
              <a:t>            y = </a:t>
            </a:r>
            <a:r>
              <a:rPr lang="en-US" sz="1800" dirty="0" err="1"/>
              <a:t>e.Y</a:t>
            </a:r>
            <a:r>
              <a:rPr lang="en-US" sz="1800" dirty="0"/>
              <a:t>;</a:t>
            </a:r>
            <a:endParaRPr lang="ru-RU" sz="1800" dirty="0"/>
          </a:p>
          <a:p>
            <a:r>
              <a:rPr lang="en-US" sz="1800" dirty="0"/>
              <a:t>            toolStripStatusLabel1.Text = "</a:t>
            </a:r>
            <a:r>
              <a:rPr lang="ru-RU" sz="1800" dirty="0"/>
              <a:t>Координаты мыши</a:t>
            </a:r>
            <a:r>
              <a:rPr lang="en-US" sz="1800" dirty="0"/>
              <a:t>: </a:t>
            </a:r>
            <a:r>
              <a:rPr lang="en-US" sz="1800" dirty="0" smtClean="0"/>
              <a:t>(“ + </a:t>
            </a:r>
            <a:r>
              <a:rPr lang="en-US" sz="1800" dirty="0"/>
              <a:t>x </a:t>
            </a:r>
            <a:r>
              <a:rPr lang="en-US" sz="1800" dirty="0" smtClean="0"/>
              <a:t>+</a:t>
            </a:r>
            <a:r>
              <a:rPr lang="ru-RU" sz="1800" dirty="0" smtClean="0"/>
              <a:t> </a:t>
            </a:r>
            <a:r>
              <a:rPr lang="en-US" sz="1800" dirty="0" smtClean="0"/>
              <a:t>",”</a:t>
            </a:r>
            <a:r>
              <a:rPr lang="ru-RU" sz="1800" dirty="0" smtClean="0"/>
              <a:t> </a:t>
            </a:r>
            <a:r>
              <a:rPr lang="en-US" sz="1800" dirty="0" smtClean="0"/>
              <a:t>+</a:t>
            </a:r>
            <a:r>
              <a:rPr lang="ru-RU" sz="1800" dirty="0" smtClean="0"/>
              <a:t> </a:t>
            </a:r>
            <a:r>
              <a:rPr lang="en-US" sz="1800" dirty="0" smtClean="0"/>
              <a:t>y</a:t>
            </a:r>
            <a:r>
              <a:rPr lang="ru-RU" sz="1800" dirty="0" smtClean="0"/>
              <a:t> </a:t>
            </a:r>
            <a:r>
              <a:rPr lang="en-US" sz="1800" dirty="0" smtClean="0"/>
              <a:t>+</a:t>
            </a:r>
            <a:r>
              <a:rPr lang="ru-RU" sz="1800" dirty="0" smtClean="0"/>
              <a:t> </a:t>
            </a:r>
            <a:r>
              <a:rPr lang="en-US" sz="1800" dirty="0" smtClean="0"/>
              <a:t>")";</a:t>
            </a:r>
            <a:endParaRPr lang="ru-RU" sz="1800" dirty="0"/>
          </a:p>
          <a:p>
            <a:r>
              <a:rPr lang="en-US" sz="1800" dirty="0"/>
              <a:t>        }</a:t>
            </a:r>
            <a:endParaRPr lang="ru-RU" sz="1800" dirty="0"/>
          </a:p>
          <a:p>
            <a:r>
              <a:rPr lang="ru-RU" sz="1800" dirty="0"/>
              <a:t> </a:t>
            </a:r>
          </a:p>
          <a:p>
            <a:r>
              <a:rPr lang="en-US" sz="1800" dirty="0"/>
              <a:t>             </a:t>
            </a:r>
            <a:r>
              <a:rPr lang="ru-RU" sz="1800" dirty="0" smtClean="0"/>
              <a:t> </a:t>
            </a:r>
            <a:r>
              <a:rPr lang="en-US" sz="1800" dirty="0" smtClean="0"/>
              <a:t>  </a:t>
            </a:r>
            <a:r>
              <a:rPr lang="en-US" sz="1800" dirty="0"/>
              <a:t>// </a:t>
            </a:r>
            <a:r>
              <a:rPr lang="ru-RU" sz="1800" dirty="0"/>
              <a:t>Обработчик движения мыши</a:t>
            </a:r>
            <a:r>
              <a:rPr lang="en-US" sz="1800" dirty="0"/>
              <a:t> </a:t>
            </a:r>
            <a:endParaRPr lang="ru-RU" sz="1800" dirty="0"/>
          </a:p>
          <a:p>
            <a:r>
              <a:rPr lang="en-US" sz="1800" dirty="0"/>
              <a:t>        private void Form1_MouseMove(object sender, </a:t>
            </a:r>
            <a:r>
              <a:rPr lang="en-US" sz="1800" dirty="0" err="1"/>
              <a:t>MouseEventArgs</a:t>
            </a:r>
            <a:r>
              <a:rPr lang="en-US" sz="1800" dirty="0"/>
              <a:t> e)</a:t>
            </a:r>
            <a:endParaRPr lang="ru-RU" sz="1800" dirty="0"/>
          </a:p>
          <a:p>
            <a:r>
              <a:rPr lang="en-US" sz="1800" dirty="0"/>
              <a:t>        {</a:t>
            </a:r>
            <a:endParaRPr lang="ru-RU" sz="1800" dirty="0"/>
          </a:p>
          <a:p>
            <a:r>
              <a:rPr lang="en-US" sz="1800" dirty="0"/>
              <a:t>            </a:t>
            </a:r>
            <a:r>
              <a:rPr lang="en-US" sz="1800" dirty="0" err="1"/>
              <a:t>int</a:t>
            </a:r>
            <a:r>
              <a:rPr lang="en-US" sz="1800" dirty="0"/>
              <a:t> x, y;</a:t>
            </a:r>
            <a:endParaRPr lang="ru-RU" sz="1800" dirty="0"/>
          </a:p>
          <a:p>
            <a:r>
              <a:rPr lang="en-US" sz="1800" dirty="0"/>
              <a:t>            x = </a:t>
            </a:r>
            <a:r>
              <a:rPr lang="en-US" sz="1800" dirty="0" err="1"/>
              <a:t>e.X</a:t>
            </a:r>
            <a:r>
              <a:rPr lang="en-US" sz="1800" dirty="0"/>
              <a:t>;</a:t>
            </a:r>
            <a:endParaRPr lang="ru-RU" sz="1800" dirty="0"/>
          </a:p>
          <a:p>
            <a:r>
              <a:rPr lang="en-US" sz="1800" dirty="0"/>
              <a:t>            y = </a:t>
            </a:r>
            <a:r>
              <a:rPr lang="en-US" sz="1800" dirty="0" err="1"/>
              <a:t>e.Y</a:t>
            </a:r>
            <a:r>
              <a:rPr lang="en-US" sz="1800" dirty="0"/>
              <a:t>;</a:t>
            </a:r>
            <a:endParaRPr lang="ru-RU" sz="1800" dirty="0"/>
          </a:p>
          <a:p>
            <a:r>
              <a:rPr lang="en-US" sz="1800" dirty="0"/>
              <a:t>            toolStripStatusLabel2.Text = "</a:t>
            </a:r>
            <a:r>
              <a:rPr lang="ru-RU" sz="1800" dirty="0"/>
              <a:t>Координаты мыши</a:t>
            </a:r>
            <a:r>
              <a:rPr lang="en-US" sz="1800" dirty="0"/>
              <a:t>: </a:t>
            </a:r>
            <a:r>
              <a:rPr lang="en-US" sz="1800" dirty="0" smtClean="0"/>
              <a:t>(“ + </a:t>
            </a:r>
            <a:r>
              <a:rPr lang="en-US" sz="1800" dirty="0"/>
              <a:t>x + "," + y + ")";</a:t>
            </a:r>
            <a:endParaRPr lang="ru-RU" sz="1800" dirty="0"/>
          </a:p>
          <a:p>
            <a:r>
              <a:rPr lang="en-US" sz="1800" dirty="0"/>
              <a:t>        </a:t>
            </a:r>
            <a:r>
              <a:rPr lang="ru-RU" sz="18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Комментарий </a:t>
            </a:r>
            <a:r>
              <a:rPr lang="ru-RU" sz="3200" smtClean="0"/>
              <a:t>к обработчику</a:t>
            </a:r>
            <a:endParaRPr lang="ru-RU" sz="320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	При нажатии на клавишу мыши координаты мыши заносятся в первую панель статусной строки, при движении мыши её координаты постоянно заносятся во вторую панель.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288</Words>
  <Application>Microsoft Office PowerPoint</Application>
  <PresentationFormat>Экран (4:3)</PresentationFormat>
  <Paragraphs>183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Раздел 1. Разработка программ на языке C#  на основе Windows Forms    1. Простые элементы Windows Forms   1.1. Создание приложения </vt:lpstr>
      <vt:lpstr>Создание приложения</vt:lpstr>
      <vt:lpstr> При этом создаётся несколько файлов. На вкладке  Form1.cs  находится код файла  Form1.cs.  На вкладке  Form1.cs [Design]  находится сама форма  Form1.  Файл  Program.cs  выглядит следующим образом: </vt:lpstr>
      <vt:lpstr> Файл  Form1.cs  имеет следующий вид: </vt:lpstr>
      <vt:lpstr>1.2. Простейшие компоненты</vt:lpstr>
      <vt:lpstr>Окна системы</vt:lpstr>
      <vt:lpstr>Форма</vt:lpstr>
      <vt:lpstr>Обработчик</vt:lpstr>
      <vt:lpstr>1.3. Элемент  DataGridView </vt:lpstr>
      <vt:lpstr>Форма для примера</vt:lpstr>
      <vt:lpstr>Обработчик события  Activated</vt:lpstr>
      <vt:lpstr>Обработчик нажатия кнопки</vt:lpstr>
      <vt:lpstr>Комментарий к обработчику</vt:lpstr>
      <vt:lpstr>1.4. Элементы CheckBox, RadioButton, GroupBox </vt:lpstr>
      <vt:lpstr>Пример</vt:lpstr>
      <vt:lpstr>Форма для примера</vt:lpstr>
      <vt:lpstr>Обработчик нажатия кнопки  ‘Перенести’</vt:lpstr>
      <vt:lpstr>Комментарий к обработчику</vt:lpstr>
      <vt:lpstr>1.5. Статусная строка StatusStrip </vt:lpstr>
      <vt:lpstr>Пример</vt:lpstr>
      <vt:lpstr>Форма для примера</vt:lpstr>
      <vt:lpstr>Обработчики</vt:lpstr>
      <vt:lpstr>Комментарий к обработчику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Раздел 1. Разработка программ на языке C#  на основе Windows Forms    1. ПРОСТЫЕ ЭЛЕМЕНТЫ WINDOWS FORMS   1.1. Создание приложения </dc:title>
  <dc:creator>Князев А.В.</dc:creator>
  <cp:lastModifiedBy>Князев А.В.</cp:lastModifiedBy>
  <cp:revision>41</cp:revision>
  <dcterms:created xsi:type="dcterms:W3CDTF">2020-08-30T06:24:34Z</dcterms:created>
  <dcterms:modified xsi:type="dcterms:W3CDTF">2020-08-30T10:45:11Z</dcterms:modified>
</cp:coreProperties>
</file>