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2" autoAdjust="0"/>
    <p:restoredTop sz="94660"/>
  </p:normalViewPr>
  <p:slideViewPr>
    <p:cSldViewPr>
      <p:cViewPr varScale="1">
        <p:scale>
          <a:sx n="66" d="100"/>
          <a:sy n="66" d="100"/>
        </p:scale>
        <p:origin x="-46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29.09.2020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29.09.2020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29.09.2020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29.09.2020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29.09.2020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29.09.2020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29.09.2020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29.09.2020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29.09.2020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29.09.2020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6AAA-0A0E-4338-9502-31D6DFBAB238}" type="datetimeFigureOut">
              <a:rPr lang="ru-RU" smtClean="0"/>
              <a:pPr/>
              <a:t>29.09.2020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A6AAA-0A0E-4338-9502-31D6DFBAB238}" type="datetimeFigureOut">
              <a:rPr lang="ru-RU" smtClean="0"/>
              <a:pPr/>
              <a:t>29.09.2020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9EFB7-7DB7-4EAA-A210-04B21C3B962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412777"/>
            <a:ext cx="7772400" cy="1656183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Лекция 6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2209800"/>
          </a:xfrm>
        </p:spPr>
        <p:txBody>
          <a:bodyPr>
            <a:normAutofit/>
          </a:bodyPr>
          <a:lstStyle/>
          <a:p>
            <a:r>
              <a:rPr lang="ru-RU" sz="2800" dirty="0" smtClean="0"/>
              <a:t>6 октября</a:t>
            </a:r>
            <a:endParaRPr lang="ru-RU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2.7. Выбор кисти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72815"/>
            <a:ext cx="8229600" cy="4032449"/>
          </a:xfrm>
        </p:spPr>
        <p:txBody>
          <a:bodyPr>
            <a:normAutofit fontScale="62500" lnSpcReduction="20000"/>
          </a:bodyPr>
          <a:lstStyle/>
          <a:p>
            <a:endParaRPr lang="en-US" b="1" dirty="0" smtClean="0"/>
          </a:p>
          <a:p>
            <a:r>
              <a:rPr lang="en-US" b="1" dirty="0" smtClean="0"/>
              <a:t>HGDIOBJ</a:t>
            </a:r>
            <a:r>
              <a:rPr lang="ru-RU" b="1" dirty="0" smtClean="0"/>
              <a:t>  </a:t>
            </a:r>
            <a:r>
              <a:rPr lang="en-US" b="1" dirty="0" err="1" smtClean="0"/>
              <a:t>GetStockObject</a:t>
            </a:r>
            <a:r>
              <a:rPr lang="en-US" b="1" dirty="0" smtClean="0"/>
              <a:t>( </a:t>
            </a:r>
            <a:endParaRPr lang="ru-RU" b="1" dirty="0" smtClean="0"/>
          </a:p>
          <a:p>
            <a:r>
              <a:rPr lang="ru-RU" b="1" dirty="0" smtClean="0"/>
              <a:t> 	</a:t>
            </a:r>
            <a:r>
              <a:rPr lang="en-US" b="1" dirty="0" err="1" smtClean="0"/>
              <a:t>int</a:t>
            </a:r>
            <a:r>
              <a:rPr lang="en-US" i="1" dirty="0" smtClean="0"/>
              <a:t> </a:t>
            </a:r>
            <a:r>
              <a:rPr lang="ru-RU" i="1" dirty="0" smtClean="0"/>
              <a:t> </a:t>
            </a:r>
            <a:r>
              <a:rPr lang="en-US" i="1" dirty="0" err="1" smtClean="0"/>
              <a:t>fnObject</a:t>
            </a:r>
            <a:r>
              <a:rPr lang="en-US" dirty="0" smtClean="0"/>
              <a:t> </a:t>
            </a:r>
            <a:r>
              <a:rPr lang="ru-RU" dirty="0" smtClean="0"/>
              <a:t>	</a:t>
            </a:r>
            <a:r>
              <a:rPr lang="en-US" dirty="0" smtClean="0"/>
              <a:t>// stock object type </a:t>
            </a:r>
            <a:endParaRPr lang="ru-RU" dirty="0" smtClean="0"/>
          </a:p>
          <a:p>
            <a:r>
              <a:rPr lang="en-US" b="1" dirty="0" smtClean="0"/>
              <a:t>)</a:t>
            </a:r>
            <a:endParaRPr lang="ru-RU" b="1" dirty="0" smtClean="0"/>
          </a:p>
          <a:p>
            <a:endParaRPr lang="ru-RU" b="1" dirty="0" smtClean="0"/>
          </a:p>
          <a:p>
            <a:r>
              <a:rPr lang="en-US" b="1" dirty="0" smtClean="0"/>
              <a:t>BLACK_BRUSH</a:t>
            </a:r>
          </a:p>
          <a:p>
            <a:r>
              <a:rPr lang="en-US" b="1" dirty="0" smtClean="0"/>
              <a:t>WHITE_BRUSH</a:t>
            </a:r>
          </a:p>
          <a:p>
            <a:r>
              <a:rPr lang="en-US" b="1" dirty="0" smtClean="0"/>
              <a:t>GRAY_BRUSH</a:t>
            </a:r>
          </a:p>
          <a:p>
            <a:r>
              <a:rPr lang="en-US" b="1" dirty="0" smtClean="0"/>
              <a:t>LTGRAY_BRUSH</a:t>
            </a:r>
          </a:p>
          <a:p>
            <a:r>
              <a:rPr lang="en-US" b="1" dirty="0" smtClean="0"/>
              <a:t>DKGRAY_BRUSH</a:t>
            </a:r>
            <a:endParaRPr lang="ru-RU" b="1" dirty="0" smtClean="0"/>
          </a:p>
          <a:p>
            <a:r>
              <a:rPr lang="ru-RU" b="1" dirty="0" smtClean="0"/>
              <a:t> </a:t>
            </a:r>
          </a:p>
          <a:p>
            <a:r>
              <a:rPr lang="ru-RU" dirty="0" smtClean="0"/>
              <a:t>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Создание кисти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 smtClean="0"/>
              <a:t>HBRUSH </a:t>
            </a:r>
            <a:r>
              <a:rPr lang="en-US" b="1" dirty="0" err="1" smtClean="0"/>
              <a:t>CreateSolidBrush</a:t>
            </a:r>
            <a:r>
              <a:rPr lang="en-US" b="1" dirty="0" smtClean="0"/>
              <a:t>( </a:t>
            </a:r>
          </a:p>
          <a:p>
            <a:r>
              <a:rPr lang="en-US" b="1" dirty="0" smtClean="0"/>
              <a:t> 	COLORREF</a:t>
            </a:r>
            <a:r>
              <a:rPr lang="en-US" i="1" dirty="0" smtClean="0"/>
              <a:t> </a:t>
            </a:r>
            <a:r>
              <a:rPr lang="en-US" i="1" dirty="0" err="1" smtClean="0"/>
              <a:t>crColor</a:t>
            </a:r>
            <a:r>
              <a:rPr lang="en-US" dirty="0" smtClean="0"/>
              <a:t> 	// brush color value </a:t>
            </a:r>
          </a:p>
          <a:p>
            <a:r>
              <a:rPr lang="en-US" b="1" dirty="0" smtClean="0"/>
              <a:t>)</a:t>
            </a:r>
          </a:p>
          <a:p>
            <a:r>
              <a:rPr lang="en-US" b="1" dirty="0" smtClean="0"/>
              <a:t> </a:t>
            </a:r>
          </a:p>
          <a:p>
            <a:r>
              <a:rPr lang="en-US" b="1" dirty="0" smtClean="0"/>
              <a:t>HBRUSH </a:t>
            </a:r>
            <a:r>
              <a:rPr lang="en-US" b="1" dirty="0" err="1" smtClean="0"/>
              <a:t>CreateHatchBrush</a:t>
            </a:r>
            <a:r>
              <a:rPr lang="en-US" b="1" dirty="0" smtClean="0"/>
              <a:t>( </a:t>
            </a:r>
          </a:p>
          <a:p>
            <a:r>
              <a:rPr lang="en-US" b="1" dirty="0" smtClean="0"/>
              <a:t> 	</a:t>
            </a:r>
            <a:r>
              <a:rPr lang="en-US" b="1" dirty="0" err="1" smtClean="0"/>
              <a:t>int</a:t>
            </a:r>
            <a:r>
              <a:rPr lang="en-US" i="1" dirty="0" smtClean="0"/>
              <a:t> </a:t>
            </a:r>
            <a:r>
              <a:rPr lang="en-US" i="1" dirty="0" err="1" smtClean="0"/>
              <a:t>fnStyle</a:t>
            </a:r>
            <a:r>
              <a:rPr lang="en-US" b="1" dirty="0" smtClean="0"/>
              <a:t>, 		</a:t>
            </a:r>
            <a:r>
              <a:rPr lang="en-US" dirty="0" smtClean="0"/>
              <a:t>// hatch style </a:t>
            </a:r>
          </a:p>
          <a:p>
            <a:r>
              <a:rPr lang="en-US" b="1" dirty="0" smtClean="0"/>
              <a:t> 	COLORREF</a:t>
            </a:r>
            <a:r>
              <a:rPr lang="en-US" i="1" dirty="0" smtClean="0"/>
              <a:t> </a:t>
            </a:r>
            <a:r>
              <a:rPr lang="en-US" i="1" dirty="0" err="1" smtClean="0"/>
              <a:t>clrref</a:t>
            </a:r>
            <a:r>
              <a:rPr lang="en-US" dirty="0" smtClean="0"/>
              <a:t> 	</a:t>
            </a:r>
            <a:r>
              <a:rPr lang="ru-RU" dirty="0" smtClean="0"/>
              <a:t>	</a:t>
            </a:r>
            <a:r>
              <a:rPr lang="en-US" dirty="0" smtClean="0"/>
              <a:t>// foreground color </a:t>
            </a:r>
          </a:p>
          <a:p>
            <a:r>
              <a:rPr lang="en-US" b="1" dirty="0" smtClean="0"/>
              <a:t>)</a:t>
            </a:r>
          </a:p>
          <a:p>
            <a:endParaRPr lang="en-US" b="1" dirty="0" smtClean="0"/>
          </a:p>
          <a:p>
            <a:r>
              <a:rPr lang="en-US" dirty="0" smtClean="0"/>
              <a:t>HS_BDIAGONAL </a:t>
            </a:r>
          </a:p>
          <a:p>
            <a:r>
              <a:rPr lang="en-US" dirty="0" smtClean="0"/>
              <a:t>HS_CROSS </a:t>
            </a:r>
          </a:p>
          <a:p>
            <a:r>
              <a:rPr lang="en-US" dirty="0" smtClean="0"/>
              <a:t>HS_DIAGCROSS </a:t>
            </a:r>
          </a:p>
          <a:p>
            <a:r>
              <a:rPr lang="en-US" dirty="0" smtClean="0"/>
              <a:t>HS_FDIAGONAL </a:t>
            </a:r>
          </a:p>
          <a:p>
            <a:r>
              <a:rPr lang="en-US" dirty="0" smtClean="0"/>
              <a:t>HS_HORIZONTAL </a:t>
            </a:r>
          </a:p>
          <a:p>
            <a:r>
              <a:rPr lang="en-US" dirty="0" smtClean="0"/>
              <a:t>HS_VERTICAL </a:t>
            </a:r>
            <a:br>
              <a:rPr lang="en-US" dirty="0" smtClean="0"/>
            </a:br>
            <a:endParaRPr lang="en-US" b="1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Пример</a:t>
            </a:r>
            <a:endParaRPr lang="ru-RU" sz="2400" b="1" dirty="0"/>
          </a:p>
        </p:txBody>
      </p:sp>
      <p:pic>
        <p:nvPicPr>
          <p:cNvPr id="4" name="Содержимое 3" descr="Рис_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3568" y="1268761"/>
            <a:ext cx="7704856" cy="4896544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80728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Пример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72608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HBRUSH </a:t>
            </a:r>
            <a:r>
              <a:rPr lang="en-US" dirty="0" err="1" smtClean="0"/>
              <a:t>hBrushSol</a:t>
            </a:r>
            <a:r>
              <a:rPr lang="en-US" dirty="0" smtClean="0"/>
              <a:t>, </a:t>
            </a:r>
            <a:r>
              <a:rPr lang="en-US" dirty="0" err="1" smtClean="0"/>
              <a:t>hOldBrush</a:t>
            </a:r>
            <a:r>
              <a:rPr lang="en-US" dirty="0" smtClean="0"/>
              <a:t>, </a:t>
            </a:r>
            <a:r>
              <a:rPr lang="en-US" dirty="0" err="1" smtClean="0"/>
              <a:t>hBrushBlue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dirty="0" smtClean="0"/>
              <a:t>   .  .  .</a:t>
            </a:r>
          </a:p>
          <a:p>
            <a:r>
              <a:rPr lang="ru-RU" dirty="0" smtClean="0"/>
              <a:t> 	</a:t>
            </a:r>
            <a:r>
              <a:rPr lang="en-US" dirty="0" smtClean="0"/>
              <a:t>case WM_PAINT:</a:t>
            </a:r>
          </a:p>
          <a:p>
            <a:r>
              <a:rPr lang="en-US" dirty="0" smtClean="0"/>
              <a:t>	</a:t>
            </a:r>
            <a:r>
              <a:rPr lang="ru-RU" dirty="0" smtClean="0"/>
              <a:t>    </a:t>
            </a:r>
            <a:r>
              <a:rPr lang="en-US" dirty="0" err="1" smtClean="0"/>
              <a:t>hdc</a:t>
            </a:r>
            <a:r>
              <a:rPr lang="en-US" dirty="0" smtClean="0"/>
              <a:t> = </a:t>
            </a:r>
            <a:r>
              <a:rPr lang="en-US" dirty="0" err="1" smtClean="0"/>
              <a:t>BeginPaint</a:t>
            </a:r>
            <a:r>
              <a:rPr lang="en-US" dirty="0" smtClean="0"/>
              <a:t>(</a:t>
            </a:r>
            <a:r>
              <a:rPr lang="en-US" dirty="0" err="1" smtClean="0"/>
              <a:t>hWnd</a:t>
            </a:r>
            <a:r>
              <a:rPr lang="en-US" dirty="0" smtClean="0"/>
              <a:t>, &amp;</a:t>
            </a:r>
            <a:r>
              <a:rPr lang="en-US" dirty="0" err="1" smtClean="0"/>
              <a:t>ps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</a:t>
            </a:r>
            <a:r>
              <a:rPr lang="en-US" dirty="0" err="1" smtClean="0"/>
              <a:t>hBrushSol</a:t>
            </a:r>
            <a:r>
              <a:rPr lang="en-US" dirty="0" smtClean="0"/>
              <a:t>=</a:t>
            </a:r>
            <a:r>
              <a:rPr lang="en-US" dirty="0" err="1" smtClean="0"/>
              <a:t>CreateSolidBrush</a:t>
            </a:r>
            <a:r>
              <a:rPr lang="en-US" dirty="0" smtClean="0"/>
              <a:t>(RGB(255,0,0));</a:t>
            </a:r>
          </a:p>
          <a:p>
            <a:r>
              <a:rPr lang="en-US" dirty="0" smtClean="0"/>
              <a:t>		</a:t>
            </a:r>
            <a:r>
              <a:rPr lang="en-US" dirty="0" err="1" smtClean="0"/>
              <a:t>hOldBrush</a:t>
            </a:r>
            <a:r>
              <a:rPr lang="en-US" dirty="0" smtClean="0"/>
              <a:t>=(HBRUSH)</a:t>
            </a:r>
            <a:r>
              <a:rPr lang="en-US" dirty="0" err="1" smtClean="0"/>
              <a:t>SelectObject</a:t>
            </a:r>
            <a:r>
              <a:rPr lang="en-US" dirty="0" smtClean="0"/>
              <a:t>(</a:t>
            </a:r>
            <a:r>
              <a:rPr lang="en-US" dirty="0" err="1" smtClean="0"/>
              <a:t>hdc,hBrushSol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Ellipse(hdc,400,100,540,180);</a:t>
            </a:r>
          </a:p>
          <a:p>
            <a:r>
              <a:rPr lang="ru-RU" dirty="0" smtClean="0"/>
              <a:t>		</a:t>
            </a:r>
            <a:r>
              <a:rPr lang="en-US" dirty="0" err="1" smtClean="0"/>
              <a:t>hBrushBlue</a:t>
            </a:r>
            <a:r>
              <a:rPr lang="en-US" dirty="0" smtClean="0"/>
              <a:t>=</a:t>
            </a:r>
            <a:r>
              <a:rPr lang="en-US" dirty="0" err="1" smtClean="0"/>
              <a:t>CreateHatchBrush</a:t>
            </a:r>
            <a:r>
              <a:rPr lang="en-US" dirty="0" smtClean="0"/>
              <a:t>(HS_DIAGCROSS,</a:t>
            </a:r>
            <a:endParaRPr lang="ru-RU" dirty="0" smtClean="0"/>
          </a:p>
          <a:p>
            <a:r>
              <a:rPr lang="ru-RU" dirty="0" smtClean="0"/>
              <a:t>                                                                                          </a:t>
            </a:r>
            <a:r>
              <a:rPr lang="en-US" dirty="0" smtClean="0"/>
              <a:t>RGB(0,0,255));</a:t>
            </a:r>
          </a:p>
          <a:p>
            <a:r>
              <a:rPr lang="en-US" dirty="0" smtClean="0"/>
              <a:t>		</a:t>
            </a:r>
            <a:r>
              <a:rPr lang="en-US" dirty="0" err="1" smtClean="0"/>
              <a:t>SelectObject</a:t>
            </a:r>
            <a:r>
              <a:rPr lang="en-US" dirty="0" smtClean="0"/>
              <a:t>(</a:t>
            </a:r>
            <a:r>
              <a:rPr lang="en-US" dirty="0" err="1" smtClean="0"/>
              <a:t>hdc,hBrushBlue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Rectangle(hdc,100,200,350,350);</a:t>
            </a:r>
          </a:p>
          <a:p>
            <a:r>
              <a:rPr lang="en-US" dirty="0" smtClean="0"/>
              <a:t>		</a:t>
            </a:r>
            <a:r>
              <a:rPr lang="en-US" dirty="0" err="1" smtClean="0"/>
              <a:t>SelectObject</a:t>
            </a:r>
            <a:r>
              <a:rPr lang="en-US" dirty="0" smtClean="0"/>
              <a:t>(</a:t>
            </a:r>
            <a:r>
              <a:rPr lang="en-US" dirty="0" err="1" smtClean="0"/>
              <a:t>hdc,hOldBrush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</a:t>
            </a:r>
            <a:r>
              <a:rPr lang="en-US" dirty="0" err="1" smtClean="0"/>
              <a:t>DeleteObject</a:t>
            </a:r>
            <a:r>
              <a:rPr lang="en-US" dirty="0" smtClean="0"/>
              <a:t>(</a:t>
            </a:r>
            <a:r>
              <a:rPr lang="en-US" dirty="0" err="1" smtClean="0"/>
              <a:t>hBrushSol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</a:t>
            </a:r>
            <a:r>
              <a:rPr lang="en-US" dirty="0" err="1" smtClean="0"/>
              <a:t>DeleteObject</a:t>
            </a:r>
            <a:r>
              <a:rPr lang="en-US" dirty="0" smtClean="0"/>
              <a:t>(</a:t>
            </a:r>
            <a:r>
              <a:rPr lang="en-US" dirty="0" err="1" smtClean="0"/>
              <a:t>hBrushBlue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</a:t>
            </a:r>
            <a:r>
              <a:rPr lang="ru-RU" dirty="0" smtClean="0"/>
              <a:t>    </a:t>
            </a:r>
            <a:r>
              <a:rPr lang="en-US" dirty="0" err="1" smtClean="0"/>
              <a:t>EndPaint</a:t>
            </a:r>
            <a:r>
              <a:rPr lang="en-US" dirty="0" smtClean="0"/>
              <a:t>(</a:t>
            </a:r>
            <a:r>
              <a:rPr lang="en-US" dirty="0" err="1" smtClean="0"/>
              <a:t>hWnd</a:t>
            </a:r>
            <a:r>
              <a:rPr lang="en-US" dirty="0" smtClean="0"/>
              <a:t>, &amp;</a:t>
            </a:r>
            <a:r>
              <a:rPr lang="en-US" dirty="0" err="1" smtClean="0"/>
              <a:t>ps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</a:t>
            </a:r>
            <a:r>
              <a:rPr lang="ru-RU" dirty="0" smtClean="0"/>
              <a:t>    </a:t>
            </a:r>
            <a:r>
              <a:rPr lang="en-US" dirty="0" smtClean="0"/>
              <a:t>break;</a:t>
            </a:r>
            <a:endParaRPr lang="ru-RU" dirty="0" smtClean="0"/>
          </a:p>
          <a:p>
            <a:r>
              <a:rPr lang="ru-RU" dirty="0" smtClean="0"/>
              <a:t>        .  .  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1152128"/>
          </a:xfrm>
        </p:spPr>
        <p:txBody>
          <a:bodyPr>
            <a:normAutofit fontScale="90000"/>
          </a:bodyPr>
          <a:lstStyle/>
          <a:p>
            <a:r>
              <a:rPr lang="ru-RU" sz="2400" b="1" dirty="0" smtClean="0"/>
              <a:t>3. ОРГАНИЗАЦИЯ МЕНЮ</a:t>
            </a:r>
            <a:br>
              <a:rPr lang="ru-RU" sz="2400" b="1" dirty="0" smtClean="0"/>
            </a:br>
            <a:r>
              <a:rPr lang="ru-RU" sz="2400" b="1" dirty="0" smtClean="0"/>
              <a:t/>
            </a:r>
            <a:br>
              <a:rPr lang="ru-RU" sz="2400" b="1" dirty="0" smtClean="0"/>
            </a:br>
            <a:r>
              <a:rPr lang="ru-RU" sz="2400" b="1" dirty="0" smtClean="0"/>
              <a:t>3.1. Редактирование меню</a:t>
            </a:r>
            <a:endParaRPr lang="ru-RU" sz="2400" b="1" dirty="0"/>
          </a:p>
        </p:txBody>
      </p:sp>
      <p:pic>
        <p:nvPicPr>
          <p:cNvPr id="4" name="Содержимое 3" descr="Рис_3_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59632" y="2132856"/>
            <a:ext cx="6768751" cy="4176464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Задание языка</a:t>
            </a:r>
            <a:endParaRPr lang="ru-RU" sz="2400" b="1" dirty="0"/>
          </a:p>
        </p:txBody>
      </p:sp>
      <p:pic>
        <p:nvPicPr>
          <p:cNvPr id="4" name="Содержимое 3" descr="Рис_3_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91680" y="1412776"/>
            <a:ext cx="5832647" cy="4752528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Редактирование пунктов меню</a:t>
            </a:r>
            <a:endParaRPr lang="ru-RU" sz="2400" b="1" dirty="0"/>
          </a:p>
        </p:txBody>
      </p:sp>
      <p:pic>
        <p:nvPicPr>
          <p:cNvPr id="4" name="Содержимое 3" descr="Рис_3_3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31640" y="2204864"/>
            <a:ext cx="6336704" cy="3096344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3.2. Создание обработчиков пунктов меню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6021288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 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wmId</a:t>
            </a:r>
            <a:r>
              <a:rPr lang="en-US" dirty="0" smtClean="0"/>
              <a:t>, </a:t>
            </a:r>
            <a:r>
              <a:rPr lang="en-US" dirty="0" err="1" smtClean="0"/>
              <a:t>wmEvent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dirty="0" smtClean="0"/>
              <a:t>   </a:t>
            </a:r>
            <a:r>
              <a:rPr lang="en-US" dirty="0" smtClean="0"/>
              <a:t>.  .  .</a:t>
            </a:r>
            <a:endParaRPr lang="ru-RU" dirty="0" smtClean="0"/>
          </a:p>
          <a:p>
            <a:r>
              <a:rPr lang="en-US" dirty="0" smtClean="0"/>
              <a:t> 	case WM_COMMAND:</a:t>
            </a:r>
          </a:p>
          <a:p>
            <a:r>
              <a:rPr lang="en-US" dirty="0" smtClean="0"/>
              <a:t>		</a:t>
            </a:r>
            <a:r>
              <a:rPr lang="en-US" dirty="0" err="1" smtClean="0"/>
              <a:t>wmId</a:t>
            </a:r>
            <a:r>
              <a:rPr lang="en-US" dirty="0" smtClean="0"/>
              <a:t>    = LOWORD(</a:t>
            </a:r>
            <a:r>
              <a:rPr lang="en-US" dirty="0" err="1" smtClean="0"/>
              <a:t>wParam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</a:t>
            </a:r>
            <a:r>
              <a:rPr lang="en-US" dirty="0" err="1" smtClean="0"/>
              <a:t>wmEvent</a:t>
            </a:r>
            <a:r>
              <a:rPr lang="en-US" dirty="0" smtClean="0"/>
              <a:t> = HIWORD(</a:t>
            </a:r>
            <a:r>
              <a:rPr lang="en-US" dirty="0" err="1" smtClean="0"/>
              <a:t>wParam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	// Parse the menu selections:</a:t>
            </a:r>
          </a:p>
          <a:p>
            <a:r>
              <a:rPr lang="en-US" dirty="0" smtClean="0"/>
              <a:t>		switch (</a:t>
            </a:r>
            <a:r>
              <a:rPr lang="en-US" dirty="0" err="1" smtClean="0"/>
              <a:t>wmId</a:t>
            </a:r>
            <a:r>
              <a:rPr lang="en-US" dirty="0" smtClean="0"/>
              <a:t>)</a:t>
            </a:r>
          </a:p>
          <a:p>
            <a:r>
              <a:rPr lang="ru-RU" dirty="0" smtClean="0"/>
              <a:t>		{</a:t>
            </a:r>
          </a:p>
          <a:p>
            <a:r>
              <a:rPr lang="en-US" dirty="0" smtClean="0"/>
              <a:t>		case IDM_ABOUT:</a:t>
            </a:r>
          </a:p>
          <a:p>
            <a:r>
              <a:rPr lang="en-US" dirty="0" smtClean="0"/>
              <a:t>			</a:t>
            </a:r>
            <a:r>
              <a:rPr lang="en-US" dirty="0" err="1" smtClean="0"/>
              <a:t>DialogBox</a:t>
            </a:r>
            <a:r>
              <a:rPr lang="en-US" dirty="0" smtClean="0"/>
              <a:t>(</a:t>
            </a:r>
            <a:r>
              <a:rPr lang="en-US" dirty="0" err="1" smtClean="0"/>
              <a:t>hInst</a:t>
            </a:r>
            <a:r>
              <a:rPr lang="en-US" dirty="0" smtClean="0"/>
              <a:t>, MAKEINTRESOURCE(IDD_ABOUTBOX),</a:t>
            </a:r>
            <a:endParaRPr lang="ru-RU" dirty="0" smtClean="0"/>
          </a:p>
          <a:p>
            <a:r>
              <a:rPr lang="ru-RU" dirty="0" smtClean="0"/>
              <a:t> 					</a:t>
            </a:r>
            <a:r>
              <a:rPr lang="en-US" dirty="0" smtClean="0"/>
              <a:t> </a:t>
            </a:r>
            <a:r>
              <a:rPr lang="en-US" dirty="0" err="1" smtClean="0"/>
              <a:t>hWnd</a:t>
            </a:r>
            <a:r>
              <a:rPr lang="en-US" dirty="0" smtClean="0"/>
              <a:t>, About);</a:t>
            </a:r>
          </a:p>
          <a:p>
            <a:r>
              <a:rPr lang="en-US" dirty="0" smtClean="0"/>
              <a:t>			break;</a:t>
            </a:r>
          </a:p>
          <a:p>
            <a:r>
              <a:rPr lang="en-US" dirty="0" smtClean="0"/>
              <a:t>		case IDM_EXIT:</a:t>
            </a:r>
          </a:p>
          <a:p>
            <a:r>
              <a:rPr lang="en-US" dirty="0" smtClean="0"/>
              <a:t>			</a:t>
            </a:r>
            <a:r>
              <a:rPr lang="en-US" dirty="0" err="1" smtClean="0"/>
              <a:t>DestroyWindow</a:t>
            </a:r>
            <a:r>
              <a:rPr lang="en-US" dirty="0" smtClean="0"/>
              <a:t>(</a:t>
            </a:r>
            <a:r>
              <a:rPr lang="en-US" dirty="0" err="1" smtClean="0"/>
              <a:t>hWnd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	break;</a:t>
            </a:r>
          </a:p>
          <a:p>
            <a:r>
              <a:rPr lang="en-US" dirty="0" smtClean="0"/>
              <a:t>		default:</a:t>
            </a:r>
          </a:p>
          <a:p>
            <a:r>
              <a:rPr lang="en-US" dirty="0" smtClean="0"/>
              <a:t>			return </a:t>
            </a:r>
            <a:r>
              <a:rPr lang="en-US" dirty="0" err="1" smtClean="0"/>
              <a:t>DefWindowProc</a:t>
            </a:r>
            <a:r>
              <a:rPr lang="en-US" dirty="0" smtClean="0"/>
              <a:t>(</a:t>
            </a:r>
            <a:r>
              <a:rPr lang="en-US" dirty="0" err="1" smtClean="0"/>
              <a:t>hWnd</a:t>
            </a:r>
            <a:r>
              <a:rPr lang="en-US" dirty="0" smtClean="0"/>
              <a:t>, message, </a:t>
            </a:r>
            <a:r>
              <a:rPr lang="en-US" dirty="0" err="1" smtClean="0"/>
              <a:t>wParam</a:t>
            </a:r>
            <a:r>
              <a:rPr lang="en-US" dirty="0" smtClean="0"/>
              <a:t>, </a:t>
            </a:r>
            <a:endParaRPr lang="ru-RU" dirty="0" smtClean="0"/>
          </a:p>
          <a:p>
            <a:r>
              <a:rPr lang="ru-RU" dirty="0" smtClean="0"/>
              <a:t> 					</a:t>
            </a:r>
            <a:r>
              <a:rPr lang="en-US" dirty="0" err="1" smtClean="0"/>
              <a:t>lParam</a:t>
            </a:r>
            <a:r>
              <a:rPr lang="en-US" dirty="0" smtClean="0"/>
              <a:t>);</a:t>
            </a:r>
          </a:p>
          <a:p>
            <a:r>
              <a:rPr lang="ru-RU" dirty="0" smtClean="0"/>
              <a:t>		}</a:t>
            </a:r>
          </a:p>
          <a:p>
            <a:r>
              <a:rPr lang="en-US" dirty="0" smtClean="0"/>
              <a:t>		break;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Обработчики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877272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                    .  .  .</a:t>
            </a:r>
          </a:p>
          <a:p>
            <a:r>
              <a:rPr lang="en-US" dirty="0" smtClean="0"/>
              <a:t>		switch (</a:t>
            </a:r>
            <a:r>
              <a:rPr lang="en-US" dirty="0" err="1" smtClean="0"/>
              <a:t>wmId</a:t>
            </a:r>
            <a:r>
              <a:rPr lang="en-US" dirty="0" smtClean="0"/>
              <a:t>)</a:t>
            </a:r>
          </a:p>
          <a:p>
            <a:r>
              <a:rPr lang="ru-RU" dirty="0" smtClean="0"/>
              <a:t>		{</a:t>
            </a:r>
          </a:p>
          <a:p>
            <a:r>
              <a:rPr lang="en-US" dirty="0" smtClean="0"/>
              <a:t>		case IDM_RECT:</a:t>
            </a:r>
          </a:p>
          <a:p>
            <a:r>
              <a:rPr lang="en-US" dirty="0" smtClean="0"/>
              <a:t>			</a:t>
            </a:r>
            <a:r>
              <a:rPr lang="en-US" dirty="0" err="1" smtClean="0"/>
              <a:t>hdc</a:t>
            </a:r>
            <a:r>
              <a:rPr lang="en-US" dirty="0" smtClean="0"/>
              <a:t>=</a:t>
            </a:r>
            <a:r>
              <a:rPr lang="en-US" dirty="0" err="1" smtClean="0"/>
              <a:t>GetDC</a:t>
            </a:r>
            <a:r>
              <a:rPr lang="en-US" dirty="0" smtClean="0"/>
              <a:t>(</a:t>
            </a:r>
            <a:r>
              <a:rPr lang="en-US" dirty="0" err="1" smtClean="0"/>
              <a:t>hWnd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	  </a:t>
            </a:r>
            <a:r>
              <a:rPr lang="ru-RU" dirty="0" smtClean="0"/>
              <a:t>  </a:t>
            </a:r>
            <a:r>
              <a:rPr lang="en-US" dirty="0" smtClean="0"/>
              <a:t>Rectangle(hdc,100,100,250,180);</a:t>
            </a:r>
          </a:p>
          <a:p>
            <a:r>
              <a:rPr lang="en-US" dirty="0" smtClean="0"/>
              <a:t>			</a:t>
            </a:r>
            <a:r>
              <a:rPr lang="en-US" dirty="0" err="1" smtClean="0"/>
              <a:t>ReleaseDC</a:t>
            </a:r>
            <a:r>
              <a:rPr lang="en-US" dirty="0" smtClean="0"/>
              <a:t>(</a:t>
            </a:r>
            <a:r>
              <a:rPr lang="en-US" dirty="0" err="1" smtClean="0"/>
              <a:t>hWnd,hdc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	break;</a:t>
            </a:r>
          </a:p>
          <a:p>
            <a:r>
              <a:rPr lang="en-US" dirty="0" smtClean="0"/>
              <a:t>		case IDM_ELL:</a:t>
            </a:r>
          </a:p>
          <a:p>
            <a:r>
              <a:rPr lang="en-US" dirty="0" smtClean="0"/>
              <a:t>			</a:t>
            </a:r>
            <a:r>
              <a:rPr lang="en-US" dirty="0" err="1" smtClean="0"/>
              <a:t>hdc</a:t>
            </a:r>
            <a:r>
              <a:rPr lang="en-US" dirty="0" smtClean="0"/>
              <a:t>=</a:t>
            </a:r>
            <a:r>
              <a:rPr lang="en-US" dirty="0" err="1" smtClean="0"/>
              <a:t>GetDC</a:t>
            </a:r>
            <a:r>
              <a:rPr lang="en-US" dirty="0" smtClean="0"/>
              <a:t>(</a:t>
            </a:r>
            <a:r>
              <a:rPr lang="en-US" dirty="0" err="1" smtClean="0"/>
              <a:t>hWnd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	  </a:t>
            </a:r>
            <a:r>
              <a:rPr lang="ru-RU" smtClean="0"/>
              <a:t>  </a:t>
            </a:r>
            <a:r>
              <a:rPr lang="en-US" smtClean="0"/>
              <a:t>Ellipse(hdc,270,50,370,190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	</a:t>
            </a:r>
            <a:r>
              <a:rPr lang="en-US" dirty="0" err="1" smtClean="0"/>
              <a:t>ReleaseDC</a:t>
            </a:r>
            <a:r>
              <a:rPr lang="en-US" dirty="0" smtClean="0"/>
              <a:t>(</a:t>
            </a:r>
            <a:r>
              <a:rPr lang="en-US" dirty="0" err="1" smtClean="0"/>
              <a:t>hWnd,hdc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	break;</a:t>
            </a:r>
          </a:p>
          <a:p>
            <a:r>
              <a:rPr lang="en-US" dirty="0" smtClean="0"/>
              <a:t>		case IDM_ABOUT:</a:t>
            </a:r>
          </a:p>
          <a:p>
            <a:r>
              <a:rPr lang="en-US" dirty="0" smtClean="0"/>
              <a:t>			</a:t>
            </a:r>
            <a:r>
              <a:rPr lang="en-US" dirty="0" err="1" smtClean="0"/>
              <a:t>DialogBox</a:t>
            </a:r>
            <a:r>
              <a:rPr lang="en-US" dirty="0" smtClean="0"/>
              <a:t>(</a:t>
            </a:r>
            <a:r>
              <a:rPr lang="en-US" dirty="0" err="1" smtClean="0"/>
              <a:t>hInst</a:t>
            </a:r>
            <a:r>
              <a:rPr lang="en-US" dirty="0" smtClean="0"/>
              <a:t>, </a:t>
            </a:r>
            <a:endParaRPr lang="ru-RU" dirty="0" smtClean="0"/>
          </a:p>
          <a:p>
            <a:r>
              <a:rPr lang="ru-RU" dirty="0" smtClean="0"/>
              <a:t>                                     	</a:t>
            </a:r>
            <a:r>
              <a:rPr lang="en-US" dirty="0" smtClean="0"/>
              <a:t>MAKEINTRESOURCE(IDD_ABOUTBOX), </a:t>
            </a:r>
            <a:r>
              <a:rPr lang="en-US" dirty="0" err="1" smtClean="0"/>
              <a:t>hWnd</a:t>
            </a:r>
            <a:r>
              <a:rPr lang="en-US" dirty="0" smtClean="0"/>
              <a:t>, About);</a:t>
            </a:r>
          </a:p>
          <a:p>
            <a:r>
              <a:rPr lang="en-US" dirty="0" smtClean="0"/>
              <a:t>			break;</a:t>
            </a:r>
          </a:p>
          <a:p>
            <a:r>
              <a:rPr lang="ru-RU" dirty="0" smtClean="0"/>
              <a:t>                       .  .  .</a:t>
            </a:r>
            <a:endParaRPr lang="en-US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400" b="1" dirty="0" smtClean="0"/>
              <a:t>4. ДИАЛОГОВЫЕ ОКНА</a:t>
            </a:r>
            <a:br>
              <a:rPr lang="ru-RU" sz="2400" b="1" dirty="0" smtClean="0"/>
            </a:br>
            <a:r>
              <a:rPr lang="ru-RU" sz="2400" b="1" dirty="0" smtClean="0"/>
              <a:t/>
            </a:r>
            <a:br>
              <a:rPr lang="ru-RU" sz="2400" b="1" dirty="0" smtClean="0"/>
            </a:br>
            <a:r>
              <a:rPr lang="ru-RU" sz="2400" b="1" dirty="0" smtClean="0"/>
              <a:t>4.1. Создание диалогового окна</a:t>
            </a:r>
            <a:endParaRPr lang="ru-RU" sz="2400" b="1" dirty="0"/>
          </a:p>
        </p:txBody>
      </p:sp>
      <p:pic>
        <p:nvPicPr>
          <p:cNvPr id="4" name="Содержимое 3" descr="Рис_4_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19672" y="1844824"/>
            <a:ext cx="5832648" cy="4464496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Создание диалогового </a:t>
            </a:r>
            <a:r>
              <a:rPr lang="ru-RU" sz="2400" b="1" dirty="0" smtClean="0"/>
              <a:t>окна (продолжение)</a:t>
            </a:r>
            <a:endParaRPr lang="ru-RU" sz="2400" dirty="0"/>
          </a:p>
        </p:txBody>
      </p:sp>
      <p:pic>
        <p:nvPicPr>
          <p:cNvPr id="4" name="Содержимое 3" descr="Рис_4_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47664" y="1484784"/>
            <a:ext cx="6264696" cy="4824536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Диалоговое окно</a:t>
            </a:r>
            <a:endParaRPr lang="ru-RU" sz="2400" b="1" dirty="0"/>
          </a:p>
        </p:txBody>
      </p:sp>
      <p:pic>
        <p:nvPicPr>
          <p:cNvPr id="4" name="Содержимое 3" descr="Рис_4_3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71600" y="1484784"/>
            <a:ext cx="7272807" cy="4896544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Размещение элементов</a:t>
            </a:r>
            <a:endParaRPr lang="ru-RU" sz="2400" b="1" dirty="0"/>
          </a:p>
        </p:txBody>
      </p:sp>
      <p:pic>
        <p:nvPicPr>
          <p:cNvPr id="6" name="Содержимое 5" descr="Рис_4_4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15616" y="1412776"/>
            <a:ext cx="6984776" cy="4824536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4.2. Функция диалогового окна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353347"/>
          </a:xfrm>
        </p:spPr>
        <p:txBody>
          <a:bodyPr>
            <a:normAutofit/>
          </a:bodyPr>
          <a:lstStyle/>
          <a:p>
            <a:r>
              <a:rPr lang="ru-RU" sz="2000" dirty="0" smtClean="0"/>
              <a:t> </a:t>
            </a:r>
          </a:p>
          <a:p>
            <a:r>
              <a:rPr lang="ru-RU" sz="2000" dirty="0" smtClean="0"/>
              <a:t> </a:t>
            </a:r>
          </a:p>
          <a:p>
            <a:r>
              <a:rPr lang="en-US" sz="2000" dirty="0" smtClean="0"/>
              <a:t>INT_PTR </a:t>
            </a:r>
            <a:r>
              <a:rPr lang="ru-RU" sz="2000" dirty="0" smtClean="0"/>
              <a:t> </a:t>
            </a:r>
            <a:r>
              <a:rPr lang="en-US" sz="2000" dirty="0" smtClean="0"/>
              <a:t>CALLBACK </a:t>
            </a:r>
            <a:r>
              <a:rPr lang="ru-RU" sz="2000" dirty="0" smtClean="0"/>
              <a:t> </a:t>
            </a:r>
            <a:r>
              <a:rPr lang="en-US" sz="2000" dirty="0" smtClean="0"/>
              <a:t>&lt;</a:t>
            </a:r>
            <a:r>
              <a:rPr lang="ru-RU" sz="2000" dirty="0" smtClean="0"/>
              <a:t>имя функции</a:t>
            </a:r>
            <a:r>
              <a:rPr lang="en-US" sz="2000" dirty="0" smtClean="0"/>
              <a:t>&gt;(</a:t>
            </a:r>
            <a:r>
              <a:rPr lang="en-US" sz="2000" dirty="0" smtClean="0"/>
              <a:t>HWND </a:t>
            </a:r>
            <a:r>
              <a:rPr lang="en-US" sz="2000" dirty="0" err="1" smtClean="0"/>
              <a:t>hDlg</a:t>
            </a:r>
            <a:r>
              <a:rPr lang="en-US" sz="2000" dirty="0" smtClean="0"/>
              <a:t>, UINT message</a:t>
            </a:r>
            <a:r>
              <a:rPr lang="en-US" sz="2000" dirty="0" smtClean="0"/>
              <a:t>,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r>
              <a:rPr lang="ru-RU" sz="2000" dirty="0" smtClean="0"/>
              <a:t>                                                          </a:t>
            </a:r>
            <a:r>
              <a:rPr lang="en-US" sz="2000" dirty="0" smtClean="0"/>
              <a:t> </a:t>
            </a:r>
            <a:r>
              <a:rPr lang="en-US" sz="2000" dirty="0" smtClean="0"/>
              <a:t>WPARAM </a:t>
            </a:r>
            <a:r>
              <a:rPr lang="en-US" sz="2000" dirty="0" err="1" smtClean="0"/>
              <a:t>wParam</a:t>
            </a:r>
            <a:r>
              <a:rPr lang="en-US" sz="2000" dirty="0" smtClean="0"/>
              <a:t>, LPARAM </a:t>
            </a:r>
            <a:r>
              <a:rPr lang="en-US" sz="2000" dirty="0" err="1" smtClean="0"/>
              <a:t>lParam</a:t>
            </a:r>
            <a:r>
              <a:rPr lang="en-US" sz="2000" dirty="0" smtClean="0"/>
              <a:t>)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endParaRPr lang="ru-RU" sz="2000" dirty="0" smtClean="0"/>
          </a:p>
          <a:p>
            <a:r>
              <a:rPr lang="ru-RU" sz="2000" dirty="0" smtClean="0"/>
              <a:t> 	  </a:t>
            </a:r>
            <a:r>
              <a:rPr lang="en-US" sz="2000" dirty="0" smtClean="0"/>
              <a:t>return (INT_PTR) TRUE</a:t>
            </a:r>
            <a:r>
              <a:rPr lang="ru-RU" sz="2000" dirty="0" smtClean="0"/>
              <a:t>     или     </a:t>
            </a:r>
            <a:r>
              <a:rPr lang="en-US" sz="2000" dirty="0" smtClean="0"/>
              <a:t> </a:t>
            </a:r>
            <a:r>
              <a:rPr lang="en-US" sz="2000" dirty="0" smtClean="0"/>
              <a:t>return (INT_PTR) </a:t>
            </a:r>
            <a:r>
              <a:rPr lang="en-US" sz="2000" dirty="0" smtClean="0"/>
              <a:t>FALSE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r>
              <a:rPr lang="ru-RU" sz="2000" dirty="0" smtClean="0"/>
              <a:t>	</a:t>
            </a:r>
            <a:endParaRPr lang="ru-RU" sz="2000" dirty="0" smtClean="0"/>
          </a:p>
          <a:p>
            <a:endParaRPr lang="ru-RU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Получение и занесение текста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>
            <a:normAutofit/>
          </a:bodyPr>
          <a:lstStyle/>
          <a:p>
            <a:r>
              <a:rPr lang="ru-RU" sz="2000" dirty="0" smtClean="0"/>
              <a:t> </a:t>
            </a:r>
            <a:endParaRPr lang="ru-RU" sz="2000" dirty="0" smtClean="0"/>
          </a:p>
          <a:p>
            <a:r>
              <a:rPr lang="en-US" sz="2000" dirty="0" smtClean="0"/>
              <a:t>UINT </a:t>
            </a:r>
            <a:r>
              <a:rPr lang="en-US" sz="2000" dirty="0" err="1" smtClean="0"/>
              <a:t>GetDlgItemText</a:t>
            </a:r>
            <a:r>
              <a:rPr lang="en-US" sz="2000" dirty="0" smtClean="0"/>
              <a:t>(      </a:t>
            </a:r>
            <a:endParaRPr lang="ru-RU" sz="2000" dirty="0" smtClean="0"/>
          </a:p>
          <a:p>
            <a:r>
              <a:rPr lang="en-US" sz="2000" dirty="0" smtClean="0"/>
              <a:t>    HWND </a:t>
            </a:r>
            <a:r>
              <a:rPr lang="en-US" sz="2000" i="1" dirty="0" err="1" smtClean="0"/>
              <a:t>hDlg</a:t>
            </a:r>
            <a:r>
              <a:rPr lang="en-US" sz="2000" dirty="0" smtClean="0"/>
              <a:t>,     </a:t>
            </a:r>
            <a:r>
              <a:rPr lang="ru-RU" sz="2000" dirty="0" smtClean="0"/>
              <a:t>         // </a:t>
            </a:r>
            <a:r>
              <a:rPr lang="en-US" sz="2000" dirty="0" smtClean="0"/>
              <a:t>Handle to the dialog box that contains the control</a:t>
            </a:r>
            <a:endParaRPr lang="ru-RU" sz="2000" dirty="0" smtClean="0"/>
          </a:p>
          <a:p>
            <a:r>
              <a:rPr lang="ru-RU" sz="2000" dirty="0" smtClean="0"/>
              <a:t>    </a:t>
            </a:r>
            <a:r>
              <a:rPr lang="en-US" sz="2000" dirty="0" err="1" smtClean="0"/>
              <a:t>int</a:t>
            </a:r>
            <a:r>
              <a:rPr lang="en-US" sz="2000" dirty="0" smtClean="0"/>
              <a:t> </a:t>
            </a:r>
            <a:r>
              <a:rPr lang="en-US" sz="2000" i="1" dirty="0" err="1" smtClean="0"/>
              <a:t>nIDDlgItem</a:t>
            </a:r>
            <a:r>
              <a:rPr lang="en-US" sz="2000" dirty="0" smtClean="0"/>
              <a:t>,   </a:t>
            </a:r>
            <a:r>
              <a:rPr lang="ru-RU" sz="2000" dirty="0" smtClean="0"/>
              <a:t>       // </a:t>
            </a:r>
            <a:r>
              <a:rPr lang="en-US" sz="2000" dirty="0" smtClean="0"/>
              <a:t>Specifies the control with a title or text to be g</a:t>
            </a:r>
            <a:r>
              <a:rPr lang="en-US" sz="2000" dirty="0" smtClean="0"/>
              <a:t>et</a:t>
            </a:r>
            <a:r>
              <a:rPr lang="ru-RU" sz="2000" dirty="0" smtClean="0"/>
              <a:t>  </a:t>
            </a:r>
          </a:p>
          <a:p>
            <a:r>
              <a:rPr lang="ru-RU" sz="2000" dirty="0" smtClean="0"/>
              <a:t>    </a:t>
            </a:r>
            <a:r>
              <a:rPr lang="en-US" sz="2000" dirty="0" smtClean="0"/>
              <a:t>LPTSTR</a:t>
            </a:r>
            <a:r>
              <a:rPr lang="en-US" sz="2000" dirty="0" smtClean="0"/>
              <a:t> </a:t>
            </a:r>
            <a:r>
              <a:rPr lang="en-US" sz="2000" i="1" dirty="0" err="1" smtClean="0"/>
              <a:t>lpString</a:t>
            </a:r>
            <a:r>
              <a:rPr lang="en-US" sz="2000" dirty="0" smtClean="0"/>
              <a:t>,   </a:t>
            </a:r>
            <a:r>
              <a:rPr lang="ru-RU" sz="2000" dirty="0" smtClean="0"/>
              <a:t>	// </a:t>
            </a:r>
            <a:r>
              <a:rPr lang="en-US" sz="2000" dirty="0" smtClean="0"/>
              <a:t>Pointer to the buffer to receive the title or text  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r>
              <a:rPr lang="ru-RU" sz="2000" dirty="0" smtClean="0"/>
              <a:t>    </a:t>
            </a:r>
            <a:r>
              <a:rPr lang="en-US" sz="2000" dirty="0" err="1" smtClean="0"/>
              <a:t>int</a:t>
            </a:r>
            <a:r>
              <a:rPr lang="en-US" sz="2000" dirty="0" smtClean="0"/>
              <a:t> </a:t>
            </a:r>
            <a:r>
              <a:rPr lang="en-US" sz="2000" i="1" dirty="0" err="1" smtClean="0"/>
              <a:t>nMaxCount</a:t>
            </a:r>
            <a:r>
              <a:rPr lang="en-US" sz="2000" dirty="0" smtClean="0"/>
              <a:t> </a:t>
            </a:r>
            <a:r>
              <a:rPr lang="ru-RU" sz="2000" dirty="0" smtClean="0"/>
              <a:t>	// </a:t>
            </a:r>
            <a:r>
              <a:rPr lang="en-US" sz="2000" dirty="0" smtClean="0"/>
              <a:t>Specifies the maximum length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r>
              <a:rPr lang="ru-RU" sz="2000" dirty="0" smtClean="0"/>
              <a:t> </a:t>
            </a:r>
            <a:r>
              <a:rPr lang="en-US" sz="2000" dirty="0" smtClean="0"/>
              <a:t>)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endParaRPr lang="ru-RU" sz="2000" dirty="0" smtClean="0"/>
          </a:p>
          <a:p>
            <a:r>
              <a:rPr lang="en-US" sz="2000" dirty="0" smtClean="0"/>
              <a:t>BOOL</a:t>
            </a:r>
            <a:r>
              <a:rPr lang="en-US" sz="2000" dirty="0" smtClean="0"/>
              <a:t> </a:t>
            </a:r>
            <a:r>
              <a:rPr lang="en-US" sz="2000" dirty="0" err="1" smtClean="0"/>
              <a:t>SetDlgItemText</a:t>
            </a:r>
            <a:r>
              <a:rPr lang="en-US" sz="2000" dirty="0" smtClean="0"/>
              <a:t>( </a:t>
            </a:r>
            <a:endParaRPr lang="ru-RU" sz="2000" dirty="0" smtClean="0"/>
          </a:p>
          <a:p>
            <a:r>
              <a:rPr lang="en-US" sz="2000" dirty="0" smtClean="0"/>
              <a:t>    HWND </a:t>
            </a:r>
            <a:r>
              <a:rPr lang="en-US" sz="2000" i="1" dirty="0" err="1" smtClean="0"/>
              <a:t>hDlg</a:t>
            </a:r>
            <a:r>
              <a:rPr lang="en-US" sz="2000" dirty="0" smtClean="0"/>
              <a:t>,    </a:t>
            </a:r>
            <a:r>
              <a:rPr lang="ru-RU" sz="2000" dirty="0" smtClean="0"/>
              <a:t>          //</a:t>
            </a:r>
            <a:r>
              <a:rPr lang="en-US" sz="2000" dirty="0" smtClean="0"/>
              <a:t> Handle to the dialog box that contains the control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r>
              <a:rPr lang="ru-RU" sz="2000" dirty="0" smtClean="0"/>
              <a:t>   </a:t>
            </a:r>
            <a:r>
              <a:rPr lang="en-US" sz="2000" dirty="0" err="1" smtClean="0"/>
              <a:t>int</a:t>
            </a:r>
            <a:r>
              <a:rPr lang="en-US" sz="2000" dirty="0" smtClean="0"/>
              <a:t> </a:t>
            </a:r>
            <a:r>
              <a:rPr lang="en-US" sz="2000" i="1" dirty="0" err="1" smtClean="0"/>
              <a:t>nIDDlgItem</a:t>
            </a:r>
            <a:r>
              <a:rPr lang="en-US" sz="2000" dirty="0" smtClean="0"/>
              <a:t>,     </a:t>
            </a:r>
            <a:r>
              <a:rPr lang="ru-RU" sz="2000" dirty="0" smtClean="0"/>
              <a:t>	// </a:t>
            </a:r>
            <a:r>
              <a:rPr lang="en-US" sz="2000" dirty="0" smtClean="0"/>
              <a:t>Specifies the control with a title or text to be set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r>
              <a:rPr lang="ru-RU" sz="2000" dirty="0" smtClean="0"/>
              <a:t>   </a:t>
            </a:r>
            <a:r>
              <a:rPr lang="en-US" sz="2000" dirty="0" smtClean="0"/>
              <a:t>LPCTSTR</a:t>
            </a:r>
            <a:r>
              <a:rPr lang="en-US" sz="2000" dirty="0" smtClean="0"/>
              <a:t> </a:t>
            </a:r>
            <a:r>
              <a:rPr lang="en-US" sz="2000" i="1" dirty="0" err="1" smtClean="0"/>
              <a:t>lpString</a:t>
            </a:r>
            <a:r>
              <a:rPr lang="en-US" sz="2000" dirty="0" smtClean="0"/>
              <a:t> </a:t>
            </a:r>
            <a:r>
              <a:rPr lang="ru-RU" sz="2000" dirty="0" smtClean="0"/>
              <a:t>	// </a:t>
            </a:r>
            <a:r>
              <a:rPr lang="en-US" sz="2000" dirty="0" smtClean="0"/>
              <a:t>Pointer to the null-terminated string that 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r>
              <a:rPr lang="ru-RU" sz="2000" dirty="0" smtClean="0"/>
              <a:t>                                                     </a:t>
            </a:r>
            <a:r>
              <a:rPr lang="en-US" sz="2000" dirty="0" smtClean="0"/>
              <a:t>contains </a:t>
            </a:r>
            <a:r>
              <a:rPr lang="en-US" sz="2000" dirty="0" smtClean="0"/>
              <a:t>the text to be copied to the control</a:t>
            </a:r>
            <a:endParaRPr lang="ru-RU" sz="2000" dirty="0" smtClean="0"/>
          </a:p>
          <a:p>
            <a:r>
              <a:rPr lang="en-US" sz="2000" dirty="0" smtClean="0"/>
              <a:t>)</a:t>
            </a:r>
            <a:endParaRPr lang="ru-RU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Вызов диалогового окна и его закрыти</a:t>
            </a:r>
            <a:r>
              <a:rPr lang="ru-RU" sz="2400" b="1" dirty="0" smtClean="0"/>
              <a:t>е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 smtClean="0"/>
              <a:t> </a:t>
            </a:r>
          </a:p>
          <a:p>
            <a:r>
              <a:rPr lang="en-US" sz="2000" dirty="0" smtClean="0"/>
              <a:t>INT_PTR </a:t>
            </a:r>
            <a:r>
              <a:rPr lang="en-US" sz="2000" dirty="0" err="1" smtClean="0"/>
              <a:t>DialogBox</a:t>
            </a:r>
            <a:r>
              <a:rPr lang="en-US" sz="2000" dirty="0" smtClean="0"/>
              <a:t>(      </a:t>
            </a:r>
            <a:endParaRPr lang="ru-RU" sz="2000" dirty="0" smtClean="0"/>
          </a:p>
          <a:p>
            <a:r>
              <a:rPr lang="en-US" sz="2000" dirty="0" smtClean="0"/>
              <a:t>    HINSTANCE </a:t>
            </a:r>
            <a:r>
              <a:rPr lang="en-US" sz="2000" i="1" dirty="0" err="1" smtClean="0"/>
              <a:t>hInstance</a:t>
            </a:r>
            <a:r>
              <a:rPr lang="en-US" sz="2000" dirty="0" smtClean="0"/>
              <a:t>,  </a:t>
            </a:r>
            <a:r>
              <a:rPr lang="ru-RU" sz="2000" dirty="0" smtClean="0"/>
              <a:t>	// </a:t>
            </a:r>
            <a:r>
              <a:rPr lang="en-US" sz="2000" dirty="0" smtClean="0"/>
              <a:t>Handle to the </a:t>
            </a:r>
            <a:r>
              <a:rPr lang="en-US" sz="2000" dirty="0" smtClean="0"/>
              <a:t>application</a:t>
            </a:r>
            <a:r>
              <a:rPr lang="en-US" sz="2000" dirty="0" smtClean="0"/>
              <a:t>   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r>
              <a:rPr lang="ru-RU" sz="2000" dirty="0" smtClean="0"/>
              <a:t>   </a:t>
            </a:r>
            <a:r>
              <a:rPr lang="en-US" sz="2000" dirty="0" smtClean="0"/>
              <a:t>LPCTSTR</a:t>
            </a:r>
            <a:r>
              <a:rPr lang="en-US" sz="2000" dirty="0" smtClean="0"/>
              <a:t> </a:t>
            </a:r>
            <a:r>
              <a:rPr lang="en-US" sz="2000" i="1" dirty="0" err="1" smtClean="0"/>
              <a:t>lpTemplate</a:t>
            </a:r>
            <a:r>
              <a:rPr lang="en-US" sz="2000" dirty="0" smtClean="0"/>
              <a:t>,     	// Specifies the dialog box template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r>
              <a:rPr lang="ru-RU" sz="2000" dirty="0" smtClean="0"/>
              <a:t>   </a:t>
            </a:r>
            <a:r>
              <a:rPr lang="en-US" sz="2000" dirty="0" smtClean="0"/>
              <a:t>HWND</a:t>
            </a:r>
            <a:r>
              <a:rPr lang="en-US" sz="2000" dirty="0" smtClean="0"/>
              <a:t> </a:t>
            </a:r>
            <a:r>
              <a:rPr lang="en-US" sz="2000" i="1" dirty="0" err="1" smtClean="0"/>
              <a:t>hWndParent</a:t>
            </a:r>
            <a:r>
              <a:rPr lang="en-US" sz="2000" dirty="0" smtClean="0"/>
              <a:t>,     </a:t>
            </a:r>
            <a:r>
              <a:rPr lang="en-US" sz="2000" dirty="0" smtClean="0"/>
              <a:t>     // </a:t>
            </a:r>
            <a:r>
              <a:rPr lang="en-US" sz="1800" dirty="0" smtClean="0"/>
              <a:t>Handle to the window that owns the dialog box</a:t>
            </a:r>
            <a:endParaRPr lang="ru-RU" sz="1800" dirty="0" smtClean="0"/>
          </a:p>
          <a:p>
            <a:r>
              <a:rPr lang="ru-RU" sz="2000" dirty="0" smtClean="0"/>
              <a:t> </a:t>
            </a:r>
            <a:r>
              <a:rPr lang="ru-RU" sz="2000" dirty="0" smtClean="0"/>
              <a:t>   </a:t>
            </a:r>
            <a:r>
              <a:rPr lang="en-US" sz="2000" dirty="0" smtClean="0"/>
              <a:t>DLGPROC</a:t>
            </a:r>
            <a:r>
              <a:rPr lang="en-US" sz="2000" dirty="0" smtClean="0"/>
              <a:t> </a:t>
            </a:r>
            <a:r>
              <a:rPr lang="en-US" sz="2000" i="1" dirty="0" err="1" smtClean="0"/>
              <a:t>lpDialogFunc</a:t>
            </a:r>
            <a:r>
              <a:rPr lang="en-US" sz="2000" dirty="0" smtClean="0"/>
              <a:t> 	// Pointer to the dialog box procedure 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r>
              <a:rPr lang="en-US" sz="2000" dirty="0" smtClean="0"/>
              <a:t>)</a:t>
            </a:r>
          </a:p>
          <a:p>
            <a:r>
              <a:rPr lang="ru-RU" sz="2000" dirty="0" smtClean="0"/>
              <a:t> </a:t>
            </a:r>
            <a:endParaRPr lang="ru-RU" sz="2000" dirty="0" smtClean="0"/>
          </a:p>
          <a:p>
            <a:r>
              <a:rPr lang="en-US" sz="2000" dirty="0" smtClean="0"/>
              <a:t>BOOL </a:t>
            </a:r>
            <a:r>
              <a:rPr lang="en-US" sz="2000" dirty="0" err="1" smtClean="0"/>
              <a:t>EndDialog</a:t>
            </a:r>
            <a:r>
              <a:rPr lang="en-US" sz="2000" dirty="0" smtClean="0"/>
              <a:t>(      </a:t>
            </a:r>
            <a:endParaRPr lang="ru-RU" sz="2000" dirty="0" smtClean="0"/>
          </a:p>
          <a:p>
            <a:r>
              <a:rPr lang="en-US" sz="2000" dirty="0" smtClean="0"/>
              <a:t>    HWND </a:t>
            </a:r>
            <a:r>
              <a:rPr lang="en-US" sz="2000" i="1" dirty="0" err="1" smtClean="0"/>
              <a:t>hDlg</a:t>
            </a:r>
            <a:r>
              <a:rPr lang="en-US" sz="2000" dirty="0" smtClean="0"/>
              <a:t>,     </a:t>
            </a:r>
            <a:r>
              <a:rPr lang="ru-RU" sz="2000" dirty="0" smtClean="0"/>
              <a:t> 	// </a:t>
            </a:r>
            <a:r>
              <a:rPr lang="en-US" sz="2000" dirty="0" smtClean="0"/>
              <a:t>Handle to the dialog box to be destroyed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r>
              <a:rPr lang="ru-RU" sz="2000" dirty="0" smtClean="0"/>
              <a:t>   </a:t>
            </a:r>
            <a:r>
              <a:rPr lang="en-US" sz="2000" dirty="0" smtClean="0"/>
              <a:t>INT_PTR </a:t>
            </a:r>
            <a:r>
              <a:rPr lang="en-US" sz="2000" i="1" dirty="0" err="1" smtClean="0"/>
              <a:t>nResult</a:t>
            </a:r>
            <a:r>
              <a:rPr lang="en-US" sz="2000" dirty="0" smtClean="0"/>
              <a:t> </a:t>
            </a:r>
            <a:r>
              <a:rPr lang="ru-RU" sz="2000" dirty="0" smtClean="0"/>
              <a:t>	// </a:t>
            </a:r>
            <a:r>
              <a:rPr lang="en-US" sz="2000" dirty="0" smtClean="0"/>
              <a:t>The returned </a:t>
            </a:r>
            <a:r>
              <a:rPr lang="en-US" sz="2000" dirty="0" smtClean="0"/>
              <a:t>value </a:t>
            </a:r>
            <a:r>
              <a:rPr lang="en-US" sz="2000" dirty="0" smtClean="0"/>
              <a:t> </a:t>
            </a:r>
          </a:p>
          <a:p>
            <a:r>
              <a:rPr lang="en-US" sz="2000" dirty="0" smtClean="0"/>
              <a:t>)</a:t>
            </a:r>
          </a:p>
          <a:p>
            <a:endParaRPr lang="ru-RU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04664"/>
          </a:xfrm>
        </p:spPr>
        <p:txBody>
          <a:bodyPr>
            <a:normAutofit fontScale="90000"/>
          </a:bodyPr>
          <a:lstStyle/>
          <a:p>
            <a:r>
              <a:rPr lang="ru-RU" sz="2400" b="1" dirty="0" smtClean="0"/>
              <a:t>Функция диалогового окна для примера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6381328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INT_PTR </a:t>
            </a:r>
            <a:r>
              <a:rPr lang="ru-RU" dirty="0" smtClean="0"/>
              <a:t> </a:t>
            </a:r>
            <a:r>
              <a:rPr lang="en-US" dirty="0" smtClean="0"/>
              <a:t>CALLBACK </a:t>
            </a:r>
            <a:r>
              <a:rPr lang="ru-RU" dirty="0" smtClean="0"/>
              <a:t> </a:t>
            </a:r>
            <a:r>
              <a:rPr lang="en-US" dirty="0" err="1" smtClean="0"/>
              <a:t>DlgInput</a:t>
            </a:r>
            <a:r>
              <a:rPr lang="ru-RU" dirty="0" smtClean="0"/>
              <a:t> </a:t>
            </a:r>
            <a:r>
              <a:rPr lang="en-US" dirty="0" smtClean="0"/>
              <a:t>(HWND </a:t>
            </a:r>
            <a:r>
              <a:rPr lang="en-US" dirty="0" err="1" smtClean="0"/>
              <a:t>hDlg</a:t>
            </a:r>
            <a:r>
              <a:rPr lang="en-US" dirty="0" smtClean="0"/>
              <a:t>, UINT message, WPARAM </a:t>
            </a:r>
            <a:r>
              <a:rPr lang="en-US" dirty="0" err="1" smtClean="0"/>
              <a:t>wParam</a:t>
            </a:r>
            <a:r>
              <a:rPr lang="en-US" dirty="0" smtClean="0"/>
              <a:t>, 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 smtClean="0"/>
              <a:t>                                                                                                                 </a:t>
            </a:r>
            <a:r>
              <a:rPr lang="en-US" dirty="0" smtClean="0"/>
              <a:t>LPARAM </a:t>
            </a:r>
            <a:r>
              <a:rPr lang="en-US" dirty="0" err="1" smtClean="0"/>
              <a:t>lParam</a:t>
            </a:r>
            <a:r>
              <a:rPr lang="en-US" dirty="0" smtClean="0"/>
              <a:t>)</a:t>
            </a:r>
          </a:p>
          <a:p>
            <a:r>
              <a:rPr lang="ru-RU" dirty="0" smtClean="0"/>
              <a:t>{</a:t>
            </a:r>
          </a:p>
          <a:p>
            <a:r>
              <a:rPr lang="en-US" dirty="0" smtClean="0"/>
              <a:t>	switch (message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</a:p>
          <a:p>
            <a:pPr lvl="1">
              <a:buNone/>
            </a:pPr>
            <a:r>
              <a:rPr lang="ru-RU" dirty="0" smtClean="0"/>
              <a:t> </a:t>
            </a:r>
            <a:r>
              <a:rPr lang="ru-RU" dirty="0" smtClean="0"/>
              <a:t>	    {</a:t>
            </a:r>
            <a:endParaRPr lang="ru-RU" dirty="0" smtClean="0"/>
          </a:p>
          <a:p>
            <a:r>
              <a:rPr lang="en-US" dirty="0" smtClean="0"/>
              <a:t>	case WM_INITDIALOG:</a:t>
            </a:r>
          </a:p>
          <a:p>
            <a:r>
              <a:rPr lang="en-US" dirty="0" smtClean="0"/>
              <a:t>		return (INT_PTR)TRUE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en-US" dirty="0" smtClean="0"/>
              <a:t>	case WM_COMMAND:</a:t>
            </a:r>
          </a:p>
          <a:p>
            <a:r>
              <a:rPr lang="en-US" dirty="0" smtClean="0"/>
              <a:t>		switch(LOWORD(</a:t>
            </a:r>
            <a:r>
              <a:rPr lang="en-US" dirty="0" err="1" smtClean="0"/>
              <a:t>wParam</a:t>
            </a:r>
            <a:r>
              <a:rPr lang="en-US" dirty="0" smtClean="0"/>
              <a:t>))</a:t>
            </a:r>
          </a:p>
          <a:p>
            <a:r>
              <a:rPr lang="ru-RU" dirty="0" smtClean="0"/>
              <a:t>		{</a:t>
            </a:r>
          </a:p>
          <a:p>
            <a:r>
              <a:rPr lang="en-US" dirty="0" smtClean="0"/>
              <a:t>		case IDOK:</a:t>
            </a:r>
          </a:p>
          <a:p>
            <a:r>
              <a:rPr lang="en-US" dirty="0" smtClean="0"/>
              <a:t>			</a:t>
            </a:r>
            <a:r>
              <a:rPr lang="en-US" dirty="0" err="1" smtClean="0"/>
              <a:t>GetDlgItemText</a:t>
            </a:r>
            <a:r>
              <a:rPr lang="ru-RU" dirty="0" smtClean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hDlg</a:t>
            </a:r>
            <a:r>
              <a:rPr lang="en-US" dirty="0" smtClean="0"/>
              <a:t>,</a:t>
            </a:r>
            <a:r>
              <a:rPr lang="ru-RU" dirty="0" smtClean="0"/>
              <a:t> </a:t>
            </a:r>
            <a:r>
              <a:rPr lang="en-US" dirty="0" smtClean="0"/>
              <a:t>IDC_X,</a:t>
            </a:r>
            <a:r>
              <a:rPr lang="ru-RU" dirty="0" smtClean="0"/>
              <a:t> </a:t>
            </a:r>
            <a:r>
              <a:rPr lang="en-US" dirty="0" err="1" smtClean="0"/>
              <a:t>bufX</a:t>
            </a:r>
            <a:r>
              <a:rPr lang="en-US" dirty="0" smtClean="0"/>
              <a:t>,</a:t>
            </a:r>
            <a:r>
              <a:rPr lang="ru-RU" dirty="0" smtClean="0"/>
              <a:t> </a:t>
            </a:r>
            <a:r>
              <a:rPr lang="en-US" dirty="0" smtClean="0"/>
              <a:t>4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	</a:t>
            </a:r>
            <a:r>
              <a:rPr lang="en-US" dirty="0" err="1" smtClean="0"/>
              <a:t>GetDlgItemText</a:t>
            </a:r>
            <a:r>
              <a:rPr lang="ru-RU" dirty="0" smtClean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hDlg</a:t>
            </a:r>
            <a:r>
              <a:rPr lang="en-US" dirty="0" smtClean="0"/>
              <a:t>,</a:t>
            </a:r>
            <a:r>
              <a:rPr lang="ru-RU" dirty="0" smtClean="0"/>
              <a:t> </a:t>
            </a:r>
            <a:r>
              <a:rPr lang="en-US" dirty="0" smtClean="0"/>
              <a:t>IDC_Y,</a:t>
            </a:r>
            <a:r>
              <a:rPr lang="ru-RU" dirty="0" smtClean="0"/>
              <a:t> </a:t>
            </a:r>
            <a:r>
              <a:rPr lang="en-US" dirty="0" err="1" smtClean="0"/>
              <a:t>bufY</a:t>
            </a:r>
            <a:r>
              <a:rPr lang="en-US" dirty="0" smtClean="0"/>
              <a:t>,</a:t>
            </a:r>
            <a:r>
              <a:rPr lang="ru-RU" dirty="0" smtClean="0"/>
              <a:t> </a:t>
            </a:r>
            <a:r>
              <a:rPr lang="en-US" dirty="0" smtClean="0"/>
              <a:t>4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	</a:t>
            </a:r>
            <a:r>
              <a:rPr lang="en-US" dirty="0" err="1" smtClean="0"/>
              <a:t>EndDialog</a:t>
            </a:r>
            <a:r>
              <a:rPr lang="en-US" dirty="0" smtClean="0"/>
              <a:t>(</a:t>
            </a:r>
            <a:r>
              <a:rPr lang="en-US" dirty="0" err="1" smtClean="0"/>
              <a:t>hDlg</a:t>
            </a:r>
            <a:r>
              <a:rPr lang="en-US" dirty="0" smtClean="0"/>
              <a:t>, 1);</a:t>
            </a:r>
          </a:p>
          <a:p>
            <a:r>
              <a:rPr lang="en-US" dirty="0" smtClean="0"/>
              <a:t>			break;</a:t>
            </a:r>
          </a:p>
          <a:p>
            <a:r>
              <a:rPr lang="en-US" dirty="0" smtClean="0"/>
              <a:t>		case IDCANCEL:</a:t>
            </a:r>
          </a:p>
          <a:p>
            <a:r>
              <a:rPr lang="en-US" dirty="0" smtClean="0"/>
              <a:t>			</a:t>
            </a:r>
            <a:r>
              <a:rPr lang="en-US" dirty="0" err="1" smtClean="0"/>
              <a:t>EndDialog</a:t>
            </a:r>
            <a:r>
              <a:rPr lang="en-US" dirty="0" smtClean="0"/>
              <a:t>(</a:t>
            </a:r>
            <a:r>
              <a:rPr lang="en-US" dirty="0" err="1" smtClean="0"/>
              <a:t>hDlg</a:t>
            </a:r>
            <a:r>
              <a:rPr lang="en-US" dirty="0" smtClean="0"/>
              <a:t>, 0);</a:t>
            </a:r>
          </a:p>
          <a:p>
            <a:r>
              <a:rPr lang="en-US" dirty="0" smtClean="0"/>
              <a:t>			break;</a:t>
            </a:r>
          </a:p>
          <a:p>
            <a:r>
              <a:rPr lang="ru-RU" dirty="0" smtClean="0"/>
              <a:t>		}</a:t>
            </a:r>
          </a:p>
          <a:p>
            <a:r>
              <a:rPr lang="en-US" dirty="0" smtClean="0"/>
              <a:t>		return (INT_PTR)TRUE;</a:t>
            </a:r>
          </a:p>
          <a:p>
            <a:r>
              <a:rPr lang="ru-RU" dirty="0" smtClean="0"/>
              <a:t>	}</a:t>
            </a:r>
          </a:p>
          <a:p>
            <a:r>
              <a:rPr lang="en-US" dirty="0" smtClean="0"/>
              <a:t>	return (INT_PTR)FALSE;</a:t>
            </a:r>
          </a:p>
          <a:p>
            <a:r>
              <a:rPr lang="ru-RU" dirty="0" smtClean="0"/>
              <a:t>}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Фрагменты программы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 smtClean="0"/>
              <a:t> </a:t>
            </a:r>
          </a:p>
          <a:p>
            <a:r>
              <a:rPr lang="ru-RU" sz="2000" dirty="0" smtClean="0"/>
              <a:t> </a:t>
            </a:r>
            <a:endParaRPr lang="ru-RU" sz="2000" dirty="0" smtClean="0"/>
          </a:p>
          <a:p>
            <a:r>
              <a:rPr lang="en-US" sz="2000" dirty="0" smtClean="0"/>
              <a:t>TCHAR </a:t>
            </a:r>
            <a:r>
              <a:rPr lang="en-US" sz="2000" dirty="0" err="1" smtClean="0"/>
              <a:t>bufX</a:t>
            </a:r>
            <a:r>
              <a:rPr lang="en-US" sz="2000" dirty="0" smtClean="0"/>
              <a:t>[5];</a:t>
            </a:r>
          </a:p>
          <a:p>
            <a:r>
              <a:rPr lang="en-US" sz="2000" dirty="0" smtClean="0"/>
              <a:t>TCHAR </a:t>
            </a:r>
            <a:r>
              <a:rPr lang="en-US" sz="2000" dirty="0" err="1" smtClean="0"/>
              <a:t>bufY</a:t>
            </a:r>
            <a:r>
              <a:rPr lang="en-US" sz="2000" dirty="0" smtClean="0"/>
              <a:t>[5];</a:t>
            </a:r>
          </a:p>
          <a:p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 err="1" smtClean="0"/>
              <a:t>PrInput</a:t>
            </a:r>
            <a:r>
              <a:rPr lang="en-US" sz="2000" dirty="0" smtClean="0"/>
              <a:t>=0;</a:t>
            </a:r>
          </a:p>
          <a:p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 err="1" smtClean="0"/>
              <a:t>x,y</a:t>
            </a:r>
            <a:r>
              <a:rPr lang="en-US" sz="2000" dirty="0" smtClean="0"/>
              <a:t>;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endParaRPr lang="ru-RU" sz="2000" dirty="0" smtClean="0"/>
          </a:p>
          <a:p>
            <a:r>
              <a:rPr lang="ru-RU" sz="2000" dirty="0" smtClean="0"/>
              <a:t> </a:t>
            </a:r>
          </a:p>
          <a:p>
            <a:r>
              <a:rPr lang="ru-RU" sz="2000" dirty="0" smtClean="0"/>
              <a:t> </a:t>
            </a:r>
            <a:endParaRPr lang="ru-RU" sz="2000" dirty="0" smtClean="0"/>
          </a:p>
          <a:p>
            <a:r>
              <a:rPr lang="en-US" sz="2000" dirty="0" smtClean="0"/>
              <a:t>INT_PTR CALLBACK	</a:t>
            </a:r>
            <a:r>
              <a:rPr lang="en-US" sz="2000" dirty="0" err="1" smtClean="0"/>
              <a:t>DlgInput</a:t>
            </a:r>
            <a:r>
              <a:rPr lang="en-US" sz="2000" dirty="0" smtClean="0"/>
              <a:t>(HWND </a:t>
            </a:r>
            <a:r>
              <a:rPr lang="en-US" sz="2000" dirty="0" err="1" smtClean="0"/>
              <a:t>hDlg</a:t>
            </a:r>
            <a:r>
              <a:rPr lang="en-US" sz="2000" dirty="0" smtClean="0"/>
              <a:t>, UINT message, 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r>
              <a:rPr lang="ru-RU" sz="2000" dirty="0" smtClean="0"/>
              <a:t> 				    </a:t>
            </a:r>
            <a:r>
              <a:rPr lang="en-US" sz="2000" dirty="0" smtClean="0"/>
              <a:t>WPARAM </a:t>
            </a:r>
            <a:r>
              <a:rPr lang="en-US" sz="2000" dirty="0" err="1" smtClean="0"/>
              <a:t>wParam</a:t>
            </a:r>
            <a:r>
              <a:rPr lang="en-US" sz="2000" dirty="0" smtClean="0"/>
              <a:t>, LPARAM </a:t>
            </a:r>
            <a:r>
              <a:rPr lang="en-US" sz="2000" dirty="0" err="1" smtClean="0"/>
              <a:t>lParam</a:t>
            </a:r>
            <a:r>
              <a:rPr lang="en-US" sz="2000" dirty="0" smtClean="0"/>
              <a:t>);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Фрагменты </a:t>
            </a:r>
            <a:r>
              <a:rPr lang="ru-RU" sz="2400" b="1" dirty="0" smtClean="0"/>
              <a:t>программы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	</a:t>
            </a:r>
            <a:r>
              <a:rPr lang="en-US" dirty="0" smtClean="0"/>
              <a:t>case </a:t>
            </a:r>
            <a:r>
              <a:rPr lang="en-US" dirty="0" smtClean="0"/>
              <a:t>IDM_INP</a:t>
            </a:r>
            <a:r>
              <a:rPr lang="en-US" dirty="0" smtClean="0"/>
              <a:t>:</a:t>
            </a:r>
            <a:r>
              <a:rPr lang="ru-RU" dirty="0" smtClean="0"/>
              <a:t>		</a:t>
            </a:r>
            <a:endParaRPr lang="en-US" dirty="0" smtClean="0"/>
          </a:p>
          <a:p>
            <a:r>
              <a:rPr lang="en-US" dirty="0" smtClean="0"/>
              <a:t>		</a:t>
            </a:r>
            <a:r>
              <a:rPr lang="en-US" dirty="0" err="1" smtClean="0"/>
              <a:t>PrInput</a:t>
            </a:r>
            <a:r>
              <a:rPr lang="en-US" dirty="0" smtClean="0"/>
              <a:t>=</a:t>
            </a:r>
            <a:r>
              <a:rPr lang="en-US" dirty="0" err="1" smtClean="0"/>
              <a:t>DialogBox</a:t>
            </a:r>
            <a:r>
              <a:rPr lang="en-US" dirty="0" smtClean="0"/>
              <a:t>(</a:t>
            </a:r>
            <a:r>
              <a:rPr lang="en-US" dirty="0" err="1" smtClean="0"/>
              <a:t>hInst</a:t>
            </a:r>
            <a:r>
              <a:rPr lang="en-US" dirty="0" smtClean="0"/>
              <a:t>, 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 smtClean="0"/>
              <a:t>                                         </a:t>
            </a:r>
            <a:r>
              <a:rPr lang="en-US" dirty="0" smtClean="0"/>
              <a:t>MAKEINTRESOURCE(IDD_INPUT</a:t>
            </a:r>
            <a:r>
              <a:rPr lang="en-US" dirty="0" smtClean="0"/>
              <a:t>), </a:t>
            </a:r>
            <a:r>
              <a:rPr lang="en-US" dirty="0" err="1" smtClean="0"/>
              <a:t>hWnd</a:t>
            </a:r>
            <a:r>
              <a:rPr lang="en-US" dirty="0" smtClean="0"/>
              <a:t>, </a:t>
            </a:r>
            <a:r>
              <a:rPr lang="en-US" dirty="0" err="1" smtClean="0"/>
              <a:t>DlgInput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</a:t>
            </a:r>
            <a:r>
              <a:rPr lang="en-US" dirty="0" smtClean="0"/>
              <a:t>if(</a:t>
            </a:r>
            <a:r>
              <a:rPr lang="en-US" dirty="0" err="1" smtClean="0"/>
              <a:t>PrInput</a:t>
            </a:r>
            <a:r>
              <a:rPr lang="en-US" dirty="0" smtClean="0"/>
              <a:t>)</a:t>
            </a:r>
          </a:p>
          <a:p>
            <a:r>
              <a:rPr lang="ru-RU" dirty="0" smtClean="0"/>
              <a:t>		</a:t>
            </a:r>
            <a:r>
              <a:rPr lang="ru-RU" dirty="0" smtClean="0"/>
              <a:t>{</a:t>
            </a:r>
            <a:endParaRPr lang="ru-RU" dirty="0" smtClean="0"/>
          </a:p>
          <a:p>
            <a:r>
              <a:rPr lang="en-US" dirty="0" smtClean="0"/>
              <a:t>			x=_</a:t>
            </a:r>
            <a:r>
              <a:rPr lang="en-US" dirty="0" err="1" smtClean="0"/>
              <a:t>wtoi</a:t>
            </a:r>
            <a:r>
              <a:rPr lang="en-US" dirty="0" smtClean="0"/>
              <a:t>(</a:t>
            </a:r>
            <a:r>
              <a:rPr lang="en-US" dirty="0" err="1" smtClean="0"/>
              <a:t>bufX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	y=_</a:t>
            </a:r>
            <a:r>
              <a:rPr lang="en-US" dirty="0" err="1" smtClean="0"/>
              <a:t>wtoi</a:t>
            </a:r>
            <a:r>
              <a:rPr lang="en-US" dirty="0" smtClean="0"/>
              <a:t>(</a:t>
            </a:r>
            <a:r>
              <a:rPr lang="en-US" dirty="0" err="1" smtClean="0"/>
              <a:t>bufY</a:t>
            </a:r>
            <a:r>
              <a:rPr lang="en-US" dirty="0" smtClean="0"/>
              <a:t>);</a:t>
            </a:r>
          </a:p>
          <a:p>
            <a:r>
              <a:rPr lang="ru-RU" dirty="0" smtClean="0"/>
              <a:t>		</a:t>
            </a:r>
            <a:r>
              <a:rPr lang="ru-RU" dirty="0" smtClean="0"/>
              <a:t>}</a:t>
            </a:r>
            <a:endParaRPr lang="ru-RU" dirty="0" smtClean="0"/>
          </a:p>
          <a:p>
            <a:r>
              <a:rPr lang="en-US" dirty="0" smtClean="0"/>
              <a:t>		</a:t>
            </a:r>
            <a:r>
              <a:rPr lang="en-US" dirty="0" smtClean="0"/>
              <a:t>break</a:t>
            </a:r>
            <a:r>
              <a:rPr lang="en-US" dirty="0" smtClean="0"/>
              <a:t>;</a:t>
            </a:r>
          </a:p>
          <a:p>
            <a:r>
              <a:rPr lang="en-US" dirty="0" smtClean="0"/>
              <a:t>	</a:t>
            </a:r>
            <a:r>
              <a:rPr lang="en-US" dirty="0" smtClean="0"/>
              <a:t>case </a:t>
            </a:r>
            <a:r>
              <a:rPr lang="en-US" dirty="0" smtClean="0"/>
              <a:t>IDM_RECT</a:t>
            </a:r>
            <a:r>
              <a:rPr lang="en-US" dirty="0" smtClean="0"/>
              <a:t>:</a:t>
            </a:r>
            <a:r>
              <a:rPr lang="ru-RU" dirty="0" smtClean="0"/>
              <a:t>		</a:t>
            </a:r>
            <a:endParaRPr lang="en-US" dirty="0" smtClean="0"/>
          </a:p>
          <a:p>
            <a:r>
              <a:rPr lang="en-US" dirty="0" smtClean="0"/>
              <a:t>		</a:t>
            </a:r>
            <a:r>
              <a:rPr lang="en-US" dirty="0" err="1" smtClean="0"/>
              <a:t>hdc</a:t>
            </a:r>
            <a:r>
              <a:rPr lang="en-US" dirty="0" smtClean="0"/>
              <a:t>=</a:t>
            </a:r>
            <a:r>
              <a:rPr lang="en-US" dirty="0" err="1" smtClean="0"/>
              <a:t>GetDC</a:t>
            </a:r>
            <a:r>
              <a:rPr lang="en-US" dirty="0" smtClean="0"/>
              <a:t>(</a:t>
            </a:r>
            <a:r>
              <a:rPr lang="en-US" dirty="0" err="1" smtClean="0"/>
              <a:t>hWnd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</a:t>
            </a:r>
            <a:r>
              <a:rPr lang="ru-RU" dirty="0" smtClean="0"/>
              <a:t>  </a:t>
            </a:r>
            <a:r>
              <a:rPr lang="en-US" dirty="0" smtClean="0"/>
              <a:t>  </a:t>
            </a:r>
            <a:r>
              <a:rPr lang="en-US" dirty="0" smtClean="0"/>
              <a:t>if(</a:t>
            </a:r>
            <a:r>
              <a:rPr lang="en-US" dirty="0" err="1" smtClean="0"/>
              <a:t>PrInput</a:t>
            </a:r>
            <a:r>
              <a:rPr lang="en-US" dirty="0" smtClean="0"/>
              <a:t>)</a:t>
            </a:r>
          </a:p>
          <a:p>
            <a:r>
              <a:rPr lang="en-US" dirty="0" smtClean="0"/>
              <a:t>		</a:t>
            </a:r>
            <a:r>
              <a:rPr lang="en-US" dirty="0" smtClean="0"/>
              <a:t> </a:t>
            </a:r>
            <a:r>
              <a:rPr lang="ru-RU" dirty="0" smtClean="0"/>
              <a:t>     </a:t>
            </a:r>
            <a:r>
              <a:rPr lang="en-US" dirty="0" smtClean="0"/>
              <a:t>    </a:t>
            </a:r>
            <a:r>
              <a:rPr lang="en-US" dirty="0" smtClean="0"/>
              <a:t>Rectangle(hdc,x,y,x+150,y+100);</a:t>
            </a:r>
          </a:p>
          <a:p>
            <a:r>
              <a:rPr lang="en-US" dirty="0" smtClean="0"/>
              <a:t>		</a:t>
            </a:r>
            <a:r>
              <a:rPr lang="en-US" dirty="0" err="1" smtClean="0"/>
              <a:t>ReleaseDC</a:t>
            </a:r>
            <a:r>
              <a:rPr lang="en-US" dirty="0" smtClean="0"/>
              <a:t>(</a:t>
            </a:r>
            <a:r>
              <a:rPr lang="en-US" dirty="0" err="1" smtClean="0"/>
              <a:t>hWnd,hdc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	</a:t>
            </a:r>
            <a:r>
              <a:rPr lang="en-US" dirty="0" smtClean="0"/>
              <a:t>break</a:t>
            </a:r>
            <a:r>
              <a:rPr lang="en-US" dirty="0" smtClean="0"/>
              <a:t>;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930226"/>
          </a:xfrm>
        </p:spPr>
        <p:txBody>
          <a:bodyPr>
            <a:normAutofit/>
          </a:bodyPr>
          <a:lstStyle/>
          <a:p>
            <a:r>
              <a:rPr lang="ru-RU" sz="2800" b="1" dirty="0" smtClean="0"/>
              <a:t>5. Диалоговые окна открытия и сохранения файлов</a:t>
            </a:r>
            <a:br>
              <a:rPr lang="ru-RU" sz="2800" b="1" dirty="0" smtClean="0"/>
            </a:br>
            <a:r>
              <a:rPr lang="ru-RU" sz="2800" b="1" dirty="0" smtClean="0"/>
              <a:t/>
            </a:r>
            <a:br>
              <a:rPr lang="ru-RU" sz="2800" b="1" dirty="0" smtClean="0"/>
            </a:br>
            <a:r>
              <a:rPr lang="ru-RU" sz="2800" b="1" dirty="0" smtClean="0"/>
              <a:t>5.1. Функции</a:t>
            </a:r>
            <a:endParaRPr lang="ru-RU" sz="28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1584176"/>
          </a:xfrm>
        </p:spPr>
        <p:txBody>
          <a:bodyPr/>
          <a:lstStyle/>
          <a:p>
            <a:r>
              <a:rPr lang="en-US" sz="2400" dirty="0" smtClean="0"/>
              <a:t>BOOL </a:t>
            </a:r>
            <a:r>
              <a:rPr lang="en-US" sz="2400" dirty="0" err="1" smtClean="0"/>
              <a:t>GetOpenFileName</a:t>
            </a:r>
            <a:r>
              <a:rPr lang="ru-RU" sz="2400" dirty="0" smtClean="0"/>
              <a:t> </a:t>
            </a:r>
            <a:r>
              <a:rPr lang="en-US" sz="2400" dirty="0" smtClean="0"/>
              <a:t>(LPOPENFILENAME</a:t>
            </a:r>
            <a:r>
              <a:rPr lang="ru-RU" sz="2400" dirty="0" smtClean="0"/>
              <a:t> </a:t>
            </a:r>
            <a:r>
              <a:rPr lang="en-US" sz="2400" dirty="0" smtClean="0"/>
              <a:t> </a:t>
            </a:r>
            <a:r>
              <a:rPr lang="en-US" sz="2400" i="1" dirty="0" err="1" smtClean="0"/>
              <a:t>lpofn</a:t>
            </a:r>
            <a:r>
              <a:rPr lang="en-US" sz="2400" dirty="0" smtClean="0"/>
              <a:t> </a:t>
            </a:r>
            <a:r>
              <a:rPr lang="en-US" sz="2400" dirty="0" smtClean="0"/>
              <a:t>)</a:t>
            </a:r>
            <a:endParaRPr lang="ru-RU" sz="2400" dirty="0" smtClean="0"/>
          </a:p>
          <a:p>
            <a:r>
              <a:rPr lang="ru-RU" sz="2400" dirty="0" smtClean="0"/>
              <a:t> </a:t>
            </a:r>
            <a:r>
              <a:rPr lang="ru-RU" sz="2400" dirty="0" smtClean="0"/>
              <a:t> </a:t>
            </a:r>
          </a:p>
          <a:p>
            <a:r>
              <a:rPr lang="en-US" sz="2400" dirty="0" smtClean="0"/>
              <a:t>BOOL </a:t>
            </a:r>
            <a:r>
              <a:rPr lang="en-US" sz="2400" dirty="0" err="1" smtClean="0"/>
              <a:t>GetSaveFileName</a:t>
            </a:r>
            <a:r>
              <a:rPr lang="ru-RU" sz="2400" dirty="0" smtClean="0"/>
              <a:t> </a:t>
            </a:r>
            <a:r>
              <a:rPr lang="en-US" sz="2400" dirty="0" smtClean="0"/>
              <a:t>(LPOPENFILENAME</a:t>
            </a:r>
            <a:r>
              <a:rPr lang="en-US" sz="2400" dirty="0" smtClean="0"/>
              <a:t> </a:t>
            </a:r>
            <a:r>
              <a:rPr lang="ru-RU" sz="2400" dirty="0" smtClean="0"/>
              <a:t> </a:t>
            </a:r>
            <a:r>
              <a:rPr lang="en-US" sz="2400" i="1" dirty="0" err="1" smtClean="0"/>
              <a:t>lpofn</a:t>
            </a:r>
            <a:r>
              <a:rPr lang="en-US" sz="2400" dirty="0" smtClean="0"/>
              <a:t> )</a:t>
            </a:r>
            <a:endParaRPr lang="en-US" sz="2400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Структура </a:t>
            </a:r>
            <a:r>
              <a:rPr lang="en-US" sz="2400" b="1" dirty="0" smtClean="0"/>
              <a:t>OPENFILENAME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425355"/>
          </a:xfrm>
        </p:spPr>
        <p:txBody>
          <a:bodyPr>
            <a:normAutofit/>
          </a:bodyPr>
          <a:lstStyle/>
          <a:p>
            <a:r>
              <a:rPr lang="en-US" sz="2000" dirty="0" err="1" smtClean="0"/>
              <a:t>typedef</a:t>
            </a:r>
            <a:r>
              <a:rPr lang="en-US" sz="2000" dirty="0" smtClean="0"/>
              <a:t> </a:t>
            </a:r>
            <a:r>
              <a:rPr lang="en-US" sz="2000" dirty="0" err="1" smtClean="0"/>
              <a:t>struct</a:t>
            </a:r>
            <a:r>
              <a:rPr lang="en-US" sz="2000" dirty="0" smtClean="0"/>
              <a:t> </a:t>
            </a:r>
            <a:r>
              <a:rPr lang="en-US" sz="2000" dirty="0" err="1" smtClean="0"/>
              <a:t>tagOFN</a:t>
            </a:r>
            <a:r>
              <a:rPr lang="en-US" sz="2000" dirty="0" smtClean="0"/>
              <a:t> </a:t>
            </a:r>
            <a:endParaRPr lang="ru-RU" sz="2000" dirty="0" smtClean="0"/>
          </a:p>
          <a:p>
            <a:r>
              <a:rPr lang="en-US" sz="2000" dirty="0" smtClean="0"/>
              <a:t>{</a:t>
            </a:r>
            <a:endParaRPr lang="ru-RU" sz="2000" dirty="0" smtClean="0"/>
          </a:p>
          <a:p>
            <a:r>
              <a:rPr lang="en-US" sz="2000" dirty="0" smtClean="0"/>
              <a:t> </a:t>
            </a:r>
            <a:r>
              <a:rPr lang="ru-RU" sz="2000" dirty="0" smtClean="0"/>
              <a:t>   </a:t>
            </a:r>
            <a:r>
              <a:rPr lang="en-US" sz="2000" dirty="0" smtClean="0"/>
              <a:t>DWORD </a:t>
            </a:r>
            <a:r>
              <a:rPr lang="en-US" sz="2000" dirty="0" err="1" smtClean="0"/>
              <a:t>lStructSize</a:t>
            </a:r>
            <a:r>
              <a:rPr lang="en-US" sz="2000" dirty="0" smtClean="0"/>
              <a:t>; </a:t>
            </a:r>
            <a:endParaRPr lang="ru-RU" sz="2000" dirty="0" smtClean="0"/>
          </a:p>
          <a:p>
            <a:r>
              <a:rPr lang="ru-RU" sz="2000" dirty="0" smtClean="0"/>
              <a:t>    </a:t>
            </a:r>
            <a:r>
              <a:rPr lang="en-US" sz="2000" dirty="0" smtClean="0"/>
              <a:t>LPCTSTR </a:t>
            </a:r>
            <a:r>
              <a:rPr lang="en-US" sz="2000" dirty="0" err="1" smtClean="0"/>
              <a:t>lpstrFilter</a:t>
            </a:r>
            <a:r>
              <a:rPr lang="en-US" sz="2000" dirty="0" smtClean="0"/>
              <a:t>; </a:t>
            </a:r>
            <a:endParaRPr lang="ru-RU" sz="2000" dirty="0" smtClean="0"/>
          </a:p>
          <a:p>
            <a:r>
              <a:rPr lang="ru-RU" sz="2000" dirty="0" smtClean="0"/>
              <a:t>    </a:t>
            </a:r>
            <a:r>
              <a:rPr lang="en-US" sz="2000" dirty="0" smtClean="0"/>
              <a:t>DWORD </a:t>
            </a:r>
            <a:r>
              <a:rPr lang="en-US" sz="2000" dirty="0" err="1" smtClean="0"/>
              <a:t>nFilterIndex</a:t>
            </a:r>
            <a:r>
              <a:rPr lang="en-US" sz="2000" dirty="0" smtClean="0"/>
              <a:t>; </a:t>
            </a:r>
            <a:r>
              <a:rPr lang="ru-RU" sz="2000" dirty="0" smtClean="0"/>
              <a:t>   	</a:t>
            </a:r>
          </a:p>
          <a:p>
            <a:r>
              <a:rPr lang="ru-RU" sz="2000" dirty="0" smtClean="0"/>
              <a:t>    </a:t>
            </a:r>
            <a:r>
              <a:rPr lang="en-US" sz="2000" dirty="0" smtClean="0"/>
              <a:t>LPTSTR </a:t>
            </a:r>
            <a:r>
              <a:rPr lang="en-US" sz="2000" dirty="0" err="1" smtClean="0"/>
              <a:t>lpstrFile</a:t>
            </a:r>
            <a:r>
              <a:rPr lang="en-US" sz="2000" dirty="0" smtClean="0"/>
              <a:t>; </a:t>
            </a:r>
            <a:endParaRPr lang="ru-RU" sz="2000" dirty="0" smtClean="0"/>
          </a:p>
          <a:p>
            <a:r>
              <a:rPr lang="ru-RU" sz="2000" dirty="0" smtClean="0"/>
              <a:t>    </a:t>
            </a:r>
            <a:r>
              <a:rPr lang="en-US" sz="2000" dirty="0" smtClean="0"/>
              <a:t>DWORD </a:t>
            </a:r>
            <a:r>
              <a:rPr lang="en-US" sz="2000" dirty="0" err="1" smtClean="0"/>
              <a:t>nMaxFile</a:t>
            </a:r>
            <a:r>
              <a:rPr lang="en-US" sz="2000" dirty="0" smtClean="0"/>
              <a:t>; </a:t>
            </a:r>
            <a:endParaRPr lang="ru-RU" sz="2000" dirty="0" smtClean="0"/>
          </a:p>
          <a:p>
            <a:r>
              <a:rPr lang="ru-RU" sz="2000" dirty="0" smtClean="0"/>
              <a:t>    </a:t>
            </a:r>
            <a:r>
              <a:rPr lang="en-US" sz="2000" dirty="0" smtClean="0"/>
              <a:t>LPCTSTR </a:t>
            </a:r>
            <a:r>
              <a:rPr lang="en-US" sz="2000" dirty="0" err="1" smtClean="0"/>
              <a:t>lpstrInitialDir</a:t>
            </a:r>
            <a:r>
              <a:rPr lang="en-US" sz="2000" dirty="0" smtClean="0"/>
              <a:t>; 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r>
              <a:rPr lang="ru-RU" sz="2000" dirty="0" smtClean="0"/>
              <a:t>       .  .  .			</a:t>
            </a:r>
          </a:p>
          <a:p>
            <a:r>
              <a:rPr lang="en-US" sz="2000" dirty="0" smtClean="0"/>
              <a:t>} </a:t>
            </a:r>
            <a:r>
              <a:rPr lang="en-US" sz="2000" dirty="0" smtClean="0"/>
              <a:t>OPENFILENAME, *LPOPENFILENAME;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5.2. Пример</a:t>
            </a: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949280"/>
          </a:xfrm>
        </p:spPr>
        <p:txBody>
          <a:bodyPr>
            <a:normAutofit lnSpcReduction="10000"/>
          </a:bodyPr>
          <a:lstStyle/>
          <a:p>
            <a:r>
              <a:rPr lang="ru-RU" sz="2000" dirty="0" smtClean="0"/>
              <a:t> </a:t>
            </a:r>
          </a:p>
          <a:p>
            <a:r>
              <a:rPr lang="ru-RU" sz="2000" dirty="0" smtClean="0"/>
              <a:t> </a:t>
            </a:r>
            <a:endParaRPr lang="ru-RU" sz="2000" dirty="0" smtClean="0"/>
          </a:p>
          <a:p>
            <a:r>
              <a:rPr lang="en-US" sz="2000" dirty="0" smtClean="0"/>
              <a:t>#include &lt;</a:t>
            </a:r>
            <a:r>
              <a:rPr lang="en-US" sz="2000" dirty="0" err="1" smtClean="0"/>
              <a:t>commdlg.h</a:t>
            </a:r>
            <a:r>
              <a:rPr lang="en-US" sz="2000" dirty="0" smtClean="0"/>
              <a:t>&gt;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endParaRPr lang="ru-RU" sz="2000" dirty="0" smtClean="0"/>
          </a:p>
          <a:p>
            <a:r>
              <a:rPr lang="ru-RU" sz="2000" dirty="0" smtClean="0"/>
              <a:t> </a:t>
            </a:r>
          </a:p>
          <a:p>
            <a:r>
              <a:rPr lang="ru-RU" sz="2000" dirty="0" smtClean="0"/>
              <a:t> </a:t>
            </a:r>
            <a:endParaRPr lang="ru-RU" sz="2000" dirty="0" smtClean="0"/>
          </a:p>
          <a:p>
            <a:r>
              <a:rPr lang="en-US" sz="2000" dirty="0" smtClean="0"/>
              <a:t>TCHAR </a:t>
            </a:r>
            <a:r>
              <a:rPr lang="ru-RU" sz="2000" dirty="0" smtClean="0"/>
              <a:t> </a:t>
            </a:r>
            <a:r>
              <a:rPr lang="en-US" sz="2000" dirty="0" err="1" smtClean="0"/>
              <a:t>FileName</a:t>
            </a:r>
            <a:r>
              <a:rPr lang="en-US" sz="2000" dirty="0" smtClean="0"/>
              <a:t>[200];</a:t>
            </a:r>
            <a:endParaRPr lang="ru-RU" sz="2000" dirty="0" smtClean="0"/>
          </a:p>
          <a:p>
            <a:r>
              <a:rPr lang="ru-RU" sz="2000" dirty="0" smtClean="0"/>
              <a:t> </a:t>
            </a:r>
            <a:endParaRPr lang="ru-RU" sz="2000" dirty="0" smtClean="0"/>
          </a:p>
          <a:p>
            <a:r>
              <a:rPr lang="ru-RU" sz="2000" dirty="0" smtClean="0"/>
              <a:t> </a:t>
            </a:r>
          </a:p>
          <a:p>
            <a:r>
              <a:rPr lang="ru-RU" sz="2000" dirty="0" smtClean="0"/>
              <a:t> </a:t>
            </a:r>
            <a:endParaRPr lang="ru-RU" sz="2000" dirty="0" smtClean="0"/>
          </a:p>
          <a:p>
            <a:r>
              <a:rPr lang="en-US" sz="2000" dirty="0" smtClean="0"/>
              <a:t>	case IDM_OPEN:</a:t>
            </a:r>
          </a:p>
          <a:p>
            <a:r>
              <a:rPr lang="en-US" sz="2000" dirty="0" smtClean="0"/>
              <a:t>		</a:t>
            </a:r>
            <a:r>
              <a:rPr lang="en-US" sz="2000" dirty="0" err="1" smtClean="0"/>
              <a:t>PrFileName</a:t>
            </a:r>
            <a:r>
              <a:rPr lang="en-US" sz="2000" dirty="0" smtClean="0"/>
              <a:t>=</a:t>
            </a:r>
            <a:r>
              <a:rPr lang="en-US" sz="2000" dirty="0" err="1" smtClean="0"/>
              <a:t>GetFileNameOpen</a:t>
            </a:r>
            <a:r>
              <a:rPr lang="en-US" sz="2000" dirty="0" smtClean="0"/>
              <a:t>();</a:t>
            </a:r>
          </a:p>
          <a:p>
            <a:r>
              <a:rPr lang="en-US" sz="2000" dirty="0" smtClean="0"/>
              <a:t>		if(</a:t>
            </a:r>
            <a:r>
              <a:rPr lang="en-US" sz="2000" dirty="0" err="1" smtClean="0"/>
              <a:t>PrFileName</a:t>
            </a:r>
            <a:r>
              <a:rPr lang="en-US" sz="2000" dirty="0" smtClean="0"/>
              <a:t>)</a:t>
            </a:r>
          </a:p>
          <a:p>
            <a:r>
              <a:rPr lang="ru-RU" sz="2000" dirty="0" smtClean="0"/>
              <a:t>		</a:t>
            </a:r>
            <a:r>
              <a:rPr lang="ru-RU" sz="2000" dirty="0" smtClean="0"/>
              <a:t>{</a:t>
            </a:r>
          </a:p>
          <a:p>
            <a:r>
              <a:rPr lang="ru-RU" sz="2000" dirty="0" smtClean="0"/>
              <a:t> 		    .  .  . 	</a:t>
            </a:r>
            <a:endParaRPr lang="ru-RU" sz="2000" dirty="0" smtClean="0"/>
          </a:p>
          <a:p>
            <a:r>
              <a:rPr lang="ru-RU" sz="2000" dirty="0" smtClean="0"/>
              <a:t>		}</a:t>
            </a:r>
          </a:p>
          <a:p>
            <a:r>
              <a:rPr lang="en-US" sz="2000" dirty="0" smtClean="0"/>
              <a:t>		break;</a:t>
            </a:r>
          </a:p>
          <a:p>
            <a:endParaRPr lang="ru-RU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ru-RU" sz="2400" b="1" dirty="0" smtClean="0"/>
              <a:t>Функция выбора имени файла для </a:t>
            </a:r>
            <a:r>
              <a:rPr lang="ru-RU" sz="2400" b="1" dirty="0" smtClean="0"/>
              <a:t>открытия</a:t>
            </a:r>
            <a:r>
              <a:rPr lang="ru-RU" sz="2400" b="1" dirty="0" smtClean="0"/>
              <a:t/>
            </a:r>
            <a:br>
              <a:rPr lang="ru-RU" sz="2400" b="1" dirty="0" smtClean="0"/>
            </a:br>
            <a:endParaRPr lang="ru-RU" sz="24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196752"/>
            <a:ext cx="8496944" cy="5328592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ru-RU" dirty="0" smtClean="0"/>
              <a:t> </a:t>
            </a:r>
            <a:r>
              <a:rPr lang="en-US" dirty="0" err="1" smtClean="0"/>
              <a:t>GetFileNameOpen</a:t>
            </a:r>
            <a:r>
              <a:rPr lang="en-US" dirty="0" smtClean="0"/>
              <a:t>()</a:t>
            </a:r>
          </a:p>
          <a:p>
            <a:r>
              <a:rPr lang="ru-RU" dirty="0" smtClean="0"/>
              <a:t>{</a:t>
            </a:r>
          </a:p>
          <a:p>
            <a:r>
              <a:rPr lang="en-US" dirty="0" smtClean="0"/>
              <a:t>	OPENFILENAME </a:t>
            </a:r>
            <a:r>
              <a:rPr lang="en-US" dirty="0" err="1" smtClean="0"/>
              <a:t>ofn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 smtClean="0"/>
              <a:t>	 </a:t>
            </a:r>
            <a:r>
              <a:rPr lang="en-US" dirty="0" smtClean="0"/>
              <a:t>TCHAR </a:t>
            </a:r>
            <a:r>
              <a:rPr lang="en-US" dirty="0" err="1" smtClean="0"/>
              <a:t>szFilter</a:t>
            </a:r>
            <a:r>
              <a:rPr lang="en-US" dirty="0" smtClean="0"/>
              <a:t>[100]=L"</a:t>
            </a:r>
            <a:r>
              <a:rPr lang="ru-RU" dirty="0" smtClean="0"/>
              <a:t>Текстовые файлы\0*.</a:t>
            </a:r>
            <a:r>
              <a:rPr lang="en-US" dirty="0" smtClean="0"/>
              <a:t>txt;*.doc\0</a:t>
            </a:r>
            <a:r>
              <a:rPr lang="ru-RU" dirty="0" smtClean="0"/>
              <a:t>Двоичные 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 smtClean="0"/>
              <a:t>							файлы\0</a:t>
            </a:r>
            <a:r>
              <a:rPr lang="ru-RU" dirty="0" smtClean="0"/>
              <a:t>*.</a:t>
            </a:r>
            <a:r>
              <a:rPr lang="en-US" dirty="0" smtClean="0"/>
              <a:t>exe\0";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FileName</a:t>
            </a:r>
            <a:r>
              <a:rPr lang="en-US" dirty="0" smtClean="0"/>
              <a:t>[0]='\0';</a:t>
            </a:r>
          </a:p>
          <a:p>
            <a:r>
              <a:rPr lang="en-US" dirty="0" smtClean="0"/>
              <a:t>	  </a:t>
            </a:r>
            <a:r>
              <a:rPr lang="en-US" dirty="0" err="1" smtClean="0"/>
              <a:t>memset</a:t>
            </a:r>
            <a:r>
              <a:rPr lang="en-US" dirty="0" smtClean="0"/>
              <a:t>(&amp;ofn,0,sizeof(</a:t>
            </a:r>
            <a:r>
              <a:rPr lang="en-US" dirty="0" err="1" smtClean="0"/>
              <a:t>ofn</a:t>
            </a:r>
            <a:r>
              <a:rPr lang="en-US" dirty="0" smtClean="0"/>
              <a:t>));</a:t>
            </a:r>
          </a:p>
          <a:p>
            <a:r>
              <a:rPr lang="en-US" dirty="0" smtClean="0"/>
              <a:t>	  </a:t>
            </a:r>
            <a:r>
              <a:rPr lang="en-US" dirty="0" err="1" smtClean="0"/>
              <a:t>ofn.lStructSize</a:t>
            </a:r>
            <a:r>
              <a:rPr lang="en-US" dirty="0" smtClean="0"/>
              <a:t>=</a:t>
            </a:r>
            <a:r>
              <a:rPr lang="en-US" dirty="0" err="1" smtClean="0"/>
              <a:t>sizeof</a:t>
            </a:r>
            <a:r>
              <a:rPr lang="en-US" dirty="0" smtClean="0"/>
              <a:t>(</a:t>
            </a:r>
            <a:r>
              <a:rPr lang="en-US" dirty="0" err="1" smtClean="0"/>
              <a:t>ofn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  </a:t>
            </a:r>
            <a:r>
              <a:rPr lang="en-US" dirty="0" err="1" smtClean="0"/>
              <a:t>ofn.lpstrFilter</a:t>
            </a:r>
            <a:r>
              <a:rPr lang="en-US" dirty="0" smtClean="0"/>
              <a:t>=</a:t>
            </a:r>
            <a:r>
              <a:rPr lang="en-US" dirty="0" err="1" smtClean="0"/>
              <a:t>szFilter</a:t>
            </a:r>
            <a:r>
              <a:rPr lang="en-US" dirty="0" smtClean="0"/>
              <a:t>;</a:t>
            </a:r>
          </a:p>
          <a:p>
            <a:r>
              <a:rPr lang="en-US" dirty="0" smtClean="0"/>
              <a:t>	  </a:t>
            </a:r>
            <a:r>
              <a:rPr lang="en-US" dirty="0" err="1" smtClean="0"/>
              <a:t>ofn.nFilterIndex</a:t>
            </a:r>
            <a:r>
              <a:rPr lang="en-US" dirty="0" smtClean="0"/>
              <a:t>=1;</a:t>
            </a:r>
          </a:p>
          <a:p>
            <a:r>
              <a:rPr lang="en-US" dirty="0" smtClean="0"/>
              <a:t>	  </a:t>
            </a:r>
            <a:r>
              <a:rPr lang="en-US" dirty="0" err="1" smtClean="0"/>
              <a:t>ofn.lpstrFile</a:t>
            </a:r>
            <a:r>
              <a:rPr lang="en-US" dirty="0" smtClean="0"/>
              <a:t>=</a:t>
            </a:r>
            <a:r>
              <a:rPr lang="en-US" dirty="0" err="1" smtClean="0"/>
              <a:t>FileName</a:t>
            </a:r>
            <a:r>
              <a:rPr lang="en-US" dirty="0" smtClean="0"/>
              <a:t>;</a:t>
            </a:r>
          </a:p>
          <a:p>
            <a:r>
              <a:rPr lang="en-US" dirty="0" smtClean="0"/>
              <a:t>	  </a:t>
            </a:r>
            <a:r>
              <a:rPr lang="en-US" dirty="0" err="1" smtClean="0"/>
              <a:t>ofn.nMaxFile</a:t>
            </a:r>
            <a:r>
              <a:rPr lang="en-US" dirty="0" smtClean="0"/>
              <a:t>=</a:t>
            </a:r>
            <a:r>
              <a:rPr lang="en-US" dirty="0" err="1" smtClean="0"/>
              <a:t>sizeof</a:t>
            </a:r>
            <a:r>
              <a:rPr lang="en-US" dirty="0" smtClean="0"/>
              <a:t>(</a:t>
            </a:r>
            <a:r>
              <a:rPr lang="en-US" dirty="0" err="1" smtClean="0"/>
              <a:t>FileName</a:t>
            </a:r>
            <a:r>
              <a:rPr lang="en-US" dirty="0" smtClean="0"/>
              <a:t>);</a:t>
            </a:r>
          </a:p>
          <a:p>
            <a:r>
              <a:rPr lang="en-US" dirty="0" smtClean="0"/>
              <a:t>	  if(</a:t>
            </a:r>
            <a:r>
              <a:rPr lang="en-US" dirty="0" err="1" smtClean="0"/>
              <a:t>GetOpenFileName</a:t>
            </a:r>
            <a:r>
              <a:rPr lang="en-US" dirty="0" smtClean="0"/>
              <a:t>(&amp;</a:t>
            </a:r>
            <a:r>
              <a:rPr lang="en-US" dirty="0" err="1" smtClean="0"/>
              <a:t>ofn</a:t>
            </a:r>
            <a:r>
              <a:rPr lang="en-US" dirty="0" smtClean="0"/>
              <a:t>))</a:t>
            </a:r>
          </a:p>
          <a:p>
            <a:r>
              <a:rPr lang="en-US" dirty="0" smtClean="0"/>
              <a:t>		  return 1;</a:t>
            </a:r>
          </a:p>
          <a:p>
            <a:r>
              <a:rPr lang="en-US" dirty="0" smtClean="0"/>
              <a:t>	  else</a:t>
            </a:r>
          </a:p>
          <a:p>
            <a:r>
              <a:rPr lang="en-US" dirty="0" smtClean="0"/>
              <a:t>		  return 0;</a:t>
            </a:r>
          </a:p>
          <a:p>
            <a:r>
              <a:rPr lang="ru-RU" dirty="0" smtClean="0"/>
              <a:t>}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1333</TotalTime>
  <Words>218</Words>
  <Application>Microsoft Office PowerPoint</Application>
  <PresentationFormat>Экран (4:3)</PresentationFormat>
  <Paragraphs>237</Paragraphs>
  <Slides>24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Тема Office</vt:lpstr>
      <vt:lpstr>Лекция 6</vt:lpstr>
      <vt:lpstr>2.7. Выбор кисти</vt:lpstr>
      <vt:lpstr>Создание кисти</vt:lpstr>
      <vt:lpstr>Пример</vt:lpstr>
      <vt:lpstr>Пример (продолжение)</vt:lpstr>
      <vt:lpstr>3. ОРГАНИЗАЦИЯ МЕНЮ  3.1. Редактирование меню</vt:lpstr>
      <vt:lpstr>Задание языка</vt:lpstr>
      <vt:lpstr>Редактирование пунктов меню</vt:lpstr>
      <vt:lpstr>3.2. Создание обработчиков пунктов меню</vt:lpstr>
      <vt:lpstr>Обработчики</vt:lpstr>
      <vt:lpstr>4. ДИАЛОГОВЫЕ ОКНА  4.1. Создание диалогового окна</vt:lpstr>
      <vt:lpstr>Создание диалогового окна (продолжение)</vt:lpstr>
      <vt:lpstr>Диалоговое окно</vt:lpstr>
      <vt:lpstr>Размещение элементов</vt:lpstr>
      <vt:lpstr>4.2. Функция диалогового окна</vt:lpstr>
      <vt:lpstr>Получение и занесение текста</vt:lpstr>
      <vt:lpstr>Вызов диалогового окна и его закрытие</vt:lpstr>
      <vt:lpstr>Функция диалогового окна для примера</vt:lpstr>
      <vt:lpstr>Фрагменты программы</vt:lpstr>
      <vt:lpstr>Фрагменты программы (продолжение)</vt:lpstr>
      <vt:lpstr>5. Диалоговые окна открытия и сохранения файлов  5.1. Функции</vt:lpstr>
      <vt:lpstr>Структура OPENFILENAME</vt:lpstr>
      <vt:lpstr>5.2. Пример</vt:lpstr>
      <vt:lpstr>Функция выбора имени файла для открытия </vt:lpstr>
    </vt:vector>
  </TitlesOfParts>
  <Company>Кафедра ММ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5</dc:title>
  <dc:creator>Князев А.В.</dc:creator>
  <cp:lastModifiedBy>Князев А.В.</cp:lastModifiedBy>
  <cp:revision>162</cp:revision>
  <dcterms:created xsi:type="dcterms:W3CDTF">2020-09-25T12:44:26Z</dcterms:created>
  <dcterms:modified xsi:type="dcterms:W3CDTF">2020-09-29T17:58:09Z</dcterms:modified>
</cp:coreProperties>
</file>