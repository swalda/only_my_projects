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3" r:id="rId24"/>
    <p:sldId id="278" r:id="rId25"/>
    <p:sldId id="279" r:id="rId26"/>
    <p:sldId id="280" r:id="rId27"/>
    <p:sldId id="281" r:id="rId28"/>
    <p:sldId id="282" r:id="rId2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45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AAA-0A0E-4338-9502-31D6DFBAB238}" type="datetimeFigureOut">
              <a:rPr lang="ru-RU" smtClean="0"/>
              <a:pPr/>
              <a:t>28.09.2020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AAA-0A0E-4338-9502-31D6DFBAB238}" type="datetimeFigureOut">
              <a:rPr lang="ru-RU" smtClean="0"/>
              <a:pPr/>
              <a:t>28.09.2020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AAA-0A0E-4338-9502-31D6DFBAB238}" type="datetimeFigureOut">
              <a:rPr lang="ru-RU" smtClean="0"/>
              <a:pPr/>
              <a:t>28.09.2020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AAA-0A0E-4338-9502-31D6DFBAB238}" type="datetimeFigureOut">
              <a:rPr lang="ru-RU" smtClean="0"/>
              <a:pPr/>
              <a:t>28.09.2020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AAA-0A0E-4338-9502-31D6DFBAB238}" type="datetimeFigureOut">
              <a:rPr lang="ru-RU" smtClean="0"/>
              <a:pPr/>
              <a:t>28.09.2020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AAA-0A0E-4338-9502-31D6DFBAB238}" type="datetimeFigureOut">
              <a:rPr lang="ru-RU" smtClean="0"/>
              <a:pPr/>
              <a:t>28.09.2020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AAA-0A0E-4338-9502-31D6DFBAB238}" type="datetimeFigureOut">
              <a:rPr lang="ru-RU" smtClean="0"/>
              <a:pPr/>
              <a:t>28.09.2020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AAA-0A0E-4338-9502-31D6DFBAB238}" type="datetimeFigureOut">
              <a:rPr lang="ru-RU" smtClean="0"/>
              <a:pPr/>
              <a:t>28.09.2020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AAA-0A0E-4338-9502-31D6DFBAB238}" type="datetimeFigureOut">
              <a:rPr lang="ru-RU" smtClean="0"/>
              <a:pPr/>
              <a:t>28.09.2020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AAA-0A0E-4338-9502-31D6DFBAB238}" type="datetimeFigureOut">
              <a:rPr lang="ru-RU" smtClean="0"/>
              <a:pPr/>
              <a:t>28.09.2020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AAA-0A0E-4338-9502-31D6DFBAB238}" type="datetimeFigureOut">
              <a:rPr lang="ru-RU" smtClean="0"/>
              <a:pPr/>
              <a:t>28.09.2020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A6AAA-0A0E-4338-9502-31D6DFBAB238}" type="datetimeFigureOut">
              <a:rPr lang="ru-RU" smtClean="0"/>
              <a:pPr/>
              <a:t>28.09.2020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412777"/>
            <a:ext cx="7772400" cy="1656183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Лекция 5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2209800"/>
          </a:xfrm>
        </p:spPr>
        <p:txBody>
          <a:bodyPr>
            <a:normAutofit/>
          </a:bodyPr>
          <a:lstStyle/>
          <a:p>
            <a:r>
              <a:rPr lang="ru-RU" sz="2800" dirty="0" smtClean="0"/>
              <a:t>29 сентября</a:t>
            </a:r>
            <a:endParaRPr lang="ru-RU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 smtClean="0"/>
              <a:t>Раздел 2. </a:t>
            </a:r>
            <a:endParaRPr lang="en-US" sz="4000" dirty="0" smtClean="0"/>
          </a:p>
          <a:p>
            <a:pPr algn="ctr"/>
            <a:r>
              <a:rPr lang="ru-RU" sz="4000" dirty="0" smtClean="0"/>
              <a:t>Разработка классических приложений </a:t>
            </a:r>
            <a:r>
              <a:rPr lang="en-US" sz="4000" dirty="0" smtClean="0"/>
              <a:t>Windows</a:t>
            </a:r>
            <a:endParaRPr lang="ru-RU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06290"/>
          </a:xfrm>
        </p:spPr>
        <p:txBody>
          <a:bodyPr>
            <a:normAutofit/>
          </a:bodyPr>
          <a:lstStyle/>
          <a:p>
            <a:r>
              <a:rPr lang="ru-RU" sz="3200" b="1" dirty="0"/>
              <a:t>1. ОСОБЕННОСТИ ПРОГРАММИРОВАНИЯ В СРЕДЕ </a:t>
            </a:r>
            <a:r>
              <a:rPr lang="en-US" sz="3200" b="1" dirty="0"/>
              <a:t>WINDOWS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356992"/>
            <a:ext cx="8229600" cy="2769171"/>
          </a:xfrm>
        </p:spPr>
        <p:txBody>
          <a:bodyPr/>
          <a:lstStyle/>
          <a:p>
            <a:pPr algn="ctr"/>
            <a:r>
              <a:rPr lang="ru-RU" b="1" dirty="0"/>
              <a:t>1.1. Механизм сообщений</a:t>
            </a:r>
            <a:endParaRPr lang="ru-RU" b="1" i="1" dirty="0"/>
          </a:p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Схема обработки сообщений</a:t>
            </a:r>
            <a:endParaRPr lang="ru-RU" sz="2800" dirty="0"/>
          </a:p>
        </p:txBody>
      </p:sp>
      <p:pic>
        <p:nvPicPr>
          <p:cNvPr id="4" name="Содержимое 3" descr="Рис_1_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23528" y="1340768"/>
            <a:ext cx="8820472" cy="4824536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200" b="1" dirty="0" smtClean="0"/>
              <a:t/>
            </a:r>
            <a:br>
              <a:rPr lang="ru-RU" sz="3200" b="1" dirty="0" smtClean="0"/>
            </a:br>
            <a:r>
              <a:rPr lang="ru-RU" sz="2700" b="1" dirty="0" smtClean="0"/>
              <a:t>1.2</a:t>
            </a:r>
            <a:r>
              <a:rPr lang="ru-RU" sz="2700" b="1" dirty="0"/>
              <a:t>. Типы данных и имена</a:t>
            </a:r>
            <a:r>
              <a:rPr lang="ru-RU" sz="2700" b="1" i="1" dirty="0"/>
              <a:t/>
            </a:r>
            <a:br>
              <a:rPr lang="ru-RU" sz="2700" b="1" i="1" dirty="0"/>
            </a:br>
            <a:endParaRPr lang="ru-RU" sz="27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UINT</a:t>
            </a:r>
          </a:p>
          <a:p>
            <a:r>
              <a:rPr lang="en-US" sz="2000" dirty="0" smtClean="0"/>
              <a:t>WPARAM</a:t>
            </a:r>
          </a:p>
          <a:p>
            <a:r>
              <a:rPr lang="en-US" sz="2000" dirty="0" smtClean="0"/>
              <a:t>HANDLE</a:t>
            </a:r>
          </a:p>
          <a:p>
            <a:r>
              <a:rPr lang="en-US" sz="2000" dirty="0" smtClean="0"/>
              <a:t>WNDCLASS</a:t>
            </a:r>
          </a:p>
          <a:p>
            <a:r>
              <a:rPr lang="en-US" sz="2000" dirty="0" smtClean="0"/>
              <a:t>I </a:t>
            </a:r>
          </a:p>
          <a:p>
            <a:r>
              <a:rPr lang="en-US" sz="2000" dirty="0" err="1" smtClean="0"/>
              <a:t>cb</a:t>
            </a:r>
            <a:endParaRPr lang="en-US" sz="2000" dirty="0" smtClean="0"/>
          </a:p>
          <a:p>
            <a:r>
              <a:rPr lang="en-US" sz="2000" dirty="0"/>
              <a:t>p</a:t>
            </a:r>
            <a:endParaRPr lang="en-US" sz="2000" dirty="0" smtClean="0"/>
          </a:p>
          <a:p>
            <a:r>
              <a:rPr lang="en-US" sz="2000" dirty="0" smtClean="0"/>
              <a:t>fn</a:t>
            </a:r>
          </a:p>
          <a:p>
            <a:r>
              <a:rPr lang="en-US" sz="2000" dirty="0" smtClean="0"/>
              <a:t>s</a:t>
            </a:r>
          </a:p>
          <a:p>
            <a:r>
              <a:rPr lang="en-US" sz="2000" dirty="0" err="1" smtClean="0"/>
              <a:t>sz</a:t>
            </a:r>
            <a:endParaRPr lang="en-US" sz="2000" dirty="0" smtClean="0"/>
          </a:p>
          <a:p>
            <a:r>
              <a:rPr lang="en-US" sz="2000" dirty="0" err="1" smtClean="0"/>
              <a:t>cbSize</a:t>
            </a:r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ru-RU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1</a:t>
            </a:r>
            <a:r>
              <a:rPr lang="ru-RU" sz="2400" b="1" dirty="0" smtClean="0"/>
              <a:t>.3. Структура программы</a:t>
            </a:r>
            <a:endParaRPr lang="ru-RU" sz="24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 smtClean="0"/>
              <a:t>Заголовок функции  </a:t>
            </a:r>
            <a:r>
              <a:rPr lang="en-US" sz="2000" dirty="0" err="1" smtClean="0"/>
              <a:t>WinMain</a:t>
            </a:r>
            <a:r>
              <a:rPr lang="ru-RU" sz="2000" dirty="0" smtClean="0"/>
              <a:t>:</a:t>
            </a:r>
          </a:p>
          <a:p>
            <a:r>
              <a:rPr lang="en-US" sz="2000" dirty="0" err="1" smtClean="0"/>
              <a:t>int</a:t>
            </a:r>
            <a:r>
              <a:rPr lang="en-US" sz="2000" dirty="0" smtClean="0"/>
              <a:t> </a:t>
            </a:r>
            <a:r>
              <a:rPr lang="ru-RU" sz="2000" dirty="0" smtClean="0"/>
              <a:t> </a:t>
            </a:r>
            <a:r>
              <a:rPr lang="en-US" sz="2000" dirty="0" smtClean="0"/>
              <a:t>_</a:t>
            </a:r>
            <a:r>
              <a:rPr lang="en-US" sz="2000" dirty="0" err="1"/>
              <a:t>tWinMain</a:t>
            </a:r>
            <a:r>
              <a:rPr lang="en-US" sz="2000" dirty="0"/>
              <a:t>(HINSTANCE </a:t>
            </a:r>
            <a:r>
              <a:rPr lang="en-US" sz="2000" dirty="0" err="1"/>
              <a:t>hInstance</a:t>
            </a:r>
            <a:r>
              <a:rPr lang="en-US" sz="2000" dirty="0" smtClean="0"/>
              <a:t>,  </a:t>
            </a:r>
            <a:r>
              <a:rPr lang="en-US" sz="2000" dirty="0"/>
              <a:t>HINSTANCE </a:t>
            </a:r>
            <a:r>
              <a:rPr lang="en-US" sz="2000" dirty="0" err="1"/>
              <a:t>hPrevInstance</a:t>
            </a:r>
            <a:r>
              <a:rPr lang="en-US" sz="2000" dirty="0"/>
              <a:t>,</a:t>
            </a:r>
          </a:p>
          <a:p>
            <a:r>
              <a:rPr lang="en-US" sz="2000" dirty="0"/>
              <a:t>                     </a:t>
            </a:r>
            <a:r>
              <a:rPr lang="ru-RU" sz="2000" dirty="0" smtClean="0"/>
              <a:t>         </a:t>
            </a:r>
            <a:r>
              <a:rPr lang="en-US" sz="2000" dirty="0" smtClean="0"/>
              <a:t>LPTSTR    </a:t>
            </a:r>
            <a:r>
              <a:rPr lang="en-US" sz="2000" dirty="0" err="1"/>
              <a:t>lpCmdLine</a:t>
            </a:r>
            <a:r>
              <a:rPr lang="en-US" sz="2000" dirty="0" smtClean="0"/>
              <a:t>, </a:t>
            </a:r>
            <a:r>
              <a:rPr lang="en-US" sz="2000" dirty="0" err="1"/>
              <a:t>int</a:t>
            </a:r>
            <a:r>
              <a:rPr lang="en-US" sz="2000" dirty="0"/>
              <a:t>       </a:t>
            </a:r>
            <a:r>
              <a:rPr lang="en-US" sz="2000" dirty="0" err="1"/>
              <a:t>nCmdShow</a:t>
            </a:r>
            <a:r>
              <a:rPr lang="en-US" sz="2000" dirty="0" smtClean="0"/>
              <a:t>)</a:t>
            </a:r>
          </a:p>
          <a:p>
            <a:endParaRPr lang="en-US" sz="2000" dirty="0"/>
          </a:p>
          <a:p>
            <a:r>
              <a:rPr lang="ru-RU" sz="2000" dirty="0" smtClean="0"/>
              <a:t>Основные действия:</a:t>
            </a:r>
          </a:p>
          <a:p>
            <a:r>
              <a:rPr lang="ru-RU" sz="2000" dirty="0" smtClean="0"/>
              <a:t> 	Создание класса окна</a:t>
            </a:r>
          </a:p>
          <a:p>
            <a:r>
              <a:rPr lang="ru-RU" sz="2000" dirty="0" smtClean="0"/>
              <a:t> 	Регистрация класса окна</a:t>
            </a:r>
          </a:p>
          <a:p>
            <a:r>
              <a:rPr lang="ru-RU" sz="2000" dirty="0"/>
              <a:t> </a:t>
            </a:r>
            <a:r>
              <a:rPr lang="ru-RU" sz="2000" dirty="0" smtClean="0"/>
              <a:t>	Создание окна</a:t>
            </a:r>
          </a:p>
          <a:p>
            <a:r>
              <a:rPr lang="ru-RU" sz="2000" dirty="0"/>
              <a:t> </a:t>
            </a:r>
            <a:r>
              <a:rPr lang="ru-RU" sz="2000" dirty="0" smtClean="0"/>
              <a:t>	Визуализация окна</a:t>
            </a:r>
          </a:p>
          <a:p>
            <a:r>
              <a:rPr lang="ru-RU" sz="2000" dirty="0"/>
              <a:t> </a:t>
            </a:r>
            <a:r>
              <a:rPr lang="ru-RU" sz="2000" dirty="0" smtClean="0"/>
              <a:t>	Обновление окна</a:t>
            </a:r>
          </a:p>
          <a:p>
            <a:r>
              <a:rPr lang="ru-RU" sz="2000" dirty="0"/>
              <a:t> </a:t>
            </a:r>
            <a:r>
              <a:rPr lang="ru-RU" sz="2000" dirty="0" smtClean="0"/>
              <a:t>	Запуск цикла обработки сообщений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Структура </a:t>
            </a:r>
            <a:r>
              <a:rPr lang="en-US" sz="2400" dirty="0" smtClean="0"/>
              <a:t>WNDCLASSEX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12568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	WNDCLASSEX </a:t>
            </a:r>
            <a:r>
              <a:rPr lang="en-US" dirty="0" err="1" smtClean="0"/>
              <a:t>wcex</a:t>
            </a:r>
            <a:r>
              <a:rPr lang="en-US" dirty="0" smtClean="0"/>
              <a:t>;</a:t>
            </a:r>
          </a:p>
          <a:p>
            <a:endParaRPr lang="ru-RU" dirty="0" smtClean="0"/>
          </a:p>
          <a:p>
            <a:r>
              <a:rPr lang="en-US" dirty="0" smtClean="0"/>
              <a:t>	</a:t>
            </a:r>
            <a:r>
              <a:rPr lang="en-US" dirty="0" err="1" smtClean="0"/>
              <a:t>wcex.cbSize</a:t>
            </a:r>
            <a:r>
              <a:rPr lang="en-US" dirty="0" smtClean="0"/>
              <a:t> 		= </a:t>
            </a:r>
            <a:r>
              <a:rPr lang="en-US" dirty="0" err="1"/>
              <a:t>sizeof</a:t>
            </a:r>
            <a:r>
              <a:rPr lang="en-US" dirty="0"/>
              <a:t>(WNDCLASSEX);</a:t>
            </a:r>
          </a:p>
          <a:p>
            <a:endParaRPr lang="ru-RU" dirty="0"/>
          </a:p>
          <a:p>
            <a:r>
              <a:rPr lang="en-US" dirty="0"/>
              <a:t>	</a:t>
            </a:r>
            <a:r>
              <a:rPr lang="en-US" dirty="0" err="1"/>
              <a:t>wcex.style</a:t>
            </a:r>
            <a:r>
              <a:rPr lang="en-US" dirty="0"/>
              <a:t>		</a:t>
            </a:r>
            <a:r>
              <a:rPr lang="en-US" dirty="0" smtClean="0"/>
              <a:t>= </a:t>
            </a:r>
            <a:r>
              <a:rPr lang="en-US" dirty="0"/>
              <a:t>CS_HREDRAW | CS_VREDRAW;</a:t>
            </a:r>
          </a:p>
          <a:p>
            <a:r>
              <a:rPr lang="en-US" dirty="0"/>
              <a:t>	</a:t>
            </a:r>
            <a:r>
              <a:rPr lang="en-US" dirty="0" err="1"/>
              <a:t>wcex.lpfnWndProc</a:t>
            </a:r>
            <a:r>
              <a:rPr lang="en-US" dirty="0"/>
              <a:t>	</a:t>
            </a:r>
            <a:r>
              <a:rPr lang="en-US" dirty="0" smtClean="0"/>
              <a:t>	= </a:t>
            </a:r>
            <a:r>
              <a:rPr lang="en-US" dirty="0" err="1"/>
              <a:t>WndProc</a:t>
            </a:r>
            <a:r>
              <a:rPr lang="en-US" dirty="0"/>
              <a:t>;</a:t>
            </a:r>
          </a:p>
          <a:p>
            <a:r>
              <a:rPr lang="en-US" dirty="0"/>
              <a:t>	</a:t>
            </a:r>
            <a:r>
              <a:rPr lang="en-US" dirty="0" err="1"/>
              <a:t>wcex.cbClsExtra</a:t>
            </a:r>
            <a:r>
              <a:rPr lang="en-US" dirty="0"/>
              <a:t>		= 0;</a:t>
            </a:r>
          </a:p>
          <a:p>
            <a:r>
              <a:rPr lang="en-US" dirty="0"/>
              <a:t>	</a:t>
            </a:r>
            <a:r>
              <a:rPr lang="en-US" dirty="0" err="1"/>
              <a:t>wcex.cbWndExtra</a:t>
            </a:r>
            <a:r>
              <a:rPr lang="en-US" dirty="0"/>
              <a:t>		= 0;</a:t>
            </a:r>
          </a:p>
          <a:p>
            <a:r>
              <a:rPr lang="en-US" dirty="0"/>
              <a:t>	</a:t>
            </a:r>
            <a:r>
              <a:rPr lang="en-US" dirty="0" err="1"/>
              <a:t>wcex.hInstance</a:t>
            </a:r>
            <a:r>
              <a:rPr lang="en-US" dirty="0"/>
              <a:t>		= </a:t>
            </a:r>
            <a:r>
              <a:rPr lang="en-US" dirty="0" err="1"/>
              <a:t>hInstance</a:t>
            </a:r>
            <a:r>
              <a:rPr lang="en-US" dirty="0"/>
              <a:t>;</a:t>
            </a:r>
          </a:p>
          <a:p>
            <a:r>
              <a:rPr lang="en-US" dirty="0"/>
              <a:t>	</a:t>
            </a:r>
            <a:r>
              <a:rPr lang="en-US" dirty="0" err="1"/>
              <a:t>wcex.hIcon</a:t>
            </a:r>
            <a:r>
              <a:rPr lang="en-US" dirty="0"/>
              <a:t>		</a:t>
            </a:r>
            <a:r>
              <a:rPr lang="en-US" dirty="0" smtClean="0"/>
              <a:t>= </a:t>
            </a:r>
            <a:r>
              <a:rPr lang="en-US" dirty="0" err="1"/>
              <a:t>LoadIcon</a:t>
            </a:r>
            <a:r>
              <a:rPr lang="en-US" dirty="0"/>
              <a:t>(</a:t>
            </a:r>
            <a:r>
              <a:rPr lang="en-US" dirty="0" err="1"/>
              <a:t>hInstance</a:t>
            </a:r>
            <a:r>
              <a:rPr lang="en-US" dirty="0"/>
              <a:t>, 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                                                                             MAKEINTRESOURCE(IDI_FIRST</a:t>
            </a:r>
            <a:r>
              <a:rPr lang="en-US" dirty="0"/>
              <a:t>));</a:t>
            </a:r>
          </a:p>
          <a:p>
            <a:r>
              <a:rPr lang="en-US" dirty="0"/>
              <a:t>	</a:t>
            </a:r>
            <a:r>
              <a:rPr lang="en-US" dirty="0" err="1"/>
              <a:t>wcex.hCursor</a:t>
            </a:r>
            <a:r>
              <a:rPr lang="en-US" dirty="0"/>
              <a:t>		= </a:t>
            </a:r>
            <a:r>
              <a:rPr lang="en-US" dirty="0" err="1"/>
              <a:t>LoadCursor</a:t>
            </a:r>
            <a:r>
              <a:rPr lang="en-US" dirty="0"/>
              <a:t>(NULL, IDC_ARROW);</a:t>
            </a:r>
          </a:p>
          <a:p>
            <a:r>
              <a:rPr lang="en-US" dirty="0"/>
              <a:t>	</a:t>
            </a:r>
            <a:r>
              <a:rPr lang="en-US" dirty="0" err="1"/>
              <a:t>wcex.hbrBackground</a:t>
            </a:r>
            <a:r>
              <a:rPr lang="en-US" dirty="0"/>
              <a:t>	= (HBRUSH)(COLOR_WINDOW+1);</a:t>
            </a:r>
          </a:p>
          <a:p>
            <a:r>
              <a:rPr lang="en-US" dirty="0"/>
              <a:t>	</a:t>
            </a:r>
            <a:r>
              <a:rPr lang="en-US" dirty="0" err="1"/>
              <a:t>wcex.lpszMenuName</a:t>
            </a:r>
            <a:r>
              <a:rPr lang="en-US" dirty="0"/>
              <a:t>	= MAKEINTRESOURCE(IDC_FIRST);</a:t>
            </a:r>
          </a:p>
          <a:p>
            <a:r>
              <a:rPr lang="en-US" dirty="0"/>
              <a:t>	</a:t>
            </a:r>
            <a:r>
              <a:rPr lang="en-US" dirty="0" err="1"/>
              <a:t>wcex.lpszClassName</a:t>
            </a:r>
            <a:r>
              <a:rPr lang="en-US" dirty="0"/>
              <a:t>	= </a:t>
            </a:r>
            <a:r>
              <a:rPr lang="en-US" dirty="0" err="1"/>
              <a:t>szWindowClass</a:t>
            </a:r>
            <a:r>
              <a:rPr lang="en-US" dirty="0"/>
              <a:t>;</a:t>
            </a:r>
          </a:p>
          <a:p>
            <a:r>
              <a:rPr lang="en-US" dirty="0"/>
              <a:t>	</a:t>
            </a:r>
            <a:r>
              <a:rPr lang="en-US" dirty="0" err="1"/>
              <a:t>wcex.hIconSm</a:t>
            </a:r>
            <a:r>
              <a:rPr lang="en-US" dirty="0"/>
              <a:t>		= </a:t>
            </a:r>
            <a:r>
              <a:rPr lang="en-US" dirty="0" err="1"/>
              <a:t>LoadIcon</a:t>
            </a:r>
            <a:r>
              <a:rPr lang="en-US" dirty="0"/>
              <a:t>(</a:t>
            </a:r>
            <a:r>
              <a:rPr lang="en-US" dirty="0" err="1"/>
              <a:t>wcex.hInstance</a:t>
            </a:r>
            <a:r>
              <a:rPr lang="en-US" dirty="0"/>
              <a:t>, 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                                                                              MAKEINTRESOURCE(IDI_SMALL</a:t>
            </a:r>
            <a:r>
              <a:rPr lang="en-US" dirty="0"/>
              <a:t>));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 smtClean="0"/>
              <a:t>Цикл обработки сообщений</a:t>
            </a:r>
            <a:endParaRPr lang="ru-RU" sz="28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ru-RU" dirty="0" smtClean="0"/>
          </a:p>
          <a:p>
            <a:r>
              <a:rPr lang="ru-RU" dirty="0"/>
              <a:t> </a:t>
            </a:r>
            <a:endParaRPr lang="ru-RU" dirty="0" smtClean="0"/>
          </a:p>
          <a:p>
            <a:r>
              <a:rPr lang="ru-RU" dirty="0"/>
              <a:t> </a:t>
            </a:r>
            <a:r>
              <a:rPr lang="ru-RU" dirty="0" smtClean="0"/>
              <a:t> . . .</a:t>
            </a:r>
          </a:p>
          <a:p>
            <a:r>
              <a:rPr lang="en-US" dirty="0" smtClean="0"/>
              <a:t>while </a:t>
            </a:r>
            <a:r>
              <a:rPr lang="en-US" dirty="0"/>
              <a:t>(</a:t>
            </a:r>
            <a:r>
              <a:rPr lang="en-US" dirty="0" err="1"/>
              <a:t>GetMessage</a:t>
            </a:r>
            <a:r>
              <a:rPr lang="en-US" dirty="0"/>
              <a:t>(&amp;</a:t>
            </a:r>
            <a:r>
              <a:rPr lang="en-US" dirty="0" err="1"/>
              <a:t>msg</a:t>
            </a:r>
            <a:r>
              <a:rPr lang="en-US" dirty="0"/>
              <a:t>, NULL, 0, 0))</a:t>
            </a:r>
          </a:p>
          <a:p>
            <a:r>
              <a:rPr lang="ru-RU" dirty="0" smtClean="0"/>
              <a:t>{</a:t>
            </a:r>
            <a:endParaRPr lang="ru-RU" dirty="0"/>
          </a:p>
          <a:p>
            <a:r>
              <a:rPr lang="ru-RU" dirty="0"/>
              <a:t>		</a:t>
            </a:r>
          </a:p>
          <a:p>
            <a:r>
              <a:rPr lang="en-US" dirty="0"/>
              <a:t>			</a:t>
            </a:r>
          </a:p>
          <a:p>
            <a:r>
              <a:rPr lang="en-US" dirty="0"/>
              <a:t>	</a:t>
            </a:r>
            <a:r>
              <a:rPr lang="en-US" dirty="0" err="1" smtClean="0"/>
              <a:t>DispatchMessage</a:t>
            </a:r>
            <a:r>
              <a:rPr lang="en-US" dirty="0"/>
              <a:t>(&amp;</a:t>
            </a:r>
            <a:r>
              <a:rPr lang="en-US" dirty="0" err="1"/>
              <a:t>msg</a:t>
            </a:r>
            <a:r>
              <a:rPr lang="en-US" dirty="0"/>
              <a:t>);</a:t>
            </a:r>
          </a:p>
          <a:p>
            <a:r>
              <a:rPr lang="ru-RU" dirty="0"/>
              <a:t>		</a:t>
            </a:r>
            <a:endParaRPr lang="ru-RU" dirty="0" smtClean="0"/>
          </a:p>
          <a:p>
            <a:r>
              <a:rPr lang="ru-RU" dirty="0"/>
              <a:t> </a:t>
            </a:r>
          </a:p>
          <a:p>
            <a:r>
              <a:rPr lang="ru-RU" dirty="0" smtClean="0"/>
              <a:t> }</a:t>
            </a:r>
          </a:p>
          <a:p>
            <a:r>
              <a:rPr lang="ru-RU" dirty="0" smtClean="0"/>
              <a:t>  . . . </a:t>
            </a:r>
          </a:p>
          <a:p>
            <a:r>
              <a:rPr lang="ru-RU" dirty="0"/>
              <a:t>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Функция окна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/>
          </a:bodyPr>
          <a:lstStyle/>
          <a:p>
            <a:r>
              <a:rPr lang="ru-RU" sz="2000" dirty="0" smtClean="0"/>
              <a:t>Заголовок функции окна:</a:t>
            </a:r>
          </a:p>
          <a:p>
            <a:r>
              <a:rPr lang="en-US" sz="2000" dirty="0" smtClean="0"/>
              <a:t>LRESULT CALLBACK </a:t>
            </a:r>
            <a:r>
              <a:rPr lang="en-US" sz="2000" dirty="0" err="1" smtClean="0"/>
              <a:t>WndProc</a:t>
            </a:r>
            <a:r>
              <a:rPr lang="en-US" sz="2000" dirty="0" smtClean="0"/>
              <a:t>(HWND </a:t>
            </a:r>
            <a:r>
              <a:rPr lang="en-US" sz="2000" dirty="0" err="1" smtClean="0"/>
              <a:t>hWnd</a:t>
            </a:r>
            <a:r>
              <a:rPr lang="en-US" sz="2000" dirty="0" smtClean="0"/>
              <a:t>, UINT message, </a:t>
            </a:r>
            <a:endParaRPr lang="ru-RU" sz="2000" dirty="0" smtClean="0"/>
          </a:p>
          <a:p>
            <a:r>
              <a:rPr lang="ru-RU" sz="2000" dirty="0"/>
              <a:t> </a:t>
            </a:r>
            <a:r>
              <a:rPr lang="ru-RU" sz="2000" dirty="0" smtClean="0"/>
              <a:t>                                                             </a:t>
            </a:r>
            <a:r>
              <a:rPr lang="en-US" sz="2000" dirty="0" smtClean="0"/>
              <a:t>WPARAM </a:t>
            </a:r>
            <a:r>
              <a:rPr lang="en-US" sz="2000" dirty="0" err="1" smtClean="0"/>
              <a:t>wParam</a:t>
            </a:r>
            <a:r>
              <a:rPr lang="en-US" sz="2000" dirty="0" smtClean="0"/>
              <a:t>, LPARAM </a:t>
            </a:r>
            <a:r>
              <a:rPr lang="en-US" sz="2000" dirty="0" err="1" smtClean="0"/>
              <a:t>lParam</a:t>
            </a:r>
            <a:r>
              <a:rPr lang="en-US" sz="2000" dirty="0" smtClean="0"/>
              <a:t>)</a:t>
            </a:r>
            <a:endParaRPr lang="ru-RU" sz="2000" dirty="0" smtClean="0"/>
          </a:p>
          <a:p>
            <a:r>
              <a:rPr lang="ru-RU" sz="2000" dirty="0" smtClean="0"/>
              <a:t> </a:t>
            </a:r>
            <a:r>
              <a:rPr lang="en-US" sz="2000" dirty="0" err="1" smtClean="0"/>
              <a:t>hWnd</a:t>
            </a:r>
            <a:endParaRPr lang="ru-RU" sz="2000" dirty="0" smtClean="0"/>
          </a:p>
          <a:p>
            <a:r>
              <a:rPr lang="ru-RU" sz="2000" dirty="0"/>
              <a:t> </a:t>
            </a:r>
            <a:r>
              <a:rPr lang="en-US" sz="2000" dirty="0" smtClean="0"/>
              <a:t>message</a:t>
            </a:r>
            <a:endParaRPr lang="ru-RU" sz="2000" dirty="0" smtClean="0"/>
          </a:p>
          <a:p>
            <a:r>
              <a:rPr lang="ru-RU" sz="2000" dirty="0"/>
              <a:t> </a:t>
            </a:r>
            <a:r>
              <a:rPr lang="en-US" sz="2000" dirty="0" err="1" smtClean="0"/>
              <a:t>wParam</a:t>
            </a:r>
            <a:endParaRPr lang="ru-RU" sz="2000" dirty="0" smtClean="0"/>
          </a:p>
          <a:p>
            <a:r>
              <a:rPr lang="ru-RU" sz="2000" dirty="0"/>
              <a:t> </a:t>
            </a:r>
            <a:r>
              <a:rPr lang="en-US" sz="2000" dirty="0" err="1" smtClean="0"/>
              <a:t>lParam</a:t>
            </a:r>
            <a:endParaRPr lang="ru-RU" sz="2000" dirty="0" smtClean="0"/>
          </a:p>
          <a:p>
            <a:endParaRPr lang="ru-RU" sz="2000" dirty="0"/>
          </a:p>
          <a:p>
            <a:r>
              <a:rPr lang="en-US" sz="2000" dirty="0"/>
              <a:t>switch (message)</a:t>
            </a:r>
          </a:p>
          <a:p>
            <a:r>
              <a:rPr lang="ru-RU" sz="2000" dirty="0" smtClean="0"/>
              <a:t>{</a:t>
            </a:r>
            <a:endParaRPr lang="ru-RU" sz="2000" dirty="0"/>
          </a:p>
          <a:p>
            <a:r>
              <a:rPr lang="en-US" sz="2000" dirty="0"/>
              <a:t>	case WM_COMMAND</a:t>
            </a:r>
            <a:r>
              <a:rPr lang="en-US" sz="2000" dirty="0" smtClean="0"/>
              <a:t>:</a:t>
            </a:r>
            <a:endParaRPr lang="ru-RU" sz="2000" dirty="0" smtClean="0"/>
          </a:p>
          <a:p>
            <a:r>
              <a:rPr lang="ru-RU" sz="2000" dirty="0"/>
              <a:t> </a:t>
            </a:r>
            <a:r>
              <a:rPr lang="ru-RU" sz="2000" dirty="0" smtClean="0"/>
              <a:t>           . . .</a:t>
            </a:r>
          </a:p>
          <a:p>
            <a:r>
              <a:rPr lang="ru-RU" sz="2000" dirty="0"/>
              <a:t> </a:t>
            </a:r>
            <a:r>
              <a:rPr lang="en-US" sz="2000" dirty="0" smtClean="0"/>
              <a:t> }</a:t>
            </a:r>
            <a:endParaRPr lang="ru-RU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b="1" dirty="0" smtClean="0"/>
          </a:p>
          <a:p>
            <a:pPr algn="ctr"/>
            <a:r>
              <a:rPr lang="en-US" b="1" dirty="0" smtClean="0"/>
              <a:t>2</a:t>
            </a:r>
            <a:r>
              <a:rPr lang="ru-RU" b="1" dirty="0" smtClean="0"/>
              <a:t>. ПРОСТЕЙШИЙ ВЫВОД В ОКНО</a:t>
            </a:r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2.1 Интерфейс графических устройств и контекст отображения</a:t>
            </a:r>
            <a:endParaRPr lang="ru-RU" sz="24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184576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 smtClean="0"/>
              <a:t>WM_PAINT</a:t>
            </a:r>
          </a:p>
          <a:p>
            <a:r>
              <a:rPr lang="en-US" sz="2000" dirty="0" err="1" smtClean="0"/>
              <a:t>UpdateWindow</a:t>
            </a:r>
            <a:endParaRPr lang="en-US" sz="2000" dirty="0" smtClean="0"/>
          </a:p>
          <a:p>
            <a:r>
              <a:rPr lang="en-US" sz="2000" dirty="0"/>
              <a:t> </a:t>
            </a:r>
            <a:r>
              <a:rPr lang="en-US" sz="2000" dirty="0" smtClean="0"/>
              <a:t>  .  .  .</a:t>
            </a:r>
          </a:p>
          <a:p>
            <a:r>
              <a:rPr lang="en-US" sz="2000" dirty="0" smtClean="0"/>
              <a:t>HDC </a:t>
            </a:r>
            <a:r>
              <a:rPr lang="en-US" sz="2000" dirty="0" err="1" smtClean="0"/>
              <a:t>BeginPaint</a:t>
            </a:r>
            <a:r>
              <a:rPr lang="en-US" sz="2000" dirty="0" smtClean="0"/>
              <a:t> ( HWND </a:t>
            </a:r>
            <a:r>
              <a:rPr lang="en-US" sz="2000" dirty="0" err="1" smtClean="0"/>
              <a:t>hWnd</a:t>
            </a:r>
            <a:r>
              <a:rPr lang="en-US" sz="2000" dirty="0" smtClean="0"/>
              <a:t>, PAINTSTRUCT *</a:t>
            </a:r>
            <a:r>
              <a:rPr lang="en-US" sz="2000" dirty="0" err="1" smtClean="0"/>
              <a:t>lpps</a:t>
            </a:r>
            <a:r>
              <a:rPr lang="en-US" sz="2000" dirty="0" smtClean="0"/>
              <a:t> ) </a:t>
            </a:r>
          </a:p>
          <a:p>
            <a:r>
              <a:rPr lang="en-US" sz="2000" dirty="0" smtClean="0"/>
              <a:t>Void </a:t>
            </a:r>
            <a:r>
              <a:rPr lang="en-US" sz="2000" dirty="0" err="1" smtClean="0"/>
              <a:t>EndPaint</a:t>
            </a:r>
            <a:r>
              <a:rPr lang="en-US" sz="2000" dirty="0" smtClean="0"/>
              <a:t> (HWND </a:t>
            </a:r>
            <a:r>
              <a:rPr lang="en-US" sz="2000" dirty="0" err="1" smtClean="0"/>
              <a:t>hWnd</a:t>
            </a:r>
            <a:r>
              <a:rPr lang="en-US" sz="2000" dirty="0" smtClean="0"/>
              <a:t>, PAINTSTRUCT *</a:t>
            </a:r>
            <a:r>
              <a:rPr lang="en-US" sz="2000" dirty="0" err="1" smtClean="0"/>
              <a:t>lpps</a:t>
            </a:r>
            <a:r>
              <a:rPr lang="en-US" sz="2000" dirty="0" smtClean="0"/>
              <a:t> ) </a:t>
            </a:r>
          </a:p>
          <a:p>
            <a:r>
              <a:rPr lang="en-US" sz="2000" dirty="0" smtClean="0"/>
              <a:t> </a:t>
            </a:r>
          </a:p>
          <a:p>
            <a:r>
              <a:rPr lang="en-US" sz="2000" dirty="0" smtClean="0"/>
              <a:t>HDC </a:t>
            </a:r>
            <a:r>
              <a:rPr lang="en-US" sz="2000" dirty="0" err="1" smtClean="0"/>
              <a:t>hdc</a:t>
            </a:r>
            <a:r>
              <a:rPr lang="en-US" sz="2000" dirty="0" smtClean="0"/>
              <a:t>;</a:t>
            </a:r>
          </a:p>
          <a:p>
            <a:r>
              <a:rPr lang="en-US" sz="2000" dirty="0" smtClean="0"/>
              <a:t>PAINTSTRUCT </a:t>
            </a:r>
            <a:r>
              <a:rPr lang="en-US" sz="2000" dirty="0" err="1" smtClean="0"/>
              <a:t>ps</a:t>
            </a:r>
            <a:r>
              <a:rPr lang="en-US" sz="2000" dirty="0" smtClean="0"/>
              <a:t>;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. . .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case WM_PAINT :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  </a:t>
            </a:r>
            <a:r>
              <a:rPr lang="en-US" sz="2000" dirty="0" err="1" smtClean="0"/>
              <a:t>hdc</a:t>
            </a:r>
            <a:r>
              <a:rPr lang="en-US" sz="2000" dirty="0" smtClean="0"/>
              <a:t> = </a:t>
            </a:r>
            <a:r>
              <a:rPr lang="en-US" sz="2000" dirty="0" err="1" smtClean="0"/>
              <a:t>BeginPaint</a:t>
            </a:r>
            <a:r>
              <a:rPr lang="en-US" sz="2000" dirty="0" smtClean="0"/>
              <a:t> (</a:t>
            </a:r>
            <a:r>
              <a:rPr lang="en-US" sz="2000" dirty="0" err="1" smtClean="0"/>
              <a:t>hWnd</a:t>
            </a:r>
            <a:r>
              <a:rPr lang="en-US" sz="2000" dirty="0" smtClean="0"/>
              <a:t>, &amp;</a:t>
            </a:r>
            <a:r>
              <a:rPr lang="en-US" sz="2000" dirty="0" err="1" smtClean="0"/>
              <a:t>ps</a:t>
            </a:r>
            <a:r>
              <a:rPr lang="en-US" sz="2000" dirty="0" smtClean="0"/>
              <a:t>);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            .  .  .</a:t>
            </a:r>
          </a:p>
          <a:p>
            <a:r>
              <a:rPr lang="en-US" sz="2000" dirty="0" smtClean="0"/>
              <a:t>       </a:t>
            </a:r>
            <a:r>
              <a:rPr lang="en-US" sz="2000" dirty="0" err="1" smtClean="0"/>
              <a:t>EndPaint</a:t>
            </a:r>
            <a:r>
              <a:rPr lang="en-US" sz="2000" dirty="0" smtClean="0"/>
              <a:t> (</a:t>
            </a:r>
            <a:r>
              <a:rPr lang="en-US" sz="2000" dirty="0" err="1" smtClean="0"/>
              <a:t>hWnd</a:t>
            </a:r>
            <a:r>
              <a:rPr lang="en-US" sz="2000" dirty="0" smtClean="0"/>
              <a:t>, &amp;</a:t>
            </a:r>
            <a:r>
              <a:rPr lang="en-US" sz="2000" dirty="0" err="1" smtClean="0"/>
              <a:t>ps</a:t>
            </a:r>
            <a:r>
              <a:rPr lang="en-US" sz="2000" dirty="0" smtClean="0"/>
              <a:t>);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  break;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. . .</a:t>
            </a:r>
          </a:p>
          <a:p>
            <a:r>
              <a:rPr lang="en-US" sz="2000" dirty="0" smtClean="0"/>
              <a:t>HDC </a:t>
            </a:r>
            <a:r>
              <a:rPr lang="en-US" sz="2000" dirty="0" err="1" smtClean="0"/>
              <a:t>GetDC</a:t>
            </a:r>
            <a:r>
              <a:rPr lang="en-US" sz="2000" dirty="0" smtClean="0"/>
              <a:t> ( HWND </a:t>
            </a:r>
            <a:r>
              <a:rPr lang="en-US" sz="2000" dirty="0" err="1" smtClean="0"/>
              <a:t>hWnd</a:t>
            </a:r>
            <a:r>
              <a:rPr lang="en-US" sz="2000" dirty="0" smtClean="0"/>
              <a:t> )</a:t>
            </a:r>
          </a:p>
          <a:p>
            <a:r>
              <a:rPr lang="en-US" sz="2000" dirty="0" err="1" smtClean="0"/>
              <a:t>int</a:t>
            </a:r>
            <a:r>
              <a:rPr lang="en-US" sz="2000" dirty="0" smtClean="0"/>
              <a:t> </a:t>
            </a:r>
            <a:r>
              <a:rPr lang="en-US" sz="2000" dirty="0" err="1" smtClean="0"/>
              <a:t>ReleaseDC</a:t>
            </a:r>
            <a:r>
              <a:rPr lang="en-US" sz="2000" dirty="0" smtClean="0"/>
              <a:t> ( HWND </a:t>
            </a:r>
            <a:r>
              <a:rPr lang="en-US" sz="2000" dirty="0" err="1" smtClean="0"/>
              <a:t>hWnd</a:t>
            </a:r>
            <a:r>
              <a:rPr lang="en-US" sz="2000" dirty="0" smtClean="0"/>
              <a:t>, HDC </a:t>
            </a:r>
            <a:r>
              <a:rPr lang="en-US" sz="2000" dirty="0" err="1" smtClean="0"/>
              <a:t>hdc</a:t>
            </a:r>
            <a:r>
              <a:rPr lang="en-US" sz="2000" dirty="0" smtClean="0"/>
              <a:t> )</a:t>
            </a:r>
          </a:p>
          <a:p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2.2. </a:t>
            </a:r>
            <a:r>
              <a:rPr lang="ru-RU" sz="2400" b="1" dirty="0" smtClean="0"/>
              <a:t>Вывод текста в окно</a:t>
            </a:r>
            <a:endParaRPr lang="ru-RU" sz="24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065315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BOOL </a:t>
            </a:r>
            <a:r>
              <a:rPr lang="en-US" sz="2000" b="1" dirty="0" err="1" smtClean="0"/>
              <a:t>TextOut</a:t>
            </a:r>
            <a:r>
              <a:rPr lang="ru-RU" sz="2000" b="1" dirty="0" smtClean="0"/>
              <a:t> </a:t>
            </a:r>
            <a:r>
              <a:rPr lang="en-US" sz="2000" b="1" dirty="0" smtClean="0"/>
              <a:t>( HDC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hdc</a:t>
            </a:r>
            <a:r>
              <a:rPr lang="en-US" sz="2000" b="1" dirty="0" smtClean="0"/>
              <a:t>, </a:t>
            </a:r>
            <a:r>
              <a:rPr lang="ru-RU" sz="2000" b="1" dirty="0" smtClean="0"/>
              <a:t>	</a:t>
            </a:r>
            <a:r>
              <a:rPr lang="en-US" sz="2000" dirty="0" smtClean="0"/>
              <a:t>// handle to DC </a:t>
            </a:r>
            <a:endParaRPr lang="ru-RU" sz="2000" dirty="0" smtClean="0"/>
          </a:p>
          <a:p>
            <a:r>
              <a:rPr lang="ru-RU" sz="2000" b="1" dirty="0" smtClean="0"/>
              <a:t>   </a:t>
            </a:r>
            <a:r>
              <a:rPr lang="en-US" sz="2000" b="1" dirty="0" err="1" smtClean="0"/>
              <a:t>int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nXStart</a:t>
            </a:r>
            <a:r>
              <a:rPr lang="en-US" sz="2000" b="1" dirty="0" smtClean="0"/>
              <a:t>, </a:t>
            </a:r>
            <a:r>
              <a:rPr lang="ru-RU" sz="2000" b="1" dirty="0" smtClean="0"/>
              <a:t>			</a:t>
            </a:r>
            <a:r>
              <a:rPr lang="en-US" sz="2000" dirty="0" smtClean="0"/>
              <a:t>// x-coordinate of starting position </a:t>
            </a:r>
            <a:endParaRPr lang="ru-RU" sz="2000" dirty="0" smtClean="0"/>
          </a:p>
          <a:p>
            <a:r>
              <a:rPr lang="ru-RU" sz="2000" b="1" dirty="0" smtClean="0"/>
              <a:t>   </a:t>
            </a:r>
            <a:r>
              <a:rPr lang="en-US" sz="2000" b="1" dirty="0" err="1" smtClean="0"/>
              <a:t>int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nYStart</a:t>
            </a:r>
            <a:r>
              <a:rPr lang="en-US" sz="2000" b="1" dirty="0" smtClean="0"/>
              <a:t>, </a:t>
            </a:r>
            <a:r>
              <a:rPr lang="ru-RU" sz="2000" b="1" dirty="0" smtClean="0"/>
              <a:t>			</a:t>
            </a:r>
            <a:r>
              <a:rPr lang="en-US" sz="2000" dirty="0" smtClean="0"/>
              <a:t>// y-coordinate of starting position </a:t>
            </a:r>
            <a:endParaRPr lang="ru-RU" sz="2000" dirty="0" smtClean="0"/>
          </a:p>
          <a:p>
            <a:r>
              <a:rPr lang="ru-RU" sz="2000" b="1" dirty="0" smtClean="0"/>
              <a:t>   </a:t>
            </a:r>
            <a:r>
              <a:rPr lang="en-US" sz="2000" b="1" dirty="0" smtClean="0"/>
              <a:t>LPCTSTR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lpString</a:t>
            </a:r>
            <a:r>
              <a:rPr lang="en-US" sz="2000" b="1" dirty="0" smtClean="0"/>
              <a:t>, </a:t>
            </a:r>
            <a:r>
              <a:rPr lang="ru-RU" sz="2000" b="1" dirty="0" smtClean="0"/>
              <a:t>		</a:t>
            </a:r>
            <a:r>
              <a:rPr lang="en-US" sz="2000" dirty="0" smtClean="0"/>
              <a:t>// character string </a:t>
            </a:r>
            <a:endParaRPr lang="ru-RU" sz="2000" dirty="0" smtClean="0"/>
          </a:p>
          <a:p>
            <a:r>
              <a:rPr lang="ru-RU" sz="2000" b="1" dirty="0" smtClean="0"/>
              <a:t>   </a:t>
            </a:r>
            <a:r>
              <a:rPr lang="en-US" sz="2000" b="1" dirty="0" err="1" smtClean="0"/>
              <a:t>int</a:t>
            </a:r>
            <a:r>
              <a:rPr lang="en-US" sz="2000" dirty="0" smtClean="0"/>
              <a:t> </a:t>
            </a:r>
            <a:r>
              <a:rPr lang="en-US" sz="2000" i="1" dirty="0" err="1" smtClean="0"/>
              <a:t>cbString</a:t>
            </a:r>
            <a:r>
              <a:rPr lang="en-US" sz="2000" dirty="0" smtClean="0"/>
              <a:t> </a:t>
            </a:r>
            <a:r>
              <a:rPr lang="ru-RU" sz="2000" dirty="0" smtClean="0"/>
              <a:t>			</a:t>
            </a:r>
            <a:r>
              <a:rPr lang="en-US" sz="2000" dirty="0" smtClean="0"/>
              <a:t>// number of characters </a:t>
            </a:r>
            <a:endParaRPr lang="ru-RU" sz="2000" dirty="0" smtClean="0"/>
          </a:p>
          <a:p>
            <a:r>
              <a:rPr lang="ru-RU" sz="2000" b="1" dirty="0" smtClean="0"/>
              <a:t> </a:t>
            </a:r>
            <a:r>
              <a:rPr lang="en-US" sz="2000" b="1" dirty="0" smtClean="0"/>
              <a:t>)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92696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2.3. Создание приложения</a:t>
            </a:r>
            <a:endParaRPr lang="ru-RU" sz="2400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4704"/>
            <a:ext cx="9144000" cy="6093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2.4. Пример</a:t>
            </a:r>
            <a:endParaRPr lang="ru-RU" sz="24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61662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#include "</a:t>
            </a:r>
            <a:r>
              <a:rPr lang="en-US" dirty="0" err="1"/>
              <a:t>stdafx.h</a:t>
            </a:r>
            <a:r>
              <a:rPr lang="en-US" dirty="0"/>
              <a:t>"</a:t>
            </a:r>
          </a:p>
          <a:p>
            <a:r>
              <a:rPr lang="en-US" dirty="0"/>
              <a:t>#include "</a:t>
            </a:r>
            <a:r>
              <a:rPr lang="en-US" dirty="0" err="1"/>
              <a:t>First.h</a:t>
            </a:r>
            <a:r>
              <a:rPr lang="en-US" dirty="0"/>
              <a:t>"</a:t>
            </a:r>
          </a:p>
          <a:p>
            <a:endParaRPr lang="ru-RU" dirty="0"/>
          </a:p>
          <a:p>
            <a:r>
              <a:rPr lang="en-US" dirty="0"/>
              <a:t>#define MAX_LOADSTRING 100</a:t>
            </a:r>
          </a:p>
          <a:p>
            <a:endParaRPr lang="ru-RU" dirty="0"/>
          </a:p>
          <a:p>
            <a:r>
              <a:rPr lang="en-US" dirty="0"/>
              <a:t>// Global Variables:</a:t>
            </a:r>
          </a:p>
          <a:p>
            <a:r>
              <a:rPr lang="en-US" dirty="0"/>
              <a:t>HINSTANCE </a:t>
            </a:r>
            <a:r>
              <a:rPr lang="en-US" dirty="0" err="1"/>
              <a:t>hInst</a:t>
            </a:r>
            <a:r>
              <a:rPr lang="en-US" dirty="0"/>
              <a:t>;								// current instance</a:t>
            </a:r>
          </a:p>
          <a:p>
            <a:r>
              <a:rPr lang="en-US" dirty="0"/>
              <a:t>TCHAR </a:t>
            </a:r>
            <a:r>
              <a:rPr lang="en-US" dirty="0" err="1"/>
              <a:t>szTitle</a:t>
            </a:r>
            <a:r>
              <a:rPr lang="en-US" dirty="0"/>
              <a:t>[MAX_LOADSTRING];					// The title bar text</a:t>
            </a:r>
          </a:p>
          <a:p>
            <a:r>
              <a:rPr lang="en-US" dirty="0"/>
              <a:t>TCHAR </a:t>
            </a:r>
            <a:r>
              <a:rPr lang="en-US" dirty="0" err="1"/>
              <a:t>szWindowClass</a:t>
            </a:r>
            <a:r>
              <a:rPr lang="en-US" dirty="0"/>
              <a:t>[MAX_LOADSTRING];			// the main window class name</a:t>
            </a:r>
          </a:p>
          <a:p>
            <a:endParaRPr lang="ru-RU" dirty="0"/>
          </a:p>
          <a:p>
            <a:r>
              <a:rPr lang="en-US" dirty="0"/>
              <a:t>// Forward declarations of functions included in this code module:</a:t>
            </a:r>
          </a:p>
          <a:p>
            <a:r>
              <a:rPr lang="en-US" dirty="0"/>
              <a:t>ATOM				</a:t>
            </a:r>
            <a:r>
              <a:rPr lang="en-US" dirty="0" err="1"/>
              <a:t>MyRegisterClass</a:t>
            </a:r>
            <a:r>
              <a:rPr lang="en-US" dirty="0"/>
              <a:t>(HINSTANCE </a:t>
            </a:r>
            <a:r>
              <a:rPr lang="en-US" dirty="0" err="1"/>
              <a:t>hInstance</a:t>
            </a:r>
            <a:r>
              <a:rPr lang="en-US" dirty="0"/>
              <a:t>);</a:t>
            </a:r>
          </a:p>
          <a:p>
            <a:r>
              <a:rPr lang="en-US" dirty="0"/>
              <a:t>BOOL				</a:t>
            </a:r>
            <a:r>
              <a:rPr lang="en-US" dirty="0" err="1"/>
              <a:t>InitInstance</a:t>
            </a:r>
            <a:r>
              <a:rPr lang="en-US" dirty="0"/>
              <a:t>(HINSTANCE, </a:t>
            </a:r>
            <a:r>
              <a:rPr lang="en-US" dirty="0" err="1"/>
              <a:t>int</a:t>
            </a:r>
            <a:r>
              <a:rPr lang="en-US" dirty="0"/>
              <a:t>);</a:t>
            </a:r>
          </a:p>
          <a:p>
            <a:r>
              <a:rPr lang="en-US" dirty="0"/>
              <a:t>LRESULT CALLBACK	</a:t>
            </a:r>
            <a:r>
              <a:rPr lang="en-US" dirty="0" err="1"/>
              <a:t>WndProc</a:t>
            </a:r>
            <a:r>
              <a:rPr lang="en-US" dirty="0"/>
              <a:t>(HWND, UINT, WPARAM, LPARAM);</a:t>
            </a:r>
          </a:p>
          <a:p>
            <a:r>
              <a:rPr lang="en-US" dirty="0"/>
              <a:t>INT_PTR CALLBACK	About(HWND, UINT, WPARAM, LPARAM);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76672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Пример (продолжение)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6165304"/>
          </a:xfrm>
        </p:spPr>
        <p:txBody>
          <a:bodyPr>
            <a:normAutofit fontScale="55000" lnSpcReduction="20000"/>
          </a:bodyPr>
          <a:lstStyle/>
          <a:p>
            <a:r>
              <a:rPr lang="en-US" dirty="0" err="1"/>
              <a:t>int</a:t>
            </a:r>
            <a:r>
              <a:rPr lang="en-US" dirty="0"/>
              <a:t> APIENTRY _</a:t>
            </a:r>
            <a:r>
              <a:rPr lang="en-US" dirty="0" err="1"/>
              <a:t>tWinMain</a:t>
            </a:r>
            <a:r>
              <a:rPr lang="en-US" dirty="0"/>
              <a:t>(HINSTANCE </a:t>
            </a:r>
            <a:r>
              <a:rPr lang="en-US" dirty="0" err="1"/>
              <a:t>hInstance</a:t>
            </a:r>
            <a:r>
              <a:rPr lang="en-US" dirty="0"/>
              <a:t>,</a:t>
            </a:r>
          </a:p>
          <a:p>
            <a:r>
              <a:rPr lang="en-US" dirty="0"/>
              <a:t>                     HINSTANCE </a:t>
            </a:r>
            <a:r>
              <a:rPr lang="en-US" dirty="0" err="1"/>
              <a:t>hPrevInstance</a:t>
            </a:r>
            <a:r>
              <a:rPr lang="en-US" dirty="0"/>
              <a:t>,</a:t>
            </a:r>
          </a:p>
          <a:p>
            <a:r>
              <a:rPr lang="en-US" dirty="0"/>
              <a:t>                     LPTSTR    </a:t>
            </a:r>
            <a:r>
              <a:rPr lang="en-US" dirty="0" err="1"/>
              <a:t>lpCmdLine</a:t>
            </a:r>
            <a:r>
              <a:rPr lang="en-US" dirty="0"/>
              <a:t>,</a:t>
            </a:r>
          </a:p>
          <a:p>
            <a:r>
              <a:rPr lang="en-US" dirty="0"/>
              <a:t>                     </a:t>
            </a:r>
            <a:r>
              <a:rPr lang="en-US" dirty="0" err="1"/>
              <a:t>int</a:t>
            </a:r>
            <a:r>
              <a:rPr lang="en-US" dirty="0"/>
              <a:t>       </a:t>
            </a:r>
            <a:r>
              <a:rPr lang="en-US" dirty="0" err="1"/>
              <a:t>nCmdShow</a:t>
            </a:r>
            <a:r>
              <a:rPr lang="en-US" dirty="0"/>
              <a:t>)</a:t>
            </a:r>
          </a:p>
          <a:p>
            <a:r>
              <a:rPr lang="ru-RU" dirty="0"/>
              <a:t>{</a:t>
            </a:r>
          </a:p>
          <a:p>
            <a:r>
              <a:rPr lang="en-US" dirty="0"/>
              <a:t>	UNREFERENCED_PARAMETER(</a:t>
            </a:r>
            <a:r>
              <a:rPr lang="en-US" dirty="0" err="1"/>
              <a:t>hPrevInstance</a:t>
            </a:r>
            <a:r>
              <a:rPr lang="en-US" dirty="0"/>
              <a:t>);</a:t>
            </a:r>
          </a:p>
          <a:p>
            <a:r>
              <a:rPr lang="en-US" dirty="0"/>
              <a:t>	UNREFERENCED_PARAMETER(</a:t>
            </a:r>
            <a:r>
              <a:rPr lang="en-US" dirty="0" err="1"/>
              <a:t>lpCmdLine</a:t>
            </a:r>
            <a:r>
              <a:rPr lang="en-US" dirty="0"/>
              <a:t>);</a:t>
            </a:r>
          </a:p>
          <a:p>
            <a:endParaRPr lang="ru-RU" dirty="0"/>
          </a:p>
          <a:p>
            <a:r>
              <a:rPr lang="en-US" dirty="0"/>
              <a:t> 	// TODO: Place code here.</a:t>
            </a:r>
          </a:p>
          <a:p>
            <a:r>
              <a:rPr lang="en-US" dirty="0"/>
              <a:t>	MSG </a:t>
            </a:r>
            <a:r>
              <a:rPr lang="en-US" dirty="0" err="1"/>
              <a:t>msg</a:t>
            </a:r>
            <a:r>
              <a:rPr lang="en-US" dirty="0"/>
              <a:t>;</a:t>
            </a:r>
          </a:p>
          <a:p>
            <a:r>
              <a:rPr lang="en-US" dirty="0"/>
              <a:t>	HACCEL </a:t>
            </a:r>
            <a:r>
              <a:rPr lang="en-US" dirty="0" err="1"/>
              <a:t>hAccelTable</a:t>
            </a:r>
            <a:r>
              <a:rPr lang="en-US" dirty="0"/>
              <a:t>;</a:t>
            </a:r>
          </a:p>
          <a:p>
            <a:endParaRPr lang="ru-RU" dirty="0"/>
          </a:p>
          <a:p>
            <a:r>
              <a:rPr lang="en-US" dirty="0"/>
              <a:t>	// Initialize global strings</a:t>
            </a:r>
          </a:p>
          <a:p>
            <a:r>
              <a:rPr lang="en-US" dirty="0"/>
              <a:t>	</a:t>
            </a:r>
            <a:r>
              <a:rPr lang="en-US" dirty="0" err="1"/>
              <a:t>LoadString</a:t>
            </a:r>
            <a:r>
              <a:rPr lang="en-US" dirty="0"/>
              <a:t>(</a:t>
            </a:r>
            <a:r>
              <a:rPr lang="en-US" dirty="0" err="1"/>
              <a:t>hInstance</a:t>
            </a:r>
            <a:r>
              <a:rPr lang="en-US" dirty="0"/>
              <a:t>, IDS_APP_TITLE, </a:t>
            </a:r>
            <a:r>
              <a:rPr lang="en-US" dirty="0" err="1"/>
              <a:t>szTitle</a:t>
            </a:r>
            <a:r>
              <a:rPr lang="en-US" dirty="0"/>
              <a:t>, MAX_LOADSTRING);</a:t>
            </a:r>
          </a:p>
          <a:p>
            <a:r>
              <a:rPr lang="en-US" dirty="0"/>
              <a:t>	</a:t>
            </a:r>
            <a:r>
              <a:rPr lang="en-US" dirty="0" err="1"/>
              <a:t>LoadString</a:t>
            </a:r>
            <a:r>
              <a:rPr lang="en-US" dirty="0"/>
              <a:t>(</a:t>
            </a:r>
            <a:r>
              <a:rPr lang="en-US" dirty="0" err="1"/>
              <a:t>hInstance</a:t>
            </a:r>
            <a:r>
              <a:rPr lang="en-US" dirty="0"/>
              <a:t>, IDC_FIRST, </a:t>
            </a:r>
            <a:r>
              <a:rPr lang="en-US" dirty="0" err="1"/>
              <a:t>szWindowClass</a:t>
            </a:r>
            <a:r>
              <a:rPr lang="en-US" dirty="0"/>
              <a:t>, MAX_LOADSTRING);</a:t>
            </a:r>
          </a:p>
          <a:p>
            <a:r>
              <a:rPr lang="en-US" dirty="0"/>
              <a:t>	</a:t>
            </a:r>
            <a:r>
              <a:rPr lang="en-US" dirty="0" err="1"/>
              <a:t>MyRegisterClass</a:t>
            </a:r>
            <a:r>
              <a:rPr lang="en-US" dirty="0"/>
              <a:t>(</a:t>
            </a:r>
            <a:r>
              <a:rPr lang="en-US" dirty="0" err="1"/>
              <a:t>hInstance</a:t>
            </a:r>
            <a:r>
              <a:rPr lang="en-US" dirty="0"/>
              <a:t>);</a:t>
            </a:r>
          </a:p>
          <a:p>
            <a:endParaRPr lang="ru-RU" dirty="0"/>
          </a:p>
          <a:p>
            <a:r>
              <a:rPr lang="en-US" dirty="0"/>
              <a:t>	// Perform application initialization:</a:t>
            </a:r>
          </a:p>
          <a:p>
            <a:r>
              <a:rPr lang="en-US" dirty="0"/>
              <a:t>	if (!</a:t>
            </a:r>
            <a:r>
              <a:rPr lang="en-US" dirty="0" err="1"/>
              <a:t>InitInstance</a:t>
            </a:r>
            <a:r>
              <a:rPr lang="en-US" dirty="0"/>
              <a:t> (</a:t>
            </a:r>
            <a:r>
              <a:rPr lang="en-US" dirty="0" err="1"/>
              <a:t>hInstance</a:t>
            </a:r>
            <a:r>
              <a:rPr lang="en-US" dirty="0"/>
              <a:t>, </a:t>
            </a:r>
            <a:r>
              <a:rPr lang="en-US" dirty="0" err="1"/>
              <a:t>nCmdShow</a:t>
            </a:r>
            <a:r>
              <a:rPr lang="en-US" dirty="0"/>
              <a:t>))</a:t>
            </a:r>
          </a:p>
          <a:p>
            <a:r>
              <a:rPr lang="ru-RU" dirty="0"/>
              <a:t>	{</a:t>
            </a:r>
          </a:p>
          <a:p>
            <a:r>
              <a:rPr lang="en-US" dirty="0"/>
              <a:t>		return FALSE;</a:t>
            </a:r>
          </a:p>
          <a:p>
            <a:r>
              <a:rPr lang="ru-RU" dirty="0"/>
              <a:t>	}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Пример (продолжение)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 smtClean="0"/>
              <a:t>hAccelTable</a:t>
            </a:r>
            <a:r>
              <a:rPr lang="en-US" dirty="0" smtClean="0"/>
              <a:t> = </a:t>
            </a:r>
            <a:r>
              <a:rPr lang="en-US" dirty="0" err="1" smtClean="0"/>
              <a:t>LoadAccelerators</a:t>
            </a:r>
            <a:r>
              <a:rPr lang="en-US" dirty="0" smtClean="0"/>
              <a:t>(</a:t>
            </a:r>
            <a:r>
              <a:rPr lang="en-US" dirty="0" err="1" smtClean="0"/>
              <a:t>hInstance</a:t>
            </a:r>
            <a:r>
              <a:rPr lang="en-US" dirty="0" smtClean="0"/>
              <a:t>, </a:t>
            </a:r>
            <a:endParaRPr lang="ru-RU" dirty="0" smtClean="0"/>
          </a:p>
          <a:p>
            <a:r>
              <a:rPr lang="ru-RU" dirty="0"/>
              <a:t> </a:t>
            </a:r>
            <a:r>
              <a:rPr lang="ru-RU" dirty="0" smtClean="0"/>
              <a:t>                                                          </a:t>
            </a:r>
            <a:r>
              <a:rPr lang="en-US" dirty="0" smtClean="0"/>
              <a:t>MAKEINTRESOURCE(IDC_FIRST));</a:t>
            </a:r>
          </a:p>
          <a:p>
            <a:endParaRPr lang="ru-RU" dirty="0" smtClean="0"/>
          </a:p>
          <a:p>
            <a:r>
              <a:rPr lang="en-US" dirty="0" smtClean="0"/>
              <a:t>	</a:t>
            </a:r>
            <a:r>
              <a:rPr lang="en-US" dirty="0"/>
              <a:t>// Main message loop:</a:t>
            </a:r>
          </a:p>
          <a:p>
            <a:r>
              <a:rPr lang="en-US" dirty="0"/>
              <a:t>	while (</a:t>
            </a:r>
            <a:r>
              <a:rPr lang="en-US" dirty="0" err="1"/>
              <a:t>GetMessage</a:t>
            </a:r>
            <a:r>
              <a:rPr lang="en-US" dirty="0"/>
              <a:t>(&amp;</a:t>
            </a:r>
            <a:r>
              <a:rPr lang="en-US" dirty="0" err="1"/>
              <a:t>msg</a:t>
            </a:r>
            <a:r>
              <a:rPr lang="en-US" dirty="0"/>
              <a:t>, NULL, 0, 0))</a:t>
            </a:r>
          </a:p>
          <a:p>
            <a:r>
              <a:rPr lang="ru-RU" dirty="0"/>
              <a:t>	{</a:t>
            </a:r>
          </a:p>
          <a:p>
            <a:r>
              <a:rPr lang="en-US" dirty="0"/>
              <a:t>		if (!</a:t>
            </a:r>
            <a:r>
              <a:rPr lang="en-US" dirty="0" err="1"/>
              <a:t>TranslateAccelerator</a:t>
            </a:r>
            <a:r>
              <a:rPr lang="en-US" dirty="0"/>
              <a:t>(</a:t>
            </a:r>
            <a:r>
              <a:rPr lang="en-US" dirty="0" err="1"/>
              <a:t>msg.hwnd</a:t>
            </a:r>
            <a:r>
              <a:rPr lang="en-US" dirty="0"/>
              <a:t>, </a:t>
            </a:r>
            <a:r>
              <a:rPr lang="en-US" dirty="0" err="1"/>
              <a:t>hAccelTable</a:t>
            </a:r>
            <a:r>
              <a:rPr lang="en-US" dirty="0"/>
              <a:t>, &amp;</a:t>
            </a:r>
            <a:r>
              <a:rPr lang="en-US" dirty="0" err="1"/>
              <a:t>msg</a:t>
            </a:r>
            <a:r>
              <a:rPr lang="en-US" dirty="0"/>
              <a:t>))</a:t>
            </a:r>
          </a:p>
          <a:p>
            <a:r>
              <a:rPr lang="ru-RU" dirty="0"/>
              <a:t>		{</a:t>
            </a:r>
          </a:p>
          <a:p>
            <a:r>
              <a:rPr lang="en-US" dirty="0"/>
              <a:t>			</a:t>
            </a:r>
            <a:r>
              <a:rPr lang="en-US" dirty="0" err="1"/>
              <a:t>TranslateMessage</a:t>
            </a:r>
            <a:r>
              <a:rPr lang="en-US" dirty="0"/>
              <a:t>(&amp;</a:t>
            </a:r>
            <a:r>
              <a:rPr lang="en-US" dirty="0" err="1"/>
              <a:t>msg</a:t>
            </a:r>
            <a:r>
              <a:rPr lang="en-US" dirty="0"/>
              <a:t>);</a:t>
            </a:r>
          </a:p>
          <a:p>
            <a:r>
              <a:rPr lang="en-US" dirty="0"/>
              <a:t>			</a:t>
            </a:r>
            <a:r>
              <a:rPr lang="en-US" dirty="0" err="1"/>
              <a:t>DispatchMessage</a:t>
            </a:r>
            <a:r>
              <a:rPr lang="en-US" dirty="0"/>
              <a:t>(&amp;</a:t>
            </a:r>
            <a:r>
              <a:rPr lang="en-US" dirty="0" err="1"/>
              <a:t>msg</a:t>
            </a:r>
            <a:r>
              <a:rPr lang="en-US" dirty="0"/>
              <a:t>);</a:t>
            </a:r>
          </a:p>
          <a:p>
            <a:r>
              <a:rPr lang="ru-RU" dirty="0"/>
              <a:t>		}</a:t>
            </a:r>
          </a:p>
          <a:p>
            <a:r>
              <a:rPr lang="ru-RU" dirty="0"/>
              <a:t>	}</a:t>
            </a:r>
          </a:p>
          <a:p>
            <a:endParaRPr lang="ru-RU" dirty="0"/>
          </a:p>
          <a:p>
            <a:r>
              <a:rPr lang="en-US" dirty="0"/>
              <a:t>	return (</a:t>
            </a:r>
            <a:r>
              <a:rPr lang="en-US" dirty="0" err="1"/>
              <a:t>int</a:t>
            </a:r>
            <a:r>
              <a:rPr lang="en-US" dirty="0"/>
              <a:t>) </a:t>
            </a:r>
            <a:r>
              <a:rPr lang="en-US" dirty="0" err="1"/>
              <a:t>msg.wParam</a:t>
            </a:r>
            <a:r>
              <a:rPr lang="en-US" dirty="0"/>
              <a:t>;</a:t>
            </a:r>
          </a:p>
          <a:p>
            <a:r>
              <a:rPr lang="ru-RU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8680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Пример (продолжение)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6093296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ATOM </a:t>
            </a:r>
            <a:r>
              <a:rPr lang="en-US" dirty="0" err="1" smtClean="0"/>
              <a:t>MyRegisterClass</a:t>
            </a:r>
            <a:r>
              <a:rPr lang="en-US" dirty="0" smtClean="0"/>
              <a:t>(HINSTANCE </a:t>
            </a:r>
            <a:r>
              <a:rPr lang="en-US" dirty="0" err="1" smtClean="0"/>
              <a:t>hInstance</a:t>
            </a:r>
            <a:r>
              <a:rPr lang="en-US" dirty="0" smtClean="0"/>
              <a:t>)</a:t>
            </a:r>
          </a:p>
          <a:p>
            <a:r>
              <a:rPr lang="ru-RU" dirty="0" smtClean="0"/>
              <a:t>{</a:t>
            </a:r>
          </a:p>
          <a:p>
            <a:r>
              <a:rPr lang="en-US" dirty="0" smtClean="0"/>
              <a:t>	WNDCLASSEX </a:t>
            </a:r>
            <a:r>
              <a:rPr lang="en-US" dirty="0" err="1" smtClean="0"/>
              <a:t>wcex</a:t>
            </a:r>
            <a:r>
              <a:rPr lang="en-US" dirty="0" smtClean="0"/>
              <a:t>;</a:t>
            </a:r>
          </a:p>
          <a:p>
            <a:endParaRPr lang="ru-RU" dirty="0" smtClean="0"/>
          </a:p>
          <a:p>
            <a:r>
              <a:rPr lang="en-US" dirty="0" smtClean="0"/>
              <a:t>	</a:t>
            </a:r>
            <a:r>
              <a:rPr lang="en-US" dirty="0" err="1" smtClean="0"/>
              <a:t>wcex.cbSize</a:t>
            </a:r>
            <a:r>
              <a:rPr lang="en-US" dirty="0" smtClean="0"/>
              <a:t> = </a:t>
            </a:r>
            <a:r>
              <a:rPr lang="en-US" dirty="0" err="1"/>
              <a:t>sizeof</a:t>
            </a:r>
            <a:r>
              <a:rPr lang="en-US" dirty="0"/>
              <a:t>(WNDCLASSEX);</a:t>
            </a:r>
          </a:p>
          <a:p>
            <a:endParaRPr lang="ru-RU" dirty="0"/>
          </a:p>
          <a:p>
            <a:r>
              <a:rPr lang="en-US" dirty="0"/>
              <a:t>	</a:t>
            </a:r>
            <a:r>
              <a:rPr lang="en-US" dirty="0" err="1"/>
              <a:t>wcex.style</a:t>
            </a:r>
            <a:r>
              <a:rPr lang="en-US" dirty="0"/>
              <a:t>		</a:t>
            </a:r>
            <a:r>
              <a:rPr lang="en-US" dirty="0" smtClean="0"/>
              <a:t>= </a:t>
            </a:r>
            <a:r>
              <a:rPr lang="en-US" dirty="0"/>
              <a:t>CS_HREDRAW | CS_VREDRAW;</a:t>
            </a:r>
          </a:p>
          <a:p>
            <a:r>
              <a:rPr lang="en-US" dirty="0"/>
              <a:t>	</a:t>
            </a:r>
            <a:r>
              <a:rPr lang="en-US" dirty="0" err="1"/>
              <a:t>wcex.lpfnWndProc</a:t>
            </a:r>
            <a:r>
              <a:rPr lang="en-US" dirty="0"/>
              <a:t>	</a:t>
            </a:r>
            <a:r>
              <a:rPr lang="ru-RU" dirty="0" smtClean="0"/>
              <a:t>	</a:t>
            </a:r>
            <a:r>
              <a:rPr lang="en-US" dirty="0" smtClean="0"/>
              <a:t>= </a:t>
            </a:r>
            <a:r>
              <a:rPr lang="en-US" dirty="0" err="1"/>
              <a:t>WndProc</a:t>
            </a:r>
            <a:r>
              <a:rPr lang="en-US" dirty="0"/>
              <a:t>;</a:t>
            </a:r>
          </a:p>
          <a:p>
            <a:r>
              <a:rPr lang="en-US" dirty="0"/>
              <a:t>	</a:t>
            </a:r>
            <a:r>
              <a:rPr lang="en-US" dirty="0" err="1"/>
              <a:t>wcex.cbClsExtra</a:t>
            </a:r>
            <a:r>
              <a:rPr lang="en-US" dirty="0"/>
              <a:t>		= 0;</a:t>
            </a:r>
          </a:p>
          <a:p>
            <a:r>
              <a:rPr lang="en-US" dirty="0"/>
              <a:t>	</a:t>
            </a:r>
            <a:r>
              <a:rPr lang="en-US" dirty="0" err="1"/>
              <a:t>wcex.cbWndExtra</a:t>
            </a:r>
            <a:r>
              <a:rPr lang="en-US" dirty="0"/>
              <a:t>		= 0;</a:t>
            </a:r>
          </a:p>
          <a:p>
            <a:r>
              <a:rPr lang="en-US" dirty="0"/>
              <a:t>	</a:t>
            </a:r>
            <a:r>
              <a:rPr lang="en-US" dirty="0" err="1"/>
              <a:t>wcex.hInstance</a:t>
            </a:r>
            <a:r>
              <a:rPr lang="en-US" dirty="0"/>
              <a:t>		= </a:t>
            </a:r>
            <a:r>
              <a:rPr lang="en-US" dirty="0" err="1"/>
              <a:t>hInstance</a:t>
            </a:r>
            <a:r>
              <a:rPr lang="en-US" dirty="0"/>
              <a:t>;</a:t>
            </a:r>
          </a:p>
          <a:p>
            <a:r>
              <a:rPr lang="en-US" dirty="0"/>
              <a:t>	</a:t>
            </a:r>
            <a:r>
              <a:rPr lang="en-US" dirty="0" err="1"/>
              <a:t>wcex.hIcon</a:t>
            </a:r>
            <a:r>
              <a:rPr lang="en-US" dirty="0"/>
              <a:t>		</a:t>
            </a:r>
            <a:r>
              <a:rPr lang="en-US" dirty="0" smtClean="0"/>
              <a:t>= </a:t>
            </a:r>
            <a:r>
              <a:rPr lang="en-US" dirty="0" err="1"/>
              <a:t>LoadIcon</a:t>
            </a:r>
            <a:r>
              <a:rPr lang="en-US" dirty="0"/>
              <a:t>(</a:t>
            </a:r>
            <a:r>
              <a:rPr lang="en-US" dirty="0" err="1"/>
              <a:t>hInstance</a:t>
            </a:r>
            <a:r>
              <a:rPr lang="en-US" dirty="0"/>
              <a:t>, </a:t>
            </a:r>
            <a:endParaRPr lang="ru-RU" dirty="0" smtClean="0"/>
          </a:p>
          <a:p>
            <a:r>
              <a:rPr lang="ru-RU" dirty="0"/>
              <a:t> </a:t>
            </a:r>
            <a:r>
              <a:rPr lang="ru-RU" dirty="0" smtClean="0"/>
              <a:t>                                                                                     </a:t>
            </a:r>
            <a:r>
              <a:rPr lang="en-US" dirty="0" smtClean="0"/>
              <a:t>MAKEINTRESOURCE(IDI_FIRST</a:t>
            </a:r>
            <a:r>
              <a:rPr lang="en-US" dirty="0"/>
              <a:t>));</a:t>
            </a:r>
          </a:p>
          <a:p>
            <a:r>
              <a:rPr lang="en-US" dirty="0"/>
              <a:t>	</a:t>
            </a:r>
            <a:r>
              <a:rPr lang="en-US" dirty="0" err="1"/>
              <a:t>wcex.hCursor</a:t>
            </a:r>
            <a:r>
              <a:rPr lang="en-US" dirty="0"/>
              <a:t>		= </a:t>
            </a:r>
            <a:r>
              <a:rPr lang="en-US" dirty="0" err="1"/>
              <a:t>LoadCursor</a:t>
            </a:r>
            <a:r>
              <a:rPr lang="en-US" dirty="0"/>
              <a:t>(NULL, IDC_ARROW);</a:t>
            </a:r>
          </a:p>
          <a:p>
            <a:r>
              <a:rPr lang="en-US" dirty="0"/>
              <a:t>	</a:t>
            </a:r>
            <a:r>
              <a:rPr lang="en-US" dirty="0" err="1"/>
              <a:t>wcex.hbrBackground</a:t>
            </a:r>
            <a:r>
              <a:rPr lang="en-US" dirty="0"/>
              <a:t>	= (HBRUSH)(COLOR_WINDOW+1);</a:t>
            </a:r>
          </a:p>
          <a:p>
            <a:r>
              <a:rPr lang="en-US" dirty="0"/>
              <a:t>	</a:t>
            </a:r>
            <a:r>
              <a:rPr lang="en-US" dirty="0" err="1"/>
              <a:t>wcex.lpszMenuName</a:t>
            </a:r>
            <a:r>
              <a:rPr lang="en-US" dirty="0"/>
              <a:t>	= MAKEINTRESOURCE(IDC_FIRST);</a:t>
            </a:r>
          </a:p>
          <a:p>
            <a:r>
              <a:rPr lang="en-US" dirty="0"/>
              <a:t>	</a:t>
            </a:r>
            <a:r>
              <a:rPr lang="en-US" dirty="0" err="1"/>
              <a:t>wcex.lpszClassName</a:t>
            </a:r>
            <a:r>
              <a:rPr lang="en-US" dirty="0"/>
              <a:t>	= </a:t>
            </a:r>
            <a:r>
              <a:rPr lang="en-US" dirty="0" err="1"/>
              <a:t>szWindowClass</a:t>
            </a:r>
            <a:r>
              <a:rPr lang="en-US" dirty="0"/>
              <a:t>;</a:t>
            </a:r>
          </a:p>
          <a:p>
            <a:r>
              <a:rPr lang="en-US" dirty="0"/>
              <a:t>	</a:t>
            </a:r>
            <a:r>
              <a:rPr lang="en-US" dirty="0" err="1"/>
              <a:t>wcex.hIconSm</a:t>
            </a:r>
            <a:r>
              <a:rPr lang="en-US" dirty="0"/>
              <a:t>		= </a:t>
            </a:r>
            <a:r>
              <a:rPr lang="en-US" dirty="0" err="1"/>
              <a:t>LoadIcon</a:t>
            </a:r>
            <a:r>
              <a:rPr lang="en-US" dirty="0"/>
              <a:t>(</a:t>
            </a:r>
            <a:r>
              <a:rPr lang="en-US" dirty="0" err="1"/>
              <a:t>wcex.hInstance</a:t>
            </a:r>
            <a:r>
              <a:rPr lang="en-US" dirty="0"/>
              <a:t>, </a:t>
            </a:r>
            <a:endParaRPr lang="ru-RU" dirty="0" smtClean="0"/>
          </a:p>
          <a:p>
            <a:r>
              <a:rPr lang="ru-RU" dirty="0"/>
              <a:t> </a:t>
            </a:r>
            <a:r>
              <a:rPr lang="ru-RU" dirty="0" smtClean="0"/>
              <a:t>                                                                                   </a:t>
            </a:r>
            <a:r>
              <a:rPr lang="en-US" dirty="0" smtClean="0"/>
              <a:t>MAKEINTRESOURCE(IDI_SMALL</a:t>
            </a:r>
            <a:r>
              <a:rPr lang="en-US" dirty="0"/>
              <a:t>));</a:t>
            </a:r>
          </a:p>
          <a:p>
            <a:endParaRPr lang="ru-RU" dirty="0"/>
          </a:p>
          <a:p>
            <a:r>
              <a:rPr lang="en-US" dirty="0"/>
              <a:t>	return </a:t>
            </a:r>
            <a:r>
              <a:rPr lang="en-US" dirty="0" err="1"/>
              <a:t>RegisterClassEx</a:t>
            </a:r>
            <a:r>
              <a:rPr lang="en-US" dirty="0"/>
              <a:t>(&amp;</a:t>
            </a:r>
            <a:r>
              <a:rPr lang="en-US" dirty="0" err="1"/>
              <a:t>wcex</a:t>
            </a:r>
            <a:r>
              <a:rPr lang="en-US" dirty="0"/>
              <a:t>);</a:t>
            </a:r>
          </a:p>
          <a:p>
            <a:r>
              <a:rPr lang="ru-RU" dirty="0"/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Пример (продолжение)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72608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BOOL </a:t>
            </a:r>
            <a:r>
              <a:rPr lang="en-US" dirty="0" err="1" smtClean="0"/>
              <a:t>InitInstance</a:t>
            </a:r>
            <a:r>
              <a:rPr lang="en-US" dirty="0" smtClean="0"/>
              <a:t>(HINSTANCE </a:t>
            </a:r>
            <a:r>
              <a:rPr lang="en-US" dirty="0" err="1" smtClean="0"/>
              <a:t>hInstance</a:t>
            </a:r>
            <a:r>
              <a:rPr lang="en-US" dirty="0" smtClean="0"/>
              <a:t>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nCmdShow</a:t>
            </a:r>
            <a:r>
              <a:rPr lang="en-US" dirty="0"/>
              <a:t>)</a:t>
            </a:r>
          </a:p>
          <a:p>
            <a:r>
              <a:rPr lang="ru-RU" dirty="0"/>
              <a:t>{</a:t>
            </a:r>
          </a:p>
          <a:p>
            <a:r>
              <a:rPr lang="en-US" dirty="0"/>
              <a:t>   HWND </a:t>
            </a:r>
            <a:r>
              <a:rPr lang="en-US" dirty="0" err="1"/>
              <a:t>hWnd</a:t>
            </a:r>
            <a:r>
              <a:rPr lang="en-US" dirty="0"/>
              <a:t>;</a:t>
            </a:r>
          </a:p>
          <a:p>
            <a:endParaRPr lang="ru-RU" dirty="0"/>
          </a:p>
          <a:p>
            <a:r>
              <a:rPr lang="en-US" dirty="0"/>
              <a:t>   </a:t>
            </a:r>
            <a:r>
              <a:rPr lang="en-US" dirty="0" err="1"/>
              <a:t>hInst</a:t>
            </a:r>
            <a:r>
              <a:rPr lang="en-US" dirty="0"/>
              <a:t> = </a:t>
            </a:r>
            <a:r>
              <a:rPr lang="en-US" dirty="0" err="1"/>
              <a:t>hInstance</a:t>
            </a:r>
            <a:r>
              <a:rPr lang="en-US" dirty="0"/>
              <a:t>; // Store instance handle in our global variable</a:t>
            </a:r>
          </a:p>
          <a:p>
            <a:endParaRPr lang="ru-RU" dirty="0"/>
          </a:p>
          <a:p>
            <a:r>
              <a:rPr lang="en-US" dirty="0"/>
              <a:t>   </a:t>
            </a:r>
            <a:r>
              <a:rPr lang="en-US" dirty="0" err="1"/>
              <a:t>hWnd</a:t>
            </a:r>
            <a:r>
              <a:rPr lang="en-US" dirty="0"/>
              <a:t> = </a:t>
            </a:r>
            <a:r>
              <a:rPr lang="en-US" dirty="0" err="1"/>
              <a:t>CreateWindow</a:t>
            </a:r>
            <a:r>
              <a:rPr lang="en-US" dirty="0"/>
              <a:t>(</a:t>
            </a:r>
            <a:r>
              <a:rPr lang="en-US" dirty="0" err="1"/>
              <a:t>szWindowClass</a:t>
            </a:r>
            <a:r>
              <a:rPr lang="en-US" dirty="0"/>
              <a:t>, </a:t>
            </a:r>
            <a:r>
              <a:rPr lang="en-US" dirty="0" err="1"/>
              <a:t>szTitle</a:t>
            </a:r>
            <a:r>
              <a:rPr lang="en-US" dirty="0"/>
              <a:t>, WS_OVERLAPPEDWINDOW,</a:t>
            </a:r>
          </a:p>
          <a:p>
            <a:r>
              <a:rPr lang="en-US" dirty="0"/>
              <a:t>      CW_USEDEFAULT, 0, CW_USEDEFAULT, 0, NULL, NULL, </a:t>
            </a:r>
            <a:r>
              <a:rPr lang="en-US" dirty="0" err="1"/>
              <a:t>hInstance</a:t>
            </a:r>
            <a:r>
              <a:rPr lang="en-US" dirty="0"/>
              <a:t>, NULL);</a:t>
            </a:r>
          </a:p>
          <a:p>
            <a:endParaRPr lang="ru-RU" dirty="0"/>
          </a:p>
          <a:p>
            <a:r>
              <a:rPr lang="en-US" dirty="0"/>
              <a:t>   if (!</a:t>
            </a:r>
            <a:r>
              <a:rPr lang="en-US" dirty="0" err="1"/>
              <a:t>hWnd</a:t>
            </a:r>
            <a:r>
              <a:rPr lang="en-US" dirty="0"/>
              <a:t>)</a:t>
            </a:r>
          </a:p>
          <a:p>
            <a:r>
              <a:rPr lang="ru-RU" dirty="0"/>
              <a:t>   {</a:t>
            </a:r>
          </a:p>
          <a:p>
            <a:r>
              <a:rPr lang="en-US" dirty="0"/>
              <a:t>      return FALSE;</a:t>
            </a:r>
          </a:p>
          <a:p>
            <a:r>
              <a:rPr lang="ru-RU" dirty="0"/>
              <a:t>   }</a:t>
            </a:r>
          </a:p>
          <a:p>
            <a:endParaRPr lang="ru-RU" dirty="0"/>
          </a:p>
          <a:p>
            <a:r>
              <a:rPr lang="en-US" dirty="0"/>
              <a:t>   </a:t>
            </a:r>
            <a:r>
              <a:rPr lang="en-US" dirty="0" err="1"/>
              <a:t>ShowWindow</a:t>
            </a:r>
            <a:r>
              <a:rPr lang="en-US" dirty="0"/>
              <a:t>(</a:t>
            </a:r>
            <a:r>
              <a:rPr lang="en-US" dirty="0" err="1"/>
              <a:t>hWnd</a:t>
            </a:r>
            <a:r>
              <a:rPr lang="en-US" dirty="0"/>
              <a:t>, </a:t>
            </a:r>
            <a:r>
              <a:rPr lang="en-US" dirty="0" err="1"/>
              <a:t>nCmdShow</a:t>
            </a:r>
            <a:r>
              <a:rPr lang="en-US" dirty="0"/>
              <a:t>);</a:t>
            </a:r>
          </a:p>
          <a:p>
            <a:r>
              <a:rPr lang="en-US" dirty="0"/>
              <a:t>   </a:t>
            </a:r>
            <a:r>
              <a:rPr lang="en-US" dirty="0" err="1"/>
              <a:t>UpdateWindow</a:t>
            </a:r>
            <a:r>
              <a:rPr lang="en-US" dirty="0"/>
              <a:t>(</a:t>
            </a:r>
            <a:r>
              <a:rPr lang="en-US" dirty="0" err="1"/>
              <a:t>hWnd</a:t>
            </a:r>
            <a:r>
              <a:rPr lang="en-US" dirty="0"/>
              <a:t>);</a:t>
            </a:r>
          </a:p>
          <a:p>
            <a:endParaRPr lang="ru-RU" dirty="0"/>
          </a:p>
          <a:p>
            <a:r>
              <a:rPr lang="en-US" dirty="0"/>
              <a:t>   return TRUE;</a:t>
            </a:r>
          </a:p>
          <a:p>
            <a:r>
              <a:rPr lang="ru-RU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5719"/>
          </a:xfrm>
        </p:spPr>
        <p:txBody>
          <a:bodyPr>
            <a:normAutofit fontScale="90000"/>
          </a:bodyPr>
          <a:lstStyle/>
          <a:p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0"/>
            <a:ext cx="8496944" cy="6858000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LRESULT CALLBACK </a:t>
            </a:r>
            <a:r>
              <a:rPr lang="en-US" dirty="0" err="1" smtClean="0"/>
              <a:t>WndProc</a:t>
            </a:r>
            <a:r>
              <a:rPr lang="en-US" dirty="0" smtClean="0"/>
              <a:t>(HWND </a:t>
            </a:r>
            <a:r>
              <a:rPr lang="en-US" dirty="0" err="1" smtClean="0"/>
              <a:t>hWnd</a:t>
            </a:r>
            <a:r>
              <a:rPr lang="en-US" dirty="0" smtClean="0"/>
              <a:t>, UINT message, WPARAM </a:t>
            </a:r>
            <a:r>
              <a:rPr lang="en-US" dirty="0" err="1" smtClean="0"/>
              <a:t>wParam</a:t>
            </a:r>
            <a:r>
              <a:rPr lang="en-US" dirty="0" smtClean="0"/>
              <a:t>, LPARAM </a:t>
            </a:r>
            <a:r>
              <a:rPr lang="en-US" dirty="0" err="1" smtClean="0"/>
              <a:t>lParam</a:t>
            </a:r>
            <a:r>
              <a:rPr lang="en-US" dirty="0" smtClean="0"/>
              <a:t>)</a:t>
            </a:r>
          </a:p>
          <a:p>
            <a:r>
              <a:rPr lang="ru-RU" dirty="0" smtClean="0"/>
              <a:t>{</a:t>
            </a:r>
          </a:p>
          <a:p>
            <a:r>
              <a:rPr lang="en-US" dirty="0" smtClean="0"/>
              <a:t>	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wmId</a:t>
            </a:r>
            <a:r>
              <a:rPr lang="en-US" dirty="0"/>
              <a:t>, </a:t>
            </a:r>
            <a:r>
              <a:rPr lang="en-US" dirty="0" err="1"/>
              <a:t>wmEvent</a:t>
            </a:r>
            <a:r>
              <a:rPr lang="en-US" dirty="0"/>
              <a:t>;</a:t>
            </a:r>
          </a:p>
          <a:p>
            <a:r>
              <a:rPr lang="en-US" dirty="0"/>
              <a:t>	PAINTSTRUCT </a:t>
            </a:r>
            <a:r>
              <a:rPr lang="en-US" dirty="0" err="1"/>
              <a:t>ps</a:t>
            </a:r>
            <a:r>
              <a:rPr lang="en-US" dirty="0"/>
              <a:t>;</a:t>
            </a:r>
          </a:p>
          <a:p>
            <a:r>
              <a:rPr lang="en-US" dirty="0"/>
              <a:t>	HDC </a:t>
            </a:r>
            <a:r>
              <a:rPr lang="en-US" dirty="0" err="1"/>
              <a:t>hdc</a:t>
            </a:r>
            <a:r>
              <a:rPr lang="en-US" dirty="0"/>
              <a:t>;</a:t>
            </a:r>
          </a:p>
          <a:p>
            <a:r>
              <a:rPr lang="en-US" dirty="0"/>
              <a:t>	switch (message)</a:t>
            </a:r>
          </a:p>
          <a:p>
            <a:r>
              <a:rPr lang="ru-RU" dirty="0"/>
              <a:t>	{</a:t>
            </a:r>
          </a:p>
          <a:p>
            <a:r>
              <a:rPr lang="en-US" dirty="0"/>
              <a:t>	case WM_COMMAND:</a:t>
            </a:r>
          </a:p>
          <a:p>
            <a:r>
              <a:rPr lang="en-US" dirty="0"/>
              <a:t>		</a:t>
            </a:r>
            <a:r>
              <a:rPr lang="en-US" dirty="0" err="1"/>
              <a:t>wmId</a:t>
            </a:r>
            <a:r>
              <a:rPr lang="en-US" dirty="0"/>
              <a:t>    = LOWORD(</a:t>
            </a:r>
            <a:r>
              <a:rPr lang="en-US" dirty="0" err="1"/>
              <a:t>wParam</a:t>
            </a:r>
            <a:r>
              <a:rPr lang="en-US" dirty="0"/>
              <a:t>);</a:t>
            </a:r>
          </a:p>
          <a:p>
            <a:r>
              <a:rPr lang="en-US" dirty="0"/>
              <a:t>		</a:t>
            </a:r>
            <a:r>
              <a:rPr lang="en-US" dirty="0" err="1"/>
              <a:t>wmEvent</a:t>
            </a:r>
            <a:r>
              <a:rPr lang="en-US" dirty="0"/>
              <a:t> = HIWORD(</a:t>
            </a:r>
            <a:r>
              <a:rPr lang="en-US" dirty="0" err="1"/>
              <a:t>wParam</a:t>
            </a:r>
            <a:r>
              <a:rPr lang="en-US" dirty="0"/>
              <a:t>);</a:t>
            </a:r>
          </a:p>
          <a:p>
            <a:r>
              <a:rPr lang="en-US" dirty="0"/>
              <a:t>		// Parse the menu selections:</a:t>
            </a:r>
          </a:p>
          <a:p>
            <a:r>
              <a:rPr lang="en-US" dirty="0"/>
              <a:t>		switch (</a:t>
            </a:r>
            <a:r>
              <a:rPr lang="en-US" dirty="0" err="1"/>
              <a:t>wmId</a:t>
            </a:r>
            <a:r>
              <a:rPr lang="en-US" dirty="0"/>
              <a:t>)</a:t>
            </a:r>
          </a:p>
          <a:p>
            <a:r>
              <a:rPr lang="ru-RU" dirty="0"/>
              <a:t>		{</a:t>
            </a:r>
          </a:p>
          <a:p>
            <a:r>
              <a:rPr lang="en-US" dirty="0"/>
              <a:t>		case IDM_ABOUT:</a:t>
            </a:r>
          </a:p>
          <a:p>
            <a:r>
              <a:rPr lang="en-US" dirty="0"/>
              <a:t>			</a:t>
            </a:r>
            <a:r>
              <a:rPr lang="en-US" dirty="0" err="1"/>
              <a:t>DialogBox</a:t>
            </a:r>
            <a:r>
              <a:rPr lang="en-US" dirty="0"/>
              <a:t>(</a:t>
            </a:r>
            <a:r>
              <a:rPr lang="en-US" dirty="0" err="1"/>
              <a:t>hInst</a:t>
            </a:r>
            <a:r>
              <a:rPr lang="en-US" dirty="0"/>
              <a:t>, MAKEINTRESOURCE(IDD_ABOUTBOX), </a:t>
            </a:r>
            <a:r>
              <a:rPr lang="en-US" dirty="0" err="1"/>
              <a:t>hWnd</a:t>
            </a:r>
            <a:r>
              <a:rPr lang="en-US" dirty="0"/>
              <a:t>, About);</a:t>
            </a:r>
          </a:p>
          <a:p>
            <a:r>
              <a:rPr lang="en-US" dirty="0"/>
              <a:t>			break;</a:t>
            </a:r>
          </a:p>
          <a:p>
            <a:r>
              <a:rPr lang="en-US" dirty="0"/>
              <a:t>		case IDM_EXIT:</a:t>
            </a:r>
          </a:p>
          <a:p>
            <a:r>
              <a:rPr lang="en-US" dirty="0"/>
              <a:t>			</a:t>
            </a:r>
            <a:r>
              <a:rPr lang="en-US" dirty="0" err="1"/>
              <a:t>DestroyWindow</a:t>
            </a:r>
            <a:r>
              <a:rPr lang="en-US" dirty="0"/>
              <a:t>(</a:t>
            </a:r>
            <a:r>
              <a:rPr lang="en-US" dirty="0" err="1"/>
              <a:t>hWnd</a:t>
            </a:r>
            <a:r>
              <a:rPr lang="en-US" dirty="0"/>
              <a:t>);</a:t>
            </a:r>
          </a:p>
          <a:p>
            <a:r>
              <a:rPr lang="en-US" dirty="0"/>
              <a:t>			break;</a:t>
            </a:r>
          </a:p>
          <a:p>
            <a:r>
              <a:rPr lang="en-US" dirty="0"/>
              <a:t>		default:</a:t>
            </a:r>
          </a:p>
          <a:p>
            <a:r>
              <a:rPr lang="en-US" dirty="0"/>
              <a:t>			return </a:t>
            </a:r>
            <a:r>
              <a:rPr lang="en-US" dirty="0" err="1"/>
              <a:t>DefWindowProc</a:t>
            </a:r>
            <a:r>
              <a:rPr lang="en-US" dirty="0"/>
              <a:t>(</a:t>
            </a:r>
            <a:r>
              <a:rPr lang="en-US" dirty="0" err="1"/>
              <a:t>hWnd</a:t>
            </a:r>
            <a:r>
              <a:rPr lang="en-US" dirty="0"/>
              <a:t>, message, </a:t>
            </a:r>
            <a:r>
              <a:rPr lang="en-US" dirty="0" err="1"/>
              <a:t>wParam</a:t>
            </a:r>
            <a:r>
              <a:rPr lang="en-US" dirty="0"/>
              <a:t>, </a:t>
            </a:r>
            <a:r>
              <a:rPr lang="en-US" dirty="0" err="1"/>
              <a:t>lParam</a:t>
            </a:r>
            <a:r>
              <a:rPr lang="en-US" dirty="0"/>
              <a:t>);</a:t>
            </a:r>
          </a:p>
          <a:p>
            <a:r>
              <a:rPr lang="ru-RU" dirty="0"/>
              <a:t>		}</a:t>
            </a:r>
          </a:p>
          <a:p>
            <a:r>
              <a:rPr lang="en-US" dirty="0"/>
              <a:t>		break;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 smtClean="0"/>
              <a:t>Пример (продолжение)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	</a:t>
            </a:r>
            <a:r>
              <a:rPr lang="en-US" dirty="0"/>
              <a:t>case WM_PAINT:</a:t>
            </a:r>
          </a:p>
          <a:p>
            <a:r>
              <a:rPr lang="en-US" dirty="0"/>
              <a:t>		</a:t>
            </a:r>
            <a:r>
              <a:rPr lang="en-US" dirty="0" err="1"/>
              <a:t>hdc</a:t>
            </a:r>
            <a:r>
              <a:rPr lang="en-US" dirty="0"/>
              <a:t> = </a:t>
            </a:r>
            <a:r>
              <a:rPr lang="en-US" dirty="0" err="1"/>
              <a:t>BeginPaint</a:t>
            </a:r>
            <a:r>
              <a:rPr lang="en-US" dirty="0"/>
              <a:t>(</a:t>
            </a:r>
            <a:r>
              <a:rPr lang="en-US" dirty="0" err="1"/>
              <a:t>hWnd</a:t>
            </a:r>
            <a:r>
              <a:rPr lang="en-US" dirty="0"/>
              <a:t>, &amp;</a:t>
            </a:r>
            <a:r>
              <a:rPr lang="en-US" dirty="0" err="1"/>
              <a:t>ps</a:t>
            </a:r>
            <a:r>
              <a:rPr lang="en-US" dirty="0"/>
              <a:t>);</a:t>
            </a:r>
          </a:p>
          <a:p>
            <a:r>
              <a:rPr lang="ru-RU" dirty="0" smtClean="0"/>
              <a:t>            </a:t>
            </a:r>
            <a:r>
              <a:rPr lang="en-US" dirty="0"/>
              <a:t>		// TODO: Add any drawing code here</a:t>
            </a:r>
            <a:r>
              <a:rPr lang="en-US" dirty="0" smtClean="0"/>
              <a:t>...</a:t>
            </a:r>
            <a:endParaRPr lang="ru-RU" dirty="0" smtClean="0"/>
          </a:p>
          <a:p>
            <a:r>
              <a:rPr lang="ru-RU" dirty="0" smtClean="0"/>
              <a:t>                                    </a:t>
            </a:r>
            <a:r>
              <a:rPr lang="en-US" dirty="0" err="1" smtClean="0"/>
              <a:t>TextOut</a:t>
            </a:r>
            <a:r>
              <a:rPr lang="en-US" dirty="0" smtClean="0"/>
              <a:t>(hdc,100,100,L"</a:t>
            </a:r>
            <a:r>
              <a:rPr lang="ru-RU" dirty="0" smtClean="0"/>
              <a:t>Привет",6);</a:t>
            </a:r>
            <a:endParaRPr lang="en-US" dirty="0"/>
          </a:p>
          <a:p>
            <a:r>
              <a:rPr lang="en-US" dirty="0"/>
              <a:t>		</a:t>
            </a:r>
            <a:r>
              <a:rPr lang="en-US" dirty="0" err="1"/>
              <a:t>EndPaint</a:t>
            </a:r>
            <a:r>
              <a:rPr lang="en-US" dirty="0"/>
              <a:t>(</a:t>
            </a:r>
            <a:r>
              <a:rPr lang="en-US" dirty="0" err="1"/>
              <a:t>hWnd</a:t>
            </a:r>
            <a:r>
              <a:rPr lang="en-US" dirty="0"/>
              <a:t>, &amp;</a:t>
            </a:r>
            <a:r>
              <a:rPr lang="en-US" dirty="0" err="1"/>
              <a:t>ps</a:t>
            </a:r>
            <a:r>
              <a:rPr lang="en-US" dirty="0"/>
              <a:t>);</a:t>
            </a:r>
          </a:p>
          <a:p>
            <a:r>
              <a:rPr lang="en-US" dirty="0"/>
              <a:t>		break;</a:t>
            </a:r>
          </a:p>
          <a:p>
            <a:r>
              <a:rPr lang="en-US" dirty="0"/>
              <a:t>	case WM_DESTROY:</a:t>
            </a:r>
          </a:p>
          <a:p>
            <a:r>
              <a:rPr lang="en-US" dirty="0"/>
              <a:t>		</a:t>
            </a:r>
            <a:r>
              <a:rPr lang="en-US" dirty="0" err="1"/>
              <a:t>PostQuitMessage</a:t>
            </a:r>
            <a:r>
              <a:rPr lang="en-US" dirty="0"/>
              <a:t>(0);</a:t>
            </a:r>
          </a:p>
          <a:p>
            <a:r>
              <a:rPr lang="en-US" dirty="0"/>
              <a:t>		break;</a:t>
            </a:r>
          </a:p>
          <a:p>
            <a:r>
              <a:rPr lang="en-US" dirty="0"/>
              <a:t>	default:</a:t>
            </a:r>
          </a:p>
          <a:p>
            <a:r>
              <a:rPr lang="en-US" dirty="0"/>
              <a:t>		return </a:t>
            </a:r>
            <a:r>
              <a:rPr lang="en-US" dirty="0" err="1"/>
              <a:t>DefWindowProc</a:t>
            </a:r>
            <a:r>
              <a:rPr lang="en-US" dirty="0"/>
              <a:t>(</a:t>
            </a:r>
            <a:r>
              <a:rPr lang="en-US" dirty="0" err="1"/>
              <a:t>hWnd</a:t>
            </a:r>
            <a:r>
              <a:rPr lang="en-US" dirty="0"/>
              <a:t>, message, </a:t>
            </a:r>
            <a:r>
              <a:rPr lang="en-US" dirty="0" err="1"/>
              <a:t>wParam</a:t>
            </a:r>
            <a:r>
              <a:rPr lang="en-US" dirty="0"/>
              <a:t>, </a:t>
            </a:r>
            <a:r>
              <a:rPr lang="en-US" dirty="0" err="1"/>
              <a:t>lParam</a:t>
            </a:r>
            <a:r>
              <a:rPr lang="en-US" dirty="0"/>
              <a:t>);</a:t>
            </a:r>
          </a:p>
          <a:p>
            <a:r>
              <a:rPr lang="ru-RU" dirty="0"/>
              <a:t>	}</a:t>
            </a:r>
          </a:p>
          <a:p>
            <a:r>
              <a:rPr lang="en-US" dirty="0"/>
              <a:t>	return 0;</a:t>
            </a:r>
          </a:p>
          <a:p>
            <a:r>
              <a:rPr lang="ru-RU" dirty="0" smtClean="0"/>
              <a:t>}   // Конец функции окна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92696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Пример (продолжение)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5832648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/>
              <a:t>                          </a:t>
            </a:r>
            <a:r>
              <a:rPr lang="en-US" dirty="0" smtClean="0"/>
              <a:t>// </a:t>
            </a:r>
            <a:r>
              <a:rPr lang="en-US" dirty="0"/>
              <a:t>Message handler for about box</a:t>
            </a:r>
            <a:r>
              <a:rPr lang="en-US" dirty="0" smtClean="0"/>
              <a:t>.</a:t>
            </a:r>
            <a:endParaRPr lang="ru-RU" dirty="0" smtClean="0"/>
          </a:p>
          <a:p>
            <a:r>
              <a:rPr lang="ru-RU" dirty="0"/>
              <a:t> </a:t>
            </a:r>
            <a:endParaRPr lang="en-US" dirty="0"/>
          </a:p>
          <a:p>
            <a:r>
              <a:rPr lang="en-US" dirty="0"/>
              <a:t>INT_PTR CALLBACK About(HWND </a:t>
            </a:r>
            <a:r>
              <a:rPr lang="en-US" dirty="0" err="1"/>
              <a:t>hDlg</a:t>
            </a:r>
            <a:r>
              <a:rPr lang="en-US" dirty="0"/>
              <a:t>, UINT message, WPARAM </a:t>
            </a:r>
            <a:r>
              <a:rPr lang="en-US" dirty="0" err="1"/>
              <a:t>wParam</a:t>
            </a:r>
            <a:r>
              <a:rPr lang="en-US" dirty="0"/>
              <a:t>, LPARAM </a:t>
            </a:r>
            <a:r>
              <a:rPr lang="en-US" dirty="0" err="1"/>
              <a:t>lParam</a:t>
            </a:r>
            <a:r>
              <a:rPr lang="en-US" dirty="0"/>
              <a:t>)</a:t>
            </a:r>
          </a:p>
          <a:p>
            <a:r>
              <a:rPr lang="ru-RU" dirty="0"/>
              <a:t>{</a:t>
            </a:r>
          </a:p>
          <a:p>
            <a:r>
              <a:rPr lang="en-US" dirty="0"/>
              <a:t>	UNREFERENCED_PARAMETER(</a:t>
            </a:r>
            <a:r>
              <a:rPr lang="en-US" dirty="0" err="1"/>
              <a:t>lParam</a:t>
            </a:r>
            <a:r>
              <a:rPr lang="en-US" dirty="0"/>
              <a:t>);</a:t>
            </a:r>
          </a:p>
          <a:p>
            <a:r>
              <a:rPr lang="en-US" dirty="0"/>
              <a:t>	switch (message)</a:t>
            </a:r>
          </a:p>
          <a:p>
            <a:r>
              <a:rPr lang="ru-RU" dirty="0"/>
              <a:t>	{</a:t>
            </a:r>
          </a:p>
          <a:p>
            <a:r>
              <a:rPr lang="en-US" dirty="0"/>
              <a:t>	case WM_INITDIALOG:</a:t>
            </a:r>
          </a:p>
          <a:p>
            <a:r>
              <a:rPr lang="en-US" dirty="0"/>
              <a:t>		return (INT_PTR</a:t>
            </a:r>
            <a:r>
              <a:rPr lang="en-US" dirty="0" smtClean="0"/>
              <a:t>)</a:t>
            </a:r>
            <a:r>
              <a:rPr lang="ru-RU" dirty="0" smtClean="0"/>
              <a:t> </a:t>
            </a:r>
            <a:r>
              <a:rPr lang="en-US" dirty="0" smtClean="0"/>
              <a:t>TRUE</a:t>
            </a:r>
            <a:r>
              <a:rPr lang="en-US" dirty="0"/>
              <a:t>;</a:t>
            </a:r>
          </a:p>
          <a:p>
            <a:endParaRPr lang="ru-RU" dirty="0"/>
          </a:p>
          <a:p>
            <a:r>
              <a:rPr lang="en-US" dirty="0"/>
              <a:t>	case WM_COMMAND:</a:t>
            </a:r>
          </a:p>
          <a:p>
            <a:r>
              <a:rPr lang="en-US" dirty="0"/>
              <a:t>		if (LOWORD(</a:t>
            </a:r>
            <a:r>
              <a:rPr lang="en-US" dirty="0" err="1"/>
              <a:t>wParam</a:t>
            </a:r>
            <a:r>
              <a:rPr lang="en-US" dirty="0"/>
              <a:t>) == IDOK || LOWORD(</a:t>
            </a:r>
            <a:r>
              <a:rPr lang="en-US" dirty="0" err="1"/>
              <a:t>wParam</a:t>
            </a:r>
            <a:r>
              <a:rPr lang="en-US" dirty="0"/>
              <a:t>) == IDCANCEL)</a:t>
            </a:r>
          </a:p>
          <a:p>
            <a:r>
              <a:rPr lang="ru-RU" dirty="0"/>
              <a:t>		{</a:t>
            </a:r>
          </a:p>
          <a:p>
            <a:r>
              <a:rPr lang="en-US" dirty="0"/>
              <a:t>			</a:t>
            </a:r>
            <a:r>
              <a:rPr lang="en-US" dirty="0" err="1"/>
              <a:t>EndDialog</a:t>
            </a:r>
            <a:r>
              <a:rPr lang="en-US" dirty="0"/>
              <a:t>(</a:t>
            </a:r>
            <a:r>
              <a:rPr lang="en-US" dirty="0" err="1"/>
              <a:t>hDlg</a:t>
            </a:r>
            <a:r>
              <a:rPr lang="en-US" dirty="0"/>
              <a:t>, LOWORD(</a:t>
            </a:r>
            <a:r>
              <a:rPr lang="en-US" dirty="0" err="1"/>
              <a:t>wParam</a:t>
            </a:r>
            <a:r>
              <a:rPr lang="en-US" dirty="0"/>
              <a:t>));</a:t>
            </a:r>
          </a:p>
          <a:p>
            <a:r>
              <a:rPr lang="en-US" dirty="0"/>
              <a:t>			return (INT_PTR)TRUE;</a:t>
            </a:r>
          </a:p>
          <a:p>
            <a:r>
              <a:rPr lang="ru-RU" dirty="0"/>
              <a:t>		}</a:t>
            </a:r>
          </a:p>
          <a:p>
            <a:r>
              <a:rPr lang="en-US" dirty="0"/>
              <a:t>		break;</a:t>
            </a:r>
          </a:p>
          <a:p>
            <a:r>
              <a:rPr lang="ru-RU" dirty="0"/>
              <a:t>	}</a:t>
            </a:r>
          </a:p>
          <a:p>
            <a:r>
              <a:rPr lang="en-US" dirty="0"/>
              <a:t>	return (INT_PTR</a:t>
            </a:r>
            <a:r>
              <a:rPr lang="en-US" dirty="0" smtClean="0"/>
              <a:t>)</a:t>
            </a:r>
            <a:r>
              <a:rPr lang="ru-RU" dirty="0" smtClean="0"/>
              <a:t> </a:t>
            </a:r>
            <a:r>
              <a:rPr lang="en-US" dirty="0" smtClean="0"/>
              <a:t>FALSE</a:t>
            </a:r>
            <a:r>
              <a:rPr lang="en-US" dirty="0"/>
              <a:t>;</a:t>
            </a:r>
          </a:p>
          <a:p>
            <a:r>
              <a:rPr lang="ru-RU" dirty="0"/>
              <a:t>}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2.6. Вывод простых графических объектов</a:t>
            </a:r>
            <a:endParaRPr lang="ru-RU" sz="24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 lnSpcReduction="10000"/>
          </a:bodyPr>
          <a:lstStyle/>
          <a:p>
            <a:r>
              <a:rPr lang="ru-RU" sz="2000" dirty="0" smtClean="0"/>
              <a:t>Рисование прямой линии:</a:t>
            </a:r>
          </a:p>
          <a:p>
            <a:r>
              <a:rPr lang="ru-RU" sz="2000" dirty="0"/>
              <a:t> </a:t>
            </a:r>
            <a:endParaRPr lang="ru-RU" sz="2000" dirty="0" smtClean="0"/>
          </a:p>
          <a:p>
            <a:r>
              <a:rPr lang="en-US" sz="2000" b="1" dirty="0" smtClean="0"/>
              <a:t>BOOL </a:t>
            </a:r>
            <a:r>
              <a:rPr lang="en-US" sz="2000" b="1" dirty="0" err="1" smtClean="0"/>
              <a:t>MoveToEx</a:t>
            </a:r>
            <a:r>
              <a:rPr lang="en-US" sz="2000" b="1" dirty="0" smtClean="0"/>
              <a:t>( </a:t>
            </a:r>
            <a:endParaRPr lang="ru-RU" sz="2000" b="1" dirty="0" smtClean="0"/>
          </a:p>
          <a:p>
            <a:r>
              <a:rPr lang="ru-RU" sz="2000" b="1" dirty="0"/>
              <a:t> </a:t>
            </a:r>
            <a:r>
              <a:rPr lang="ru-RU" sz="2000" b="1" dirty="0" smtClean="0"/>
              <a:t>   </a:t>
            </a:r>
            <a:r>
              <a:rPr lang="en-US" sz="2000" b="1" dirty="0" smtClean="0"/>
              <a:t>HDC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hdc</a:t>
            </a:r>
            <a:r>
              <a:rPr lang="en-US" sz="2000" b="1" dirty="0" smtClean="0"/>
              <a:t>, </a:t>
            </a:r>
            <a:r>
              <a:rPr lang="ru-RU" sz="2000" b="1" dirty="0" smtClean="0"/>
              <a:t>		</a:t>
            </a:r>
            <a:r>
              <a:rPr lang="en-US" sz="2000" dirty="0" smtClean="0"/>
              <a:t>// handle to device context </a:t>
            </a:r>
            <a:endParaRPr lang="ru-RU" sz="2000" dirty="0" smtClean="0"/>
          </a:p>
          <a:p>
            <a:r>
              <a:rPr lang="ru-RU" sz="2000" b="1" dirty="0" smtClean="0"/>
              <a:t>    </a:t>
            </a:r>
            <a:r>
              <a:rPr lang="en-US" sz="2000" b="1" dirty="0" err="1" smtClean="0"/>
              <a:t>int</a:t>
            </a:r>
            <a:r>
              <a:rPr lang="en-US" sz="2000" i="1" dirty="0" smtClean="0"/>
              <a:t> X</a:t>
            </a:r>
            <a:r>
              <a:rPr lang="en-US" sz="2000" b="1" dirty="0" smtClean="0"/>
              <a:t>, </a:t>
            </a:r>
            <a:r>
              <a:rPr lang="ru-RU" sz="2000" b="1" dirty="0" smtClean="0"/>
              <a:t>		</a:t>
            </a:r>
            <a:r>
              <a:rPr lang="en-US" sz="2000" dirty="0" smtClean="0"/>
              <a:t>// x-coordinate of new current position </a:t>
            </a:r>
            <a:endParaRPr lang="ru-RU" sz="2000" dirty="0" smtClean="0"/>
          </a:p>
          <a:p>
            <a:r>
              <a:rPr lang="ru-RU" sz="2000" b="1" dirty="0" smtClean="0"/>
              <a:t>    </a:t>
            </a:r>
            <a:r>
              <a:rPr lang="en-US" sz="2000" b="1" dirty="0" err="1" smtClean="0"/>
              <a:t>int</a:t>
            </a:r>
            <a:r>
              <a:rPr lang="en-US" sz="2000" i="1" dirty="0" smtClean="0"/>
              <a:t> Y</a:t>
            </a:r>
            <a:r>
              <a:rPr lang="en-US" sz="2000" b="1" dirty="0" smtClean="0"/>
              <a:t>, </a:t>
            </a:r>
            <a:r>
              <a:rPr lang="ru-RU" sz="2000" b="1" dirty="0" smtClean="0"/>
              <a:t>		</a:t>
            </a:r>
            <a:r>
              <a:rPr lang="en-US" sz="2000" dirty="0" smtClean="0"/>
              <a:t>// y-coordinate of new current position </a:t>
            </a:r>
            <a:endParaRPr lang="ru-RU" sz="2000" dirty="0" smtClean="0"/>
          </a:p>
          <a:p>
            <a:r>
              <a:rPr lang="ru-RU" sz="2000" b="1" dirty="0" smtClean="0"/>
              <a:t>    </a:t>
            </a:r>
            <a:r>
              <a:rPr lang="en-US" sz="2000" b="1" dirty="0" smtClean="0"/>
              <a:t>LPPOINT</a:t>
            </a:r>
            <a:r>
              <a:rPr lang="en-US" sz="2000" dirty="0" smtClean="0"/>
              <a:t> </a:t>
            </a:r>
            <a:r>
              <a:rPr lang="en-US" sz="2000" i="1" dirty="0" err="1" smtClean="0"/>
              <a:t>lpPoint</a:t>
            </a:r>
            <a:r>
              <a:rPr lang="en-US" sz="2000" dirty="0" smtClean="0"/>
              <a:t> </a:t>
            </a:r>
            <a:r>
              <a:rPr lang="ru-RU" sz="2000" dirty="0" smtClean="0"/>
              <a:t>	</a:t>
            </a:r>
            <a:r>
              <a:rPr lang="en-US" sz="2000" dirty="0" smtClean="0"/>
              <a:t>// old current position </a:t>
            </a:r>
            <a:endParaRPr lang="ru-RU" sz="2000" dirty="0" smtClean="0"/>
          </a:p>
          <a:p>
            <a:r>
              <a:rPr lang="ru-RU" sz="2000" b="1" dirty="0" smtClean="0"/>
              <a:t> </a:t>
            </a:r>
            <a:r>
              <a:rPr lang="en-US" sz="2000" b="1" dirty="0" smtClean="0"/>
              <a:t>)</a:t>
            </a:r>
            <a:endParaRPr lang="ru-RU" sz="2000" b="1" dirty="0" smtClean="0"/>
          </a:p>
          <a:p>
            <a:endParaRPr lang="ru-RU" sz="2000" b="1" dirty="0"/>
          </a:p>
          <a:p>
            <a:r>
              <a:rPr lang="en-US" sz="2000" b="1" dirty="0" smtClean="0"/>
              <a:t>BOOL </a:t>
            </a:r>
            <a:r>
              <a:rPr lang="en-US" sz="2000" b="1" dirty="0" err="1" smtClean="0"/>
              <a:t>LineTo</a:t>
            </a:r>
            <a:r>
              <a:rPr lang="en-US" sz="2000" b="1" dirty="0" smtClean="0"/>
              <a:t>( </a:t>
            </a:r>
            <a:endParaRPr lang="ru-RU" sz="2000" b="1" dirty="0" smtClean="0"/>
          </a:p>
          <a:p>
            <a:r>
              <a:rPr lang="ru-RU" sz="2000" b="1" dirty="0"/>
              <a:t> </a:t>
            </a:r>
            <a:r>
              <a:rPr lang="ru-RU" sz="2000" b="1" dirty="0" smtClean="0"/>
              <a:t>   </a:t>
            </a:r>
            <a:r>
              <a:rPr lang="en-US" sz="2000" b="1" dirty="0" smtClean="0"/>
              <a:t>HDC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hdc</a:t>
            </a:r>
            <a:r>
              <a:rPr lang="en-US" sz="2000" b="1" dirty="0" smtClean="0"/>
              <a:t>, </a:t>
            </a:r>
            <a:r>
              <a:rPr lang="ru-RU" sz="2000" b="1" dirty="0" smtClean="0"/>
              <a:t>		</a:t>
            </a:r>
            <a:r>
              <a:rPr lang="en-US" sz="2000" dirty="0" smtClean="0"/>
              <a:t>// handle to device context </a:t>
            </a:r>
            <a:endParaRPr lang="ru-RU" sz="2000" dirty="0" smtClean="0"/>
          </a:p>
          <a:p>
            <a:r>
              <a:rPr lang="ru-RU" sz="2000" b="1" dirty="0" smtClean="0"/>
              <a:t>    </a:t>
            </a:r>
            <a:r>
              <a:rPr lang="en-US" sz="2000" b="1" dirty="0" err="1" smtClean="0"/>
              <a:t>int</a:t>
            </a:r>
            <a:r>
              <a:rPr lang="en-US" sz="2000" i="1" dirty="0" smtClean="0"/>
              <a:t> X</a:t>
            </a:r>
            <a:r>
              <a:rPr lang="en-US" sz="2000" b="1" dirty="0" smtClean="0"/>
              <a:t>, </a:t>
            </a:r>
            <a:r>
              <a:rPr lang="ru-RU" sz="2000" b="1" dirty="0" smtClean="0"/>
              <a:t>		</a:t>
            </a:r>
            <a:r>
              <a:rPr lang="en-US" sz="2000" dirty="0" smtClean="0"/>
              <a:t>// x-coordinate of ending point </a:t>
            </a:r>
          </a:p>
          <a:p>
            <a:r>
              <a:rPr lang="ru-RU" sz="2000" b="1" dirty="0" smtClean="0"/>
              <a:t>    </a:t>
            </a:r>
            <a:r>
              <a:rPr lang="en-US" sz="2000" b="1" dirty="0" err="1" smtClean="0"/>
              <a:t>int</a:t>
            </a:r>
            <a:r>
              <a:rPr lang="en-US" sz="2000" i="1" dirty="0" smtClean="0"/>
              <a:t> Y</a:t>
            </a:r>
            <a:r>
              <a:rPr lang="en-US" sz="2000" b="1" dirty="0" smtClean="0"/>
              <a:t>, </a:t>
            </a:r>
            <a:r>
              <a:rPr lang="ru-RU" sz="2000" b="1" dirty="0" smtClean="0"/>
              <a:t>		</a:t>
            </a:r>
            <a:r>
              <a:rPr lang="en-US" sz="2000" dirty="0" smtClean="0"/>
              <a:t>// y-coordinate of ending point  </a:t>
            </a:r>
            <a:endParaRPr lang="ru-RU" sz="2000" dirty="0" smtClean="0"/>
          </a:p>
          <a:p>
            <a:r>
              <a:rPr lang="en-US" sz="2000" b="1" dirty="0" smtClean="0"/>
              <a:t>)</a:t>
            </a:r>
            <a:endParaRPr lang="ru-RU" sz="2000" dirty="0" smtClean="0"/>
          </a:p>
          <a:p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Прямоугольник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00807"/>
            <a:ext cx="8229600" cy="4032449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Рисование прямоугольника:</a:t>
            </a:r>
          </a:p>
          <a:p>
            <a:endParaRPr lang="ru-RU" b="1" dirty="0" smtClean="0"/>
          </a:p>
          <a:p>
            <a:r>
              <a:rPr lang="en-US" b="1" dirty="0" smtClean="0"/>
              <a:t>BOOL Rectangle( </a:t>
            </a:r>
            <a:endParaRPr lang="ru-RU" b="1" dirty="0" smtClean="0"/>
          </a:p>
          <a:p>
            <a:r>
              <a:rPr lang="ru-RU" b="1" dirty="0" smtClean="0"/>
              <a:t> 	</a:t>
            </a:r>
            <a:r>
              <a:rPr lang="en-US" b="1" dirty="0" smtClean="0"/>
              <a:t>HDC</a:t>
            </a:r>
            <a:r>
              <a:rPr lang="en-US" i="1" dirty="0" smtClean="0"/>
              <a:t> </a:t>
            </a:r>
            <a:r>
              <a:rPr lang="en-US" i="1" dirty="0" err="1" smtClean="0"/>
              <a:t>hdc</a:t>
            </a:r>
            <a:r>
              <a:rPr lang="en-US" b="1" dirty="0" smtClean="0"/>
              <a:t>,</a:t>
            </a:r>
            <a:r>
              <a:rPr lang="ru-RU" b="1" dirty="0" smtClean="0"/>
              <a:t>	</a:t>
            </a:r>
            <a:r>
              <a:rPr lang="en-US" b="1" dirty="0" smtClean="0"/>
              <a:t> </a:t>
            </a:r>
            <a:r>
              <a:rPr lang="ru-RU" b="1" dirty="0" smtClean="0"/>
              <a:t>	</a:t>
            </a:r>
            <a:r>
              <a:rPr lang="en-US" dirty="0" smtClean="0"/>
              <a:t>// handle to DC </a:t>
            </a:r>
            <a:endParaRPr lang="ru-RU" dirty="0" smtClean="0"/>
          </a:p>
          <a:p>
            <a:r>
              <a:rPr lang="ru-RU" b="1" dirty="0" smtClean="0"/>
              <a:t> 	</a:t>
            </a:r>
            <a:r>
              <a:rPr lang="en-US" b="1" dirty="0" err="1" smtClean="0"/>
              <a:t>int</a:t>
            </a:r>
            <a:r>
              <a:rPr lang="en-US" i="1" dirty="0" smtClean="0"/>
              <a:t> </a:t>
            </a:r>
            <a:r>
              <a:rPr lang="en-US" i="1" dirty="0" err="1" smtClean="0"/>
              <a:t>nLeftRect</a:t>
            </a:r>
            <a:r>
              <a:rPr lang="en-US" b="1" dirty="0" smtClean="0"/>
              <a:t>, </a:t>
            </a:r>
            <a:r>
              <a:rPr lang="ru-RU" b="1" dirty="0" smtClean="0"/>
              <a:t>	</a:t>
            </a:r>
            <a:r>
              <a:rPr lang="en-US" dirty="0" smtClean="0"/>
              <a:t>// x-</a:t>
            </a:r>
            <a:r>
              <a:rPr lang="en-US" dirty="0" err="1" smtClean="0"/>
              <a:t>coord</a:t>
            </a:r>
            <a:r>
              <a:rPr lang="en-US" dirty="0" smtClean="0"/>
              <a:t> of upper-left </a:t>
            </a:r>
            <a:endParaRPr lang="ru-RU" dirty="0" smtClean="0"/>
          </a:p>
          <a:p>
            <a:r>
              <a:rPr lang="ru-RU" dirty="0" smtClean="0"/>
              <a:t>                                                       </a:t>
            </a:r>
            <a:r>
              <a:rPr lang="en-US" dirty="0" smtClean="0"/>
              <a:t>corner of rectangle </a:t>
            </a:r>
            <a:endParaRPr lang="ru-RU" dirty="0" smtClean="0"/>
          </a:p>
          <a:p>
            <a:r>
              <a:rPr lang="ru-RU" b="1" dirty="0" smtClean="0"/>
              <a:t> 	</a:t>
            </a:r>
            <a:r>
              <a:rPr lang="en-US" b="1" dirty="0" err="1" smtClean="0"/>
              <a:t>int</a:t>
            </a:r>
            <a:r>
              <a:rPr lang="en-US" i="1" dirty="0" smtClean="0"/>
              <a:t> </a:t>
            </a:r>
            <a:r>
              <a:rPr lang="en-US" i="1" dirty="0" err="1" smtClean="0"/>
              <a:t>nTopRect</a:t>
            </a:r>
            <a:r>
              <a:rPr lang="en-US" b="1" dirty="0" smtClean="0"/>
              <a:t>, </a:t>
            </a:r>
            <a:r>
              <a:rPr lang="ru-RU" b="1" dirty="0" smtClean="0"/>
              <a:t>	</a:t>
            </a:r>
            <a:r>
              <a:rPr lang="en-US" dirty="0" smtClean="0"/>
              <a:t>// y-</a:t>
            </a:r>
            <a:r>
              <a:rPr lang="en-US" dirty="0" err="1" smtClean="0"/>
              <a:t>coord</a:t>
            </a:r>
            <a:r>
              <a:rPr lang="en-US" dirty="0" smtClean="0"/>
              <a:t> of upper-left </a:t>
            </a:r>
            <a:endParaRPr lang="ru-RU" dirty="0" smtClean="0"/>
          </a:p>
          <a:p>
            <a:r>
              <a:rPr lang="ru-RU" dirty="0" smtClean="0"/>
              <a:t>                                                       </a:t>
            </a:r>
            <a:r>
              <a:rPr lang="en-US" dirty="0" smtClean="0"/>
              <a:t>corner of rectangle </a:t>
            </a:r>
            <a:endParaRPr lang="ru-RU" dirty="0" smtClean="0"/>
          </a:p>
          <a:p>
            <a:r>
              <a:rPr lang="ru-RU" b="1" dirty="0" smtClean="0"/>
              <a:t> 	</a:t>
            </a:r>
            <a:r>
              <a:rPr lang="en-US" b="1" dirty="0" err="1" smtClean="0"/>
              <a:t>int</a:t>
            </a:r>
            <a:r>
              <a:rPr lang="en-US" i="1" dirty="0" smtClean="0"/>
              <a:t> </a:t>
            </a:r>
            <a:r>
              <a:rPr lang="en-US" i="1" dirty="0" err="1" smtClean="0"/>
              <a:t>nRightRect</a:t>
            </a:r>
            <a:r>
              <a:rPr lang="en-US" b="1" dirty="0" smtClean="0"/>
              <a:t>, </a:t>
            </a:r>
            <a:r>
              <a:rPr lang="ru-RU" b="1" dirty="0" smtClean="0"/>
              <a:t>	</a:t>
            </a:r>
            <a:r>
              <a:rPr lang="en-US" dirty="0" smtClean="0"/>
              <a:t>// x-</a:t>
            </a:r>
            <a:r>
              <a:rPr lang="en-US" dirty="0" err="1" smtClean="0"/>
              <a:t>coord</a:t>
            </a:r>
            <a:r>
              <a:rPr lang="en-US" dirty="0" smtClean="0"/>
              <a:t> of lower-right </a:t>
            </a:r>
            <a:endParaRPr lang="ru-RU" dirty="0" smtClean="0"/>
          </a:p>
          <a:p>
            <a:r>
              <a:rPr lang="ru-RU" dirty="0" smtClean="0"/>
              <a:t>                                                        </a:t>
            </a:r>
            <a:r>
              <a:rPr lang="en-US" dirty="0" smtClean="0"/>
              <a:t>corner of rectangle </a:t>
            </a:r>
            <a:endParaRPr lang="ru-RU" dirty="0" smtClean="0"/>
          </a:p>
          <a:p>
            <a:r>
              <a:rPr lang="ru-RU" b="1" dirty="0" smtClean="0"/>
              <a:t> 	</a:t>
            </a:r>
            <a:r>
              <a:rPr lang="en-US" b="1" dirty="0" err="1" smtClean="0"/>
              <a:t>int</a:t>
            </a:r>
            <a:r>
              <a:rPr lang="en-US" i="1" dirty="0" smtClean="0"/>
              <a:t> </a:t>
            </a:r>
            <a:r>
              <a:rPr lang="en-US" i="1" dirty="0" err="1" smtClean="0"/>
              <a:t>nBottomRect</a:t>
            </a:r>
            <a:r>
              <a:rPr lang="en-US" dirty="0" smtClean="0"/>
              <a:t> </a:t>
            </a:r>
            <a:r>
              <a:rPr lang="ru-RU" dirty="0" smtClean="0"/>
              <a:t>	</a:t>
            </a:r>
            <a:r>
              <a:rPr lang="en-US" dirty="0" smtClean="0"/>
              <a:t>// y-</a:t>
            </a:r>
            <a:r>
              <a:rPr lang="en-US" dirty="0" err="1" smtClean="0"/>
              <a:t>coord</a:t>
            </a:r>
            <a:r>
              <a:rPr lang="en-US" dirty="0" smtClean="0"/>
              <a:t> of lower-right</a:t>
            </a:r>
            <a:endParaRPr lang="ru-RU" dirty="0" smtClean="0"/>
          </a:p>
          <a:p>
            <a:r>
              <a:rPr lang="ru-RU" dirty="0" smtClean="0"/>
              <a:t>                                                       </a:t>
            </a:r>
            <a:r>
              <a:rPr lang="en-US" dirty="0" smtClean="0"/>
              <a:t> corner of rectangle 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 smtClean="0"/>
              <a:t>Эллипс</a:t>
            </a:r>
            <a:endParaRPr lang="ru-RU" sz="24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 smtClean="0"/>
              <a:t>Рисование эллипса:</a:t>
            </a:r>
          </a:p>
          <a:p>
            <a:r>
              <a:rPr lang="ru-RU" sz="2000" dirty="0"/>
              <a:t> </a:t>
            </a:r>
            <a:endParaRPr lang="en-US" sz="2000" dirty="0" smtClean="0"/>
          </a:p>
          <a:p>
            <a:r>
              <a:rPr lang="en-US" sz="2000" b="1" dirty="0" smtClean="0"/>
              <a:t>BOOL Ellipse( </a:t>
            </a:r>
            <a:endParaRPr lang="ru-RU" sz="2000" b="1" dirty="0" smtClean="0"/>
          </a:p>
          <a:p>
            <a:r>
              <a:rPr lang="ru-RU" sz="2000" b="1" dirty="0"/>
              <a:t> </a:t>
            </a:r>
            <a:r>
              <a:rPr lang="ru-RU" sz="2000" b="1" dirty="0" smtClean="0"/>
              <a:t>   </a:t>
            </a:r>
            <a:r>
              <a:rPr lang="en-US" sz="2000" b="1" dirty="0" smtClean="0"/>
              <a:t>HDC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hdc</a:t>
            </a:r>
            <a:r>
              <a:rPr lang="en-US" sz="2000" b="1" dirty="0" smtClean="0"/>
              <a:t>, </a:t>
            </a:r>
            <a:r>
              <a:rPr lang="ru-RU" sz="2000" b="1" dirty="0" smtClean="0"/>
              <a:t>		</a:t>
            </a:r>
            <a:r>
              <a:rPr lang="en-US" sz="2000" dirty="0" smtClean="0"/>
              <a:t>// handle to DC </a:t>
            </a:r>
          </a:p>
          <a:p>
            <a:r>
              <a:rPr lang="ru-RU" sz="2000" b="1" dirty="0" smtClean="0"/>
              <a:t>    </a:t>
            </a:r>
            <a:r>
              <a:rPr lang="en-US" sz="2000" b="1" dirty="0" err="1" smtClean="0"/>
              <a:t>int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nLeftRect</a:t>
            </a:r>
            <a:r>
              <a:rPr lang="en-US" sz="2000" b="1" dirty="0" smtClean="0"/>
              <a:t>, </a:t>
            </a:r>
            <a:r>
              <a:rPr lang="ru-RU" sz="2000" b="1" dirty="0" smtClean="0"/>
              <a:t>	</a:t>
            </a:r>
            <a:r>
              <a:rPr lang="en-US" sz="2000" dirty="0" smtClean="0"/>
              <a:t>// x-</a:t>
            </a:r>
            <a:r>
              <a:rPr lang="en-US" sz="2000" dirty="0" err="1" smtClean="0"/>
              <a:t>coord</a:t>
            </a:r>
            <a:r>
              <a:rPr lang="en-US" sz="2000" dirty="0" smtClean="0"/>
              <a:t> of upper-left corner of rectangle </a:t>
            </a:r>
          </a:p>
          <a:p>
            <a:r>
              <a:rPr lang="ru-RU" sz="2000" b="1" dirty="0" smtClean="0"/>
              <a:t>    </a:t>
            </a:r>
            <a:r>
              <a:rPr lang="en-US" sz="2000" b="1" dirty="0" err="1" smtClean="0"/>
              <a:t>int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nTopRect</a:t>
            </a:r>
            <a:r>
              <a:rPr lang="en-US" sz="2000" b="1" dirty="0" smtClean="0"/>
              <a:t>, </a:t>
            </a:r>
            <a:r>
              <a:rPr lang="ru-RU" sz="2000" b="1" dirty="0" smtClean="0"/>
              <a:t>	</a:t>
            </a:r>
            <a:r>
              <a:rPr lang="en-US" sz="2000" dirty="0" smtClean="0"/>
              <a:t>// y-</a:t>
            </a:r>
            <a:r>
              <a:rPr lang="en-US" sz="2000" dirty="0" err="1" smtClean="0"/>
              <a:t>coord</a:t>
            </a:r>
            <a:r>
              <a:rPr lang="en-US" sz="2000" dirty="0" smtClean="0"/>
              <a:t> of upper-left corner of rectangle </a:t>
            </a:r>
          </a:p>
          <a:p>
            <a:r>
              <a:rPr lang="ru-RU" sz="2000" b="1" dirty="0" smtClean="0"/>
              <a:t>    </a:t>
            </a:r>
            <a:r>
              <a:rPr lang="en-US" sz="2000" b="1" dirty="0" err="1" smtClean="0"/>
              <a:t>int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nRightRect</a:t>
            </a:r>
            <a:r>
              <a:rPr lang="en-US" sz="2000" b="1" dirty="0" smtClean="0"/>
              <a:t>, </a:t>
            </a:r>
            <a:r>
              <a:rPr lang="ru-RU" sz="2000" b="1" dirty="0" smtClean="0"/>
              <a:t>	</a:t>
            </a:r>
            <a:r>
              <a:rPr lang="en-US" sz="2000" dirty="0" smtClean="0"/>
              <a:t>// x-</a:t>
            </a:r>
            <a:r>
              <a:rPr lang="en-US" sz="2000" dirty="0" err="1" smtClean="0"/>
              <a:t>coord</a:t>
            </a:r>
            <a:r>
              <a:rPr lang="en-US" sz="2000" dirty="0" smtClean="0"/>
              <a:t> of lower-right corner of rectangle </a:t>
            </a:r>
          </a:p>
          <a:p>
            <a:r>
              <a:rPr lang="ru-RU" sz="2000" b="1" dirty="0" smtClean="0"/>
              <a:t>    </a:t>
            </a:r>
            <a:r>
              <a:rPr lang="en-US" sz="2000" b="1" dirty="0" err="1" smtClean="0"/>
              <a:t>int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nBottomRect</a:t>
            </a:r>
            <a:r>
              <a:rPr lang="en-US" sz="2000" dirty="0" smtClean="0"/>
              <a:t> </a:t>
            </a:r>
            <a:r>
              <a:rPr lang="ru-RU" sz="2000" dirty="0" smtClean="0"/>
              <a:t>	</a:t>
            </a:r>
            <a:r>
              <a:rPr lang="en-US" sz="2000" dirty="0" smtClean="0"/>
              <a:t>// y-</a:t>
            </a:r>
            <a:r>
              <a:rPr lang="en-US" sz="2000" dirty="0" err="1" smtClean="0"/>
              <a:t>coord</a:t>
            </a:r>
            <a:r>
              <a:rPr lang="en-US" sz="2000" dirty="0" smtClean="0"/>
              <a:t> of lower-right corner of rectangle </a:t>
            </a:r>
          </a:p>
          <a:p>
            <a:r>
              <a:rPr lang="ru-RU" sz="2000" b="1" dirty="0" smtClean="0"/>
              <a:t> </a:t>
            </a:r>
            <a:r>
              <a:rPr lang="en-US" sz="2000" b="1" dirty="0" smtClean="0"/>
              <a:t>)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 smtClean="0"/>
              <a:t>Перо</a:t>
            </a:r>
            <a:endParaRPr lang="ru-RU" sz="24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 smtClean="0"/>
              <a:t>Создание пера:</a:t>
            </a:r>
          </a:p>
          <a:p>
            <a:endParaRPr lang="ru-RU" sz="2000" dirty="0"/>
          </a:p>
          <a:p>
            <a:r>
              <a:rPr lang="en-US" sz="2000" b="1" dirty="0" smtClean="0"/>
              <a:t>HPEN </a:t>
            </a:r>
            <a:r>
              <a:rPr lang="en-US" sz="2000" b="1" dirty="0" err="1" smtClean="0"/>
              <a:t>CreatePen</a:t>
            </a:r>
            <a:r>
              <a:rPr lang="en-US" sz="2000" b="1" dirty="0" smtClean="0"/>
              <a:t>( </a:t>
            </a:r>
            <a:endParaRPr lang="ru-RU" sz="2000" b="1" dirty="0" smtClean="0"/>
          </a:p>
          <a:p>
            <a:r>
              <a:rPr lang="ru-RU" sz="2000" b="1" dirty="0" smtClean="0"/>
              <a:t>    </a:t>
            </a:r>
            <a:r>
              <a:rPr lang="en-US" sz="2000" b="1" dirty="0" err="1" smtClean="0"/>
              <a:t>int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fnPenStyle</a:t>
            </a:r>
            <a:r>
              <a:rPr lang="en-US" sz="2000" b="1" dirty="0" smtClean="0"/>
              <a:t>, </a:t>
            </a:r>
            <a:r>
              <a:rPr lang="ru-RU" sz="2000" b="1" dirty="0" smtClean="0"/>
              <a:t>	</a:t>
            </a:r>
            <a:r>
              <a:rPr lang="en-US" sz="2000" dirty="0" smtClean="0"/>
              <a:t>// pen style </a:t>
            </a:r>
            <a:endParaRPr lang="ru-RU" sz="2000" dirty="0" smtClean="0"/>
          </a:p>
          <a:p>
            <a:r>
              <a:rPr lang="ru-RU" sz="2000" b="1" dirty="0" smtClean="0"/>
              <a:t>    </a:t>
            </a:r>
            <a:r>
              <a:rPr lang="en-US" sz="2000" b="1" dirty="0" err="1" smtClean="0"/>
              <a:t>int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nWidth</a:t>
            </a:r>
            <a:r>
              <a:rPr lang="en-US" sz="2000" b="1" dirty="0" smtClean="0"/>
              <a:t>, </a:t>
            </a:r>
            <a:r>
              <a:rPr lang="ru-RU" sz="2000" b="1" dirty="0" smtClean="0"/>
              <a:t>		</a:t>
            </a:r>
            <a:r>
              <a:rPr lang="en-US" sz="2000" dirty="0" smtClean="0"/>
              <a:t>// pen width </a:t>
            </a:r>
            <a:endParaRPr lang="ru-RU" sz="2000" dirty="0" smtClean="0"/>
          </a:p>
          <a:p>
            <a:r>
              <a:rPr lang="ru-RU" sz="2000" b="1" dirty="0" smtClean="0"/>
              <a:t>    </a:t>
            </a:r>
            <a:r>
              <a:rPr lang="en-US" sz="2000" b="1" dirty="0" smtClean="0"/>
              <a:t>COLORREF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crColor</a:t>
            </a:r>
            <a:r>
              <a:rPr lang="en-US" sz="2000" dirty="0" smtClean="0"/>
              <a:t> </a:t>
            </a:r>
            <a:r>
              <a:rPr lang="ru-RU" sz="2000" dirty="0" smtClean="0"/>
              <a:t>	</a:t>
            </a:r>
            <a:r>
              <a:rPr lang="en-US" sz="2000" dirty="0" smtClean="0"/>
              <a:t>// pen color </a:t>
            </a:r>
            <a:endParaRPr lang="ru-RU" sz="2000" dirty="0" smtClean="0"/>
          </a:p>
          <a:p>
            <a:r>
              <a:rPr lang="en-US" sz="2000" b="1" dirty="0" smtClean="0"/>
              <a:t>)</a:t>
            </a:r>
            <a:endParaRPr lang="ru-RU" sz="2000" b="1" dirty="0" smtClean="0"/>
          </a:p>
          <a:p>
            <a:endParaRPr lang="ru-RU" sz="2000" b="1" dirty="0"/>
          </a:p>
          <a:p>
            <a:r>
              <a:rPr lang="en-US" sz="2000" dirty="0" smtClean="0"/>
              <a:t>PS_SOLID</a:t>
            </a:r>
          </a:p>
          <a:p>
            <a:r>
              <a:rPr lang="en-US" sz="2000" dirty="0" smtClean="0"/>
              <a:t>PS_DASH</a:t>
            </a:r>
          </a:p>
          <a:p>
            <a:r>
              <a:rPr lang="en-US" sz="2000" dirty="0" smtClean="0"/>
              <a:t>PS_DOT</a:t>
            </a:r>
          </a:p>
          <a:p>
            <a:r>
              <a:rPr lang="en-US" sz="2000" dirty="0" smtClean="0"/>
              <a:t>PS_DASHDOT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 smtClean="0"/>
              <a:t>Перо</a:t>
            </a:r>
            <a:r>
              <a:rPr lang="en-US" sz="2400" b="1" dirty="0" smtClean="0"/>
              <a:t> (</a:t>
            </a:r>
            <a:r>
              <a:rPr lang="ru-RU" sz="2400" b="1" dirty="0" smtClean="0"/>
              <a:t>продолжение)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/>
              <a:t>RGB ( r, g, b )</a:t>
            </a:r>
          </a:p>
          <a:p>
            <a:endParaRPr lang="en-US" sz="2000" dirty="0"/>
          </a:p>
          <a:p>
            <a:r>
              <a:rPr lang="en-US" sz="2000" b="1" dirty="0" smtClean="0"/>
              <a:t>HGDIOBJ </a:t>
            </a:r>
            <a:r>
              <a:rPr lang="en-US" sz="2000" b="1" dirty="0" err="1" smtClean="0"/>
              <a:t>SelectObject</a:t>
            </a:r>
            <a:r>
              <a:rPr lang="en-US" sz="2000" b="1" dirty="0" smtClean="0"/>
              <a:t>( </a:t>
            </a:r>
          </a:p>
          <a:p>
            <a:r>
              <a:rPr lang="en-US" sz="2000" b="1" dirty="0" smtClean="0"/>
              <a:t>    HDC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hdc</a:t>
            </a:r>
            <a:r>
              <a:rPr lang="en-US" sz="2000" b="1" dirty="0" smtClean="0"/>
              <a:t>, 		</a:t>
            </a:r>
            <a:r>
              <a:rPr lang="en-US" sz="2000" dirty="0" smtClean="0"/>
              <a:t>// handle to DC </a:t>
            </a:r>
          </a:p>
          <a:p>
            <a:r>
              <a:rPr lang="en-US" sz="2000" b="1" dirty="0" smtClean="0"/>
              <a:t>    HGDIOBJ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hgdiobj</a:t>
            </a:r>
            <a:r>
              <a:rPr lang="en-US" sz="2000" dirty="0" smtClean="0"/>
              <a:t> 	// handle to object </a:t>
            </a:r>
          </a:p>
          <a:p>
            <a:r>
              <a:rPr lang="en-US" sz="2000" b="1" dirty="0" smtClean="0"/>
              <a:t>)</a:t>
            </a:r>
          </a:p>
          <a:p>
            <a:r>
              <a:rPr lang="en-US" sz="2000" b="1" dirty="0"/>
              <a:t> </a:t>
            </a:r>
            <a:endParaRPr lang="en-US" sz="2000" b="1" dirty="0" smtClean="0"/>
          </a:p>
          <a:p>
            <a:r>
              <a:rPr lang="en-US" sz="2000" b="1" dirty="0" smtClean="0"/>
              <a:t>BOOL </a:t>
            </a:r>
            <a:r>
              <a:rPr lang="en-US" sz="2000" b="1" dirty="0" err="1" smtClean="0"/>
              <a:t>DeleteObject</a:t>
            </a:r>
            <a:r>
              <a:rPr lang="en-US" sz="2000" b="1" dirty="0" smtClean="0"/>
              <a:t>( </a:t>
            </a:r>
          </a:p>
          <a:p>
            <a:r>
              <a:rPr lang="en-US" sz="2000" b="1" dirty="0" smtClean="0"/>
              <a:t>    HGDIOBJ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hObject</a:t>
            </a:r>
            <a:r>
              <a:rPr lang="en-US" sz="2000" dirty="0" smtClean="0"/>
              <a:t> 	// handle to graphic object </a:t>
            </a:r>
          </a:p>
          <a:p>
            <a:r>
              <a:rPr lang="en-US" sz="2000" b="1" dirty="0" smtClean="0"/>
              <a:t>)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 smtClean="0"/>
              <a:t>Пример</a:t>
            </a:r>
            <a:endParaRPr lang="ru-RU" sz="2400" b="1" dirty="0"/>
          </a:p>
        </p:txBody>
      </p:sp>
      <p:pic>
        <p:nvPicPr>
          <p:cNvPr id="4" name="Содержимое 3" descr="Рис_2_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83568" y="1484784"/>
            <a:ext cx="7704856" cy="4536504"/>
          </a:xfr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Пример (продолжение)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00600"/>
          </a:xfrm>
        </p:spPr>
        <p:txBody>
          <a:bodyPr>
            <a:normAutofit fontScale="92500" lnSpcReduction="20000"/>
          </a:bodyPr>
          <a:lstStyle/>
          <a:p>
            <a:r>
              <a:rPr lang="ru-RU" sz="2000" dirty="0" smtClean="0"/>
              <a:t>      </a:t>
            </a:r>
            <a:r>
              <a:rPr lang="en-US" sz="2000" dirty="0" smtClean="0"/>
              <a:t>HPEN </a:t>
            </a:r>
            <a:r>
              <a:rPr lang="en-US" sz="2000" dirty="0" err="1" smtClean="0"/>
              <a:t>hPen</a:t>
            </a:r>
            <a:r>
              <a:rPr lang="en-US" sz="2000" dirty="0" smtClean="0"/>
              <a:t>, </a:t>
            </a:r>
            <a:r>
              <a:rPr lang="en-US" sz="2000" dirty="0" err="1" smtClean="0"/>
              <a:t>hOldPen</a:t>
            </a:r>
            <a:r>
              <a:rPr lang="en-US" sz="2000" dirty="0" smtClean="0"/>
              <a:t>;</a:t>
            </a:r>
            <a:endParaRPr lang="ru-RU" sz="2000" dirty="0" smtClean="0"/>
          </a:p>
          <a:p>
            <a:r>
              <a:rPr lang="ru-RU" sz="2000" dirty="0" smtClean="0"/>
              <a:t>        .  .  .</a:t>
            </a:r>
          </a:p>
          <a:p>
            <a:r>
              <a:rPr lang="en-US" sz="2000" dirty="0" smtClean="0"/>
              <a:t>	</a:t>
            </a:r>
            <a:r>
              <a:rPr lang="en-US" sz="2000" dirty="0"/>
              <a:t>case WM_PAINT:</a:t>
            </a:r>
          </a:p>
          <a:p>
            <a:r>
              <a:rPr lang="en-US" sz="2000" dirty="0"/>
              <a:t>		</a:t>
            </a:r>
            <a:r>
              <a:rPr lang="en-US" sz="2000" dirty="0" err="1"/>
              <a:t>hdc</a:t>
            </a:r>
            <a:r>
              <a:rPr lang="en-US" sz="2000" dirty="0"/>
              <a:t> = </a:t>
            </a:r>
            <a:r>
              <a:rPr lang="en-US" sz="2000" dirty="0" err="1"/>
              <a:t>BeginPaint</a:t>
            </a:r>
            <a:r>
              <a:rPr lang="en-US" sz="2000" dirty="0"/>
              <a:t>(</a:t>
            </a:r>
            <a:r>
              <a:rPr lang="en-US" sz="2000" dirty="0" err="1"/>
              <a:t>hWnd</a:t>
            </a:r>
            <a:r>
              <a:rPr lang="en-US" sz="2000" dirty="0"/>
              <a:t>, &amp;</a:t>
            </a:r>
            <a:r>
              <a:rPr lang="en-US" sz="2000" dirty="0" err="1"/>
              <a:t>ps</a:t>
            </a:r>
            <a:r>
              <a:rPr lang="en-US" sz="2000" dirty="0"/>
              <a:t>);</a:t>
            </a:r>
          </a:p>
          <a:p>
            <a:r>
              <a:rPr lang="en-US" sz="2000" dirty="0"/>
              <a:t>		  </a:t>
            </a:r>
            <a:r>
              <a:rPr lang="ru-RU" sz="2000" dirty="0" smtClean="0"/>
              <a:t>  </a:t>
            </a:r>
            <a:r>
              <a:rPr lang="en-US" sz="2000" dirty="0" smtClean="0"/>
              <a:t>  </a:t>
            </a:r>
            <a:r>
              <a:rPr lang="en-US" sz="2000" dirty="0" err="1"/>
              <a:t>TextOut</a:t>
            </a:r>
            <a:r>
              <a:rPr lang="en-US" sz="2000" dirty="0"/>
              <a:t>(hdc,100,100,L"</a:t>
            </a:r>
            <a:r>
              <a:rPr lang="ru-RU" sz="2000" dirty="0"/>
              <a:t>Привет",6);</a:t>
            </a:r>
          </a:p>
          <a:p>
            <a:r>
              <a:rPr lang="en-US" sz="2000" dirty="0"/>
              <a:t>		</a:t>
            </a:r>
            <a:r>
              <a:rPr lang="ru-RU" sz="2000" dirty="0" smtClean="0"/>
              <a:t>      </a:t>
            </a:r>
            <a:r>
              <a:rPr lang="en-US" sz="2000" dirty="0" err="1" smtClean="0"/>
              <a:t>MoveToEx</a:t>
            </a:r>
            <a:r>
              <a:rPr lang="en-US" sz="2000" dirty="0" smtClean="0"/>
              <a:t>(hdc,200,100,NULL</a:t>
            </a:r>
            <a:r>
              <a:rPr lang="en-US" sz="2000" dirty="0"/>
              <a:t>);</a:t>
            </a:r>
          </a:p>
          <a:p>
            <a:r>
              <a:rPr lang="en-US" sz="2000" dirty="0"/>
              <a:t>		</a:t>
            </a:r>
            <a:r>
              <a:rPr lang="ru-RU" sz="2000" dirty="0" smtClean="0"/>
              <a:t>      </a:t>
            </a:r>
            <a:r>
              <a:rPr lang="en-US" sz="2000" dirty="0" err="1" smtClean="0"/>
              <a:t>LineTo</a:t>
            </a:r>
            <a:r>
              <a:rPr lang="en-US" sz="2000" dirty="0" smtClean="0"/>
              <a:t>(hdc,300,170</a:t>
            </a:r>
            <a:r>
              <a:rPr lang="en-US" sz="2000" dirty="0"/>
              <a:t>);</a:t>
            </a:r>
          </a:p>
          <a:p>
            <a:r>
              <a:rPr lang="en-US" sz="2000" dirty="0"/>
              <a:t>		</a:t>
            </a:r>
            <a:r>
              <a:rPr lang="ru-RU" sz="2000" dirty="0" smtClean="0"/>
              <a:t>      </a:t>
            </a:r>
            <a:r>
              <a:rPr lang="en-US" sz="2000" dirty="0" err="1" smtClean="0"/>
              <a:t>hPen</a:t>
            </a:r>
            <a:r>
              <a:rPr lang="en-US" sz="2000" dirty="0" smtClean="0"/>
              <a:t>=</a:t>
            </a:r>
            <a:r>
              <a:rPr lang="en-US" sz="2000" dirty="0" err="1" smtClean="0"/>
              <a:t>CreatePen</a:t>
            </a:r>
            <a:r>
              <a:rPr lang="en-US" sz="2000" dirty="0" smtClean="0"/>
              <a:t>(PS_SOLID,3,RGB(255,0,0</a:t>
            </a:r>
            <a:r>
              <a:rPr lang="en-US" sz="2000" dirty="0"/>
              <a:t>));</a:t>
            </a:r>
          </a:p>
          <a:p>
            <a:r>
              <a:rPr lang="en-US" sz="2000" dirty="0"/>
              <a:t>		</a:t>
            </a:r>
            <a:r>
              <a:rPr lang="ru-RU" sz="2000" dirty="0" smtClean="0"/>
              <a:t>      </a:t>
            </a:r>
            <a:r>
              <a:rPr lang="en-US" sz="2000" dirty="0" err="1" smtClean="0"/>
              <a:t>hOldPen</a:t>
            </a:r>
            <a:r>
              <a:rPr lang="en-US" sz="2000" dirty="0"/>
              <a:t>=(HPEN)</a:t>
            </a:r>
            <a:r>
              <a:rPr lang="en-US" sz="2000" dirty="0" err="1"/>
              <a:t>SelectObject</a:t>
            </a:r>
            <a:r>
              <a:rPr lang="en-US" sz="2000" dirty="0"/>
              <a:t>(</a:t>
            </a:r>
            <a:r>
              <a:rPr lang="en-US" sz="2000" dirty="0" err="1"/>
              <a:t>hdc,hPen</a:t>
            </a:r>
            <a:r>
              <a:rPr lang="en-US" sz="2000" dirty="0"/>
              <a:t>);</a:t>
            </a:r>
          </a:p>
          <a:p>
            <a:r>
              <a:rPr lang="en-US" sz="2000" dirty="0"/>
              <a:t>		</a:t>
            </a:r>
            <a:r>
              <a:rPr lang="en-US" sz="2000" dirty="0" smtClean="0"/>
              <a:t>      Ellipse(hdc,400,100,540,180</a:t>
            </a:r>
            <a:r>
              <a:rPr lang="en-US" sz="2000" dirty="0"/>
              <a:t>);</a:t>
            </a:r>
          </a:p>
          <a:p>
            <a:r>
              <a:rPr lang="en-US" sz="2000" dirty="0"/>
              <a:t>		</a:t>
            </a:r>
            <a:r>
              <a:rPr lang="en-US" sz="2000" dirty="0" smtClean="0"/>
              <a:t>      </a:t>
            </a:r>
            <a:r>
              <a:rPr lang="en-US" sz="2000" dirty="0" err="1" smtClean="0"/>
              <a:t>hPen</a:t>
            </a:r>
            <a:r>
              <a:rPr lang="en-US" sz="2000" dirty="0" smtClean="0"/>
              <a:t>=</a:t>
            </a:r>
            <a:r>
              <a:rPr lang="en-US" sz="2000" dirty="0" err="1" smtClean="0"/>
              <a:t>CreatePen</a:t>
            </a:r>
            <a:r>
              <a:rPr lang="en-US" sz="2000" dirty="0" smtClean="0"/>
              <a:t>(PS_DASHDOT,1,RGB(0,0,255</a:t>
            </a:r>
            <a:r>
              <a:rPr lang="en-US" sz="2000" dirty="0"/>
              <a:t>));</a:t>
            </a:r>
          </a:p>
          <a:p>
            <a:r>
              <a:rPr lang="en-US" sz="2000" dirty="0"/>
              <a:t>		</a:t>
            </a:r>
            <a:r>
              <a:rPr lang="en-US" sz="2000" dirty="0" smtClean="0"/>
              <a:t>      </a:t>
            </a:r>
            <a:r>
              <a:rPr lang="en-US" sz="2000" dirty="0" err="1" smtClean="0"/>
              <a:t>SelectObject</a:t>
            </a:r>
            <a:r>
              <a:rPr lang="en-US" sz="2000" dirty="0" smtClean="0"/>
              <a:t>(</a:t>
            </a:r>
            <a:r>
              <a:rPr lang="en-US" sz="2000" dirty="0" err="1" smtClean="0"/>
              <a:t>hdc,hPen</a:t>
            </a:r>
            <a:r>
              <a:rPr lang="en-US" sz="2000" dirty="0"/>
              <a:t>);</a:t>
            </a:r>
          </a:p>
          <a:p>
            <a:r>
              <a:rPr lang="en-US" sz="2000" dirty="0"/>
              <a:t>		</a:t>
            </a:r>
            <a:r>
              <a:rPr lang="en-US" sz="2000" dirty="0" smtClean="0"/>
              <a:t>      </a:t>
            </a:r>
            <a:r>
              <a:rPr lang="en-US" sz="2000" dirty="0" err="1" smtClean="0"/>
              <a:t>MoveToEx</a:t>
            </a:r>
            <a:r>
              <a:rPr lang="en-US" sz="2000" dirty="0" smtClean="0"/>
              <a:t>(hdc,200,240,NULL</a:t>
            </a:r>
            <a:r>
              <a:rPr lang="en-US" sz="2000" dirty="0"/>
              <a:t>);</a:t>
            </a:r>
          </a:p>
          <a:p>
            <a:r>
              <a:rPr lang="en-US" sz="2000" dirty="0"/>
              <a:t>		</a:t>
            </a:r>
            <a:r>
              <a:rPr lang="en-US" sz="2000" dirty="0" smtClean="0"/>
              <a:t>      </a:t>
            </a:r>
            <a:r>
              <a:rPr lang="en-US" sz="2000" dirty="0" err="1" smtClean="0"/>
              <a:t>LineTo</a:t>
            </a:r>
            <a:r>
              <a:rPr lang="en-US" sz="2000" dirty="0" smtClean="0"/>
              <a:t>(hdc,500,270</a:t>
            </a:r>
            <a:r>
              <a:rPr lang="en-US" sz="2000" dirty="0"/>
              <a:t>);</a:t>
            </a:r>
          </a:p>
          <a:p>
            <a:r>
              <a:rPr lang="en-US" sz="2000" dirty="0"/>
              <a:t>		</a:t>
            </a:r>
            <a:r>
              <a:rPr lang="en-US" sz="2000" dirty="0" smtClean="0"/>
              <a:t>      </a:t>
            </a:r>
            <a:r>
              <a:rPr lang="en-US" sz="2000" dirty="0" err="1" smtClean="0"/>
              <a:t>SelectObject</a:t>
            </a:r>
            <a:r>
              <a:rPr lang="en-US" sz="2000" dirty="0" smtClean="0"/>
              <a:t>(</a:t>
            </a:r>
            <a:r>
              <a:rPr lang="en-US" sz="2000" dirty="0" err="1" smtClean="0"/>
              <a:t>hdc,hOldPen</a:t>
            </a:r>
            <a:r>
              <a:rPr lang="en-US" sz="2000" dirty="0"/>
              <a:t>);</a:t>
            </a:r>
          </a:p>
          <a:p>
            <a:r>
              <a:rPr lang="en-US" sz="2000" dirty="0"/>
              <a:t>		</a:t>
            </a:r>
            <a:r>
              <a:rPr lang="en-US" sz="2000" dirty="0" smtClean="0"/>
              <a:t>      </a:t>
            </a:r>
            <a:r>
              <a:rPr lang="en-US" sz="2000" dirty="0" err="1" smtClean="0"/>
              <a:t>DeleteObject</a:t>
            </a:r>
            <a:r>
              <a:rPr lang="en-US" sz="2000" dirty="0" smtClean="0"/>
              <a:t>(</a:t>
            </a:r>
            <a:r>
              <a:rPr lang="en-US" sz="2000" dirty="0" err="1" smtClean="0"/>
              <a:t>hPen</a:t>
            </a:r>
            <a:r>
              <a:rPr lang="en-US" sz="2000" dirty="0"/>
              <a:t>);</a:t>
            </a:r>
          </a:p>
          <a:p>
            <a:r>
              <a:rPr lang="en-US" sz="2000" dirty="0"/>
              <a:t>		</a:t>
            </a:r>
            <a:r>
              <a:rPr lang="en-US" sz="2000" dirty="0" err="1"/>
              <a:t>EndPaint</a:t>
            </a:r>
            <a:r>
              <a:rPr lang="en-US" sz="2000" dirty="0"/>
              <a:t>(</a:t>
            </a:r>
            <a:r>
              <a:rPr lang="en-US" sz="2000" dirty="0" err="1"/>
              <a:t>hWnd</a:t>
            </a:r>
            <a:r>
              <a:rPr lang="en-US" sz="2000" dirty="0"/>
              <a:t>, &amp;</a:t>
            </a:r>
            <a:r>
              <a:rPr lang="en-US" sz="2000" dirty="0" err="1"/>
              <a:t>ps</a:t>
            </a:r>
            <a:r>
              <a:rPr lang="en-US" sz="2000" dirty="0"/>
              <a:t>);</a:t>
            </a:r>
          </a:p>
          <a:p>
            <a:r>
              <a:rPr lang="en-US" sz="2000" dirty="0"/>
              <a:t>		break;</a:t>
            </a:r>
          </a:p>
          <a:p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513</Words>
  <Application>Microsoft Office PowerPoint</Application>
  <PresentationFormat>Экран (4:3)</PresentationFormat>
  <Paragraphs>347</Paragraphs>
  <Slides>28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29" baseType="lpstr">
      <vt:lpstr>Тема Office</vt:lpstr>
      <vt:lpstr>Лекция 5</vt:lpstr>
      <vt:lpstr>Слайд 2</vt:lpstr>
      <vt:lpstr>1. ОСОБЕННОСТИ ПРОГРАММИРОВАНИЯ В СРЕДЕ WINDOWS</vt:lpstr>
      <vt:lpstr>Схема обработки сообщений</vt:lpstr>
      <vt:lpstr> 1.2. Типы данных и имена </vt:lpstr>
      <vt:lpstr>1.3. Структура программы</vt:lpstr>
      <vt:lpstr>Структура WNDCLASSEX</vt:lpstr>
      <vt:lpstr>Цикл обработки сообщений</vt:lpstr>
      <vt:lpstr>Функция окна</vt:lpstr>
      <vt:lpstr>Слайд 10</vt:lpstr>
      <vt:lpstr>2.1 Интерфейс графических устройств и контекст отображения</vt:lpstr>
      <vt:lpstr>2.2. Вывод текста в окно</vt:lpstr>
      <vt:lpstr>2.3. Создание приложения</vt:lpstr>
      <vt:lpstr>2.4. Пример</vt:lpstr>
      <vt:lpstr>Пример (продолжение)</vt:lpstr>
      <vt:lpstr>Пример (продолжение)</vt:lpstr>
      <vt:lpstr>Пример (продолжение)</vt:lpstr>
      <vt:lpstr>Пример (продолжение)</vt:lpstr>
      <vt:lpstr>Слайд 19</vt:lpstr>
      <vt:lpstr>Пример (продолжение)</vt:lpstr>
      <vt:lpstr>Пример (продолжение)</vt:lpstr>
      <vt:lpstr>2.6. Вывод простых графических объектов</vt:lpstr>
      <vt:lpstr>Прямоугольник</vt:lpstr>
      <vt:lpstr>Эллипс</vt:lpstr>
      <vt:lpstr>Перо</vt:lpstr>
      <vt:lpstr>Перо (продолжение)</vt:lpstr>
      <vt:lpstr>Пример</vt:lpstr>
      <vt:lpstr>Пример (продолжение)</vt:lpstr>
    </vt:vector>
  </TitlesOfParts>
  <Company>Кафедра ММ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5</dc:title>
  <dc:creator>Князев А.В.</dc:creator>
  <cp:lastModifiedBy>Князев А.В.</cp:lastModifiedBy>
  <cp:revision>70</cp:revision>
  <dcterms:created xsi:type="dcterms:W3CDTF">2020-09-25T12:44:26Z</dcterms:created>
  <dcterms:modified xsi:type="dcterms:W3CDTF">2020-09-28T14:06:05Z</dcterms:modified>
</cp:coreProperties>
</file>