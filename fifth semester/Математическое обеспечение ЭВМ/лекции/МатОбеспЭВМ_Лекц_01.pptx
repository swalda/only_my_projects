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FEA46-AB13-4AE7-8DBE-058BFF10659A}" type="datetimeFigureOut">
              <a:rPr lang="ru-RU" smtClean="0"/>
              <a:pPr/>
              <a:t>02.09.2020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5273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ru-RU" sz="2400" b="1" dirty="0" smtClean="0"/>
              <a:t>ОСНОВЫ ПОСТРОЕНИЯ </a:t>
            </a:r>
            <a:r>
              <a:rPr lang="ru-RU" sz="2400" b="1" dirty="0" smtClean="0"/>
              <a:t>ТРАНСЛЯТОРОВ</a:t>
            </a:r>
            <a:br>
              <a:rPr lang="ru-RU" sz="2400" b="1" dirty="0" smtClean="0"/>
            </a:br>
            <a:r>
              <a:rPr lang="ru-RU" sz="2200" b="1" dirty="0" smtClean="0"/>
              <a:t>1</a:t>
            </a:r>
            <a:r>
              <a:rPr lang="ru-RU" sz="2200" b="1" dirty="0"/>
              <a:t>. УПРОЩЁННАЯ МОДЕЛЬ КОМПИЛЯТОРА</a:t>
            </a:r>
            <a:r>
              <a:rPr lang="ru-RU" sz="3200" b="1" dirty="0"/>
              <a:t/>
            </a:r>
            <a:br>
              <a:rPr lang="ru-RU" sz="3200" b="1" dirty="0"/>
            </a:b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1124744"/>
            <a:ext cx="8064896" cy="554461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 smtClean="0"/>
              <a:t>Князев А.В. Основы построения трансляторов. – М., МЭИ.</a:t>
            </a:r>
            <a:r>
              <a:rPr lang="ru-RU" dirty="0"/>
              <a:t>	</a:t>
            </a:r>
            <a:endParaRPr lang="ru-RU" dirty="0" smtClean="0"/>
          </a:p>
          <a:p>
            <a:pPr algn="l"/>
            <a:endParaRPr lang="ru-RU" i="1" dirty="0" smtClean="0"/>
          </a:p>
          <a:p>
            <a:pPr algn="l"/>
            <a:r>
              <a:rPr lang="ru-RU" i="1" dirty="0" smtClean="0"/>
              <a:t>	Транслятор</a:t>
            </a:r>
            <a:r>
              <a:rPr lang="ru-RU" dirty="0" smtClean="0"/>
              <a:t> </a:t>
            </a:r>
            <a:r>
              <a:rPr lang="ru-RU" dirty="0"/>
              <a:t>– это программа, которая переводит исходную программу в эквивалентную ей программу на объектном языке. Исходная программа пишется на некотором исходном языке, объектная программа пишется на объектном языке, в качестве которого часто выступает машинный язык компьютера.</a:t>
            </a:r>
          </a:p>
          <a:p>
            <a:pPr algn="l"/>
            <a:r>
              <a:rPr lang="ru-RU" dirty="0"/>
              <a:t>	Если исходная программа написана на языке высокого уровня, транслятор называется компилятором, если – на языке низкого уровня, то – ассемблером.</a:t>
            </a:r>
          </a:p>
          <a:p>
            <a:pPr algn="l"/>
            <a:r>
              <a:rPr lang="ru-RU" dirty="0"/>
              <a:t>	</a:t>
            </a:r>
            <a:r>
              <a:rPr lang="ru-RU" i="1" dirty="0"/>
              <a:t>Интерпретатор </a:t>
            </a:r>
            <a:r>
              <a:rPr lang="ru-RU" dirty="0"/>
              <a:t>принимает программу на некотором исходном языке и выполняет её.</a:t>
            </a:r>
          </a:p>
          <a:p>
            <a:pPr algn="l"/>
            <a:r>
              <a:rPr lang="ru-RU" dirty="0"/>
              <a:t>	Работа компилятора заключается в том, чтобы перевести текст программы (т.е. последовательность литер) в последовательность машинных команд. Это – сложный процесс, который выполняется за несколько стадий.</a:t>
            </a:r>
          </a:p>
          <a:p>
            <a:pPr algn="l"/>
            <a:r>
              <a:rPr lang="ru-RU" dirty="0"/>
              <a:t>	Рассмотрим упрощённую модель компилятора. Согласно этой модели компиляция осуществляется тремя последовательно соединёнными блоками, которые называются лексическим блоком, синтаксическим блоком и генератором </a:t>
            </a:r>
            <a:r>
              <a:rPr lang="ru-RU" dirty="0" smtClean="0"/>
              <a:t>кода:</a:t>
            </a:r>
            <a:endParaRPr lang="ru-RU" dirty="0"/>
          </a:p>
          <a:p>
            <a:pPr algn="l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Модель компилятора</a:t>
            </a:r>
            <a:endParaRPr lang="ru-RU" sz="2800" dirty="0"/>
          </a:p>
        </p:txBody>
      </p:sp>
      <p:pic>
        <p:nvPicPr>
          <p:cNvPr id="4" name="Содержимое 3" descr="Рис_1_1б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33298"/>
            <a:ext cx="8229600" cy="385976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Три блока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	Эти три блока имеют доступ к общему набору таблиц, в которые помещается глобальная информация о программе. В частности, использу</a:t>
            </a:r>
            <a:r>
              <a:rPr lang="ru-RU" b="1" dirty="0"/>
              <a:t>ется</a:t>
            </a:r>
            <a:r>
              <a:rPr lang="ru-RU" dirty="0"/>
              <a:t> таблица имён, в которой накапливается информация о каждой переменной.</a:t>
            </a:r>
          </a:p>
          <a:p>
            <a:r>
              <a:rPr lang="ru-RU" dirty="0"/>
              <a:t>	На вход поступает исходная программа, на выходе мы имеем объектную программу.</a:t>
            </a:r>
          </a:p>
          <a:p>
            <a:r>
              <a:rPr lang="ru-RU" dirty="0"/>
              <a:t>	Рассмотрим подробнее указанные блоки.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Лексический блок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</p:spPr>
        <p:txBody>
          <a:bodyPr>
            <a:normAutofit fontScale="47500" lnSpcReduction="20000"/>
          </a:bodyPr>
          <a:lstStyle/>
          <a:p>
            <a:r>
              <a:rPr lang="ru-RU" sz="4400" dirty="0"/>
              <a:t>	Лексический блок предназначен для того, чтобы разбить последовательность литер исходной программы на слова. Например, для следующего фрагмента программы</a:t>
            </a:r>
          </a:p>
          <a:p>
            <a:r>
              <a:rPr lang="ru-RU" sz="4400" dirty="0"/>
              <a:t> </a:t>
            </a:r>
          </a:p>
          <a:p>
            <a:r>
              <a:rPr lang="ru-RU" sz="4400" i="1" dirty="0"/>
              <a:t>	</a:t>
            </a:r>
            <a:r>
              <a:rPr lang="en-US" sz="4400" i="1" dirty="0"/>
              <a:t>	if(Delta&gt;=125) Alpha=sin(Delta);</a:t>
            </a:r>
            <a:endParaRPr lang="ru-RU" sz="4400" dirty="0"/>
          </a:p>
          <a:p>
            <a:r>
              <a:rPr lang="en-US" sz="4400" dirty="0"/>
              <a:t> </a:t>
            </a:r>
            <a:endParaRPr lang="ru-RU" sz="4400" dirty="0"/>
          </a:p>
          <a:p>
            <a:r>
              <a:rPr lang="ru-RU" sz="4400" dirty="0"/>
              <a:t>лексический блок должен выделить ключевое слово </a:t>
            </a:r>
            <a:r>
              <a:rPr lang="en-US" sz="4400" b="1" i="1" dirty="0"/>
              <a:t>if</a:t>
            </a:r>
            <a:r>
              <a:rPr lang="ru-RU" sz="4400" dirty="0"/>
              <a:t>, разделитель </a:t>
            </a:r>
            <a:r>
              <a:rPr lang="ru-RU" sz="4400" b="1" i="1" dirty="0"/>
              <a:t>(</a:t>
            </a:r>
            <a:r>
              <a:rPr lang="ru-RU" sz="4400" dirty="0"/>
              <a:t>, идентификатор </a:t>
            </a:r>
            <a:r>
              <a:rPr lang="en-US" sz="4400" b="1" i="1" dirty="0"/>
              <a:t>Delta</a:t>
            </a:r>
            <a:r>
              <a:rPr lang="ru-RU" sz="4400" dirty="0"/>
              <a:t> и т.д.  </a:t>
            </a:r>
          </a:p>
          <a:p>
            <a:r>
              <a:rPr lang="ru-RU" sz="4400" dirty="0"/>
              <a:t>	Слова, выделяемые лексическим блоком, обычно называют </a:t>
            </a:r>
            <a:r>
              <a:rPr lang="ru-RU" sz="4400" i="1" dirty="0"/>
              <a:t>лексемами</a:t>
            </a:r>
            <a:r>
              <a:rPr lang="ru-RU" sz="4400" dirty="0"/>
              <a:t>.</a:t>
            </a:r>
          </a:p>
          <a:p>
            <a:r>
              <a:rPr lang="ru-RU" sz="4400" dirty="0"/>
              <a:t>	В общем случае лексема характеризуется двумя составляющими: классом и значением. Первая составляющая означает, что лексема принадлежит одному из конечного множества классов и указывает на характер информации, включённой в значение лексемы.</a:t>
            </a:r>
          </a:p>
          <a:p>
            <a:r>
              <a:rPr lang="ru-RU" sz="4400" dirty="0"/>
              <a:t>	Например, лексема </a:t>
            </a:r>
            <a:r>
              <a:rPr lang="ru-RU" sz="4400" b="1" i="1" dirty="0"/>
              <a:t>125</a:t>
            </a:r>
            <a:r>
              <a:rPr lang="ru-RU" sz="4400" dirty="0"/>
              <a:t> имеет класс </a:t>
            </a:r>
            <a:r>
              <a:rPr lang="ru-RU" sz="4400" i="1" dirty="0"/>
              <a:t>константа</a:t>
            </a:r>
            <a:r>
              <a:rPr lang="ru-RU" sz="4400" dirty="0"/>
              <a:t> и значение “125”; лексема </a:t>
            </a:r>
            <a:r>
              <a:rPr lang="ru-RU" sz="4400" b="1" i="1" dirty="0"/>
              <a:t>(</a:t>
            </a:r>
            <a:r>
              <a:rPr lang="ru-RU" sz="4400" dirty="0"/>
              <a:t> имеет класс </a:t>
            </a:r>
            <a:r>
              <a:rPr lang="ru-RU" sz="4400" i="1" dirty="0"/>
              <a:t>левая скобка</a:t>
            </a:r>
            <a:r>
              <a:rPr lang="ru-RU" sz="4400" dirty="0"/>
              <a:t> и не имеет значения.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Синтаксический блок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>
            <a:normAutofit fontScale="47500" lnSpcReduction="20000"/>
          </a:bodyPr>
          <a:lstStyle/>
          <a:p>
            <a:r>
              <a:rPr lang="ru-RU" sz="4200" dirty="0"/>
              <a:t>	Синтаксический блок переводит последовательность лексем, построенную лексическим блоком, в другую последовательность, которая более непосредственно отражает порядок, в котором должны выполняться операции в программе.</a:t>
            </a:r>
          </a:p>
          <a:p>
            <a:r>
              <a:rPr lang="ru-RU" sz="4200" dirty="0"/>
              <a:t>	Например, выражение</a:t>
            </a:r>
          </a:p>
          <a:p>
            <a:r>
              <a:rPr lang="ru-RU" sz="4200" dirty="0"/>
              <a:t> </a:t>
            </a:r>
          </a:p>
          <a:p>
            <a:r>
              <a:rPr lang="ru-RU" sz="4200" b="1" i="1" dirty="0"/>
              <a:t>		</a:t>
            </a:r>
            <a:r>
              <a:rPr lang="en-US" sz="4200" b="1" i="1" dirty="0"/>
              <a:t>		</a:t>
            </a:r>
            <a:r>
              <a:rPr lang="en-US" sz="4200" b="1" i="1" dirty="0" err="1"/>
              <a:t>a+b</a:t>
            </a:r>
            <a:r>
              <a:rPr lang="en-US" sz="4200" b="1" i="1" dirty="0"/>
              <a:t>*c</a:t>
            </a:r>
            <a:endParaRPr lang="ru-RU" sz="4200" dirty="0"/>
          </a:p>
          <a:p>
            <a:r>
              <a:rPr lang="en-US" sz="4200" dirty="0"/>
              <a:t> </a:t>
            </a:r>
            <a:endParaRPr lang="ru-RU" sz="4200" dirty="0"/>
          </a:p>
          <a:p>
            <a:r>
              <a:rPr lang="ru-RU" sz="4200" dirty="0"/>
              <a:t>синтаксическим блоком переводится в последовательность</a:t>
            </a:r>
          </a:p>
          <a:p>
            <a:r>
              <a:rPr lang="ru-RU" sz="4200" dirty="0"/>
              <a:t> </a:t>
            </a:r>
          </a:p>
          <a:p>
            <a:r>
              <a:rPr lang="ru-RU" sz="4200" i="1" dirty="0"/>
              <a:t>			Умножить(</a:t>
            </a:r>
            <a:r>
              <a:rPr lang="en-US" sz="4200" i="1" dirty="0"/>
              <a:t>b,c,r1)</a:t>
            </a:r>
            <a:endParaRPr lang="ru-RU" sz="4200" dirty="0"/>
          </a:p>
          <a:p>
            <a:r>
              <a:rPr lang="ru-RU" sz="4200" i="1" dirty="0"/>
              <a:t>			Сложить</a:t>
            </a:r>
            <a:r>
              <a:rPr lang="en-US" sz="4200" i="1" dirty="0"/>
              <a:t>(a,r1,r2)</a:t>
            </a:r>
            <a:endParaRPr lang="ru-RU" sz="4200" dirty="0"/>
          </a:p>
          <a:p>
            <a:r>
              <a:rPr lang="ru-RU" sz="4200" dirty="0"/>
              <a:t> </a:t>
            </a:r>
          </a:p>
          <a:p>
            <a:r>
              <a:rPr lang="ru-RU" sz="4200" dirty="0"/>
              <a:t>Таким образом, последовательность лексем преобразуется в последовательность </a:t>
            </a:r>
            <a:r>
              <a:rPr lang="ru-RU" sz="4200" i="1" dirty="0"/>
              <a:t>атомов</a:t>
            </a:r>
            <a:r>
              <a:rPr lang="ru-RU" sz="4200" dirty="0"/>
              <a:t>. Последовательность атомов характеризует, какие операции и в каком порядке должны выполняться. Атомы, приведённые в данном примере, часто называют </a:t>
            </a:r>
            <a:r>
              <a:rPr lang="ru-RU" sz="4200" i="1" dirty="0" err="1"/>
              <a:t>тетрадами</a:t>
            </a:r>
            <a:r>
              <a:rPr lang="ru-RU" sz="4200" dirty="0"/>
              <a:t> – они имеют четыре составляющих: тип операции и три операнда.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Генератор кода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	Генератор кода развёртывает атомы, построенные синтаксическим блоком, в последовательность команд вычислительной машины.</a:t>
            </a:r>
          </a:p>
          <a:p>
            <a:r>
              <a:rPr lang="ru-RU" dirty="0"/>
              <a:t>	Кроме рассмотренных блоков в состав компилятора могут входить и другие, в частности семантический блок, блок оптимизации.</a:t>
            </a:r>
          </a:p>
          <a:p>
            <a:r>
              <a:rPr lang="ru-RU" dirty="0"/>
              <a:t>	Следует заметить, что приведённая выше схема не отражает, вообще говоря, последовательности выполнения стадий (лексический анализ, синтаксический анализ, генерация кода). С точки зрения взаимодействия блоков компиляторы делятся на однопроходные и многопроходные.</a:t>
            </a:r>
          </a:p>
          <a:p>
            <a:r>
              <a:rPr lang="ru-RU" dirty="0"/>
              <a:t>	В однопроходном компиляторе синтаксический блок выступает в качестве головного модуля. Он вызывает лексический блок всякий раз, когда ему нужна лексема, а после обработки законченной синтаксической конструкции он вызывает блок генератора кода для преобразования сформированной цепочки атомов в последовательность соответствующих машинных команд.</a:t>
            </a:r>
          </a:p>
          <a:p>
            <a:r>
              <a:rPr lang="ru-RU" dirty="0"/>
              <a:t>	В трёхпроходном компиляторе имеется специальный головной модуль, который сначала вызывает лексический блок, сканирующий всю программу и выдающий последовательность лексем. Затем вызывается синтаксический блок, который преобразует эти лексемы в последовательность атомов, соответствующую всей исходной программе. После этого головной модуль вызывает генератор кода для формирования окончательной объектной программы.</a:t>
            </a:r>
          </a:p>
          <a:p>
            <a:r>
              <a:rPr lang="ru-RU" dirty="0"/>
              <a:t>	Возможны и комбинации различных блоков для совместной работы в одном проходе.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/>
              <a:t>2. ФОРМАЛЬНЫЕ ГРАММАТИКИ И ЯЗЫКИ</a:t>
            </a:r>
            <a:br>
              <a:rPr lang="ru-RU" sz="2800" b="1" dirty="0" smtClean="0"/>
            </a:br>
            <a:r>
              <a:rPr lang="ru-RU" sz="2800" dirty="0" smtClean="0"/>
              <a:t> </a:t>
            </a:r>
            <a:br>
              <a:rPr lang="ru-RU" sz="2800" dirty="0" smtClean="0"/>
            </a:br>
            <a:r>
              <a:rPr lang="ru-RU" sz="2800" b="1" dirty="0" smtClean="0"/>
              <a:t>2.1. Символы и цепочки</a:t>
            </a:r>
            <a:br>
              <a:rPr lang="ru-RU" sz="2800" b="1" dirty="0" smtClean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772817"/>
            <a:ext cx="8229600" cy="4608512"/>
          </a:xfrm>
        </p:spPr>
        <p:txBody>
          <a:bodyPr>
            <a:noAutofit/>
          </a:bodyPr>
          <a:lstStyle/>
          <a:p>
            <a:r>
              <a:rPr lang="ru-RU" sz="1600" dirty="0"/>
              <a:t>	Введём ряд обозначений и понятий.</a:t>
            </a:r>
          </a:p>
          <a:p>
            <a:r>
              <a:rPr lang="ru-RU" sz="1600" dirty="0"/>
              <a:t>	</a:t>
            </a:r>
            <a:r>
              <a:rPr lang="ru-RU" sz="1600" i="1" dirty="0"/>
              <a:t>Алфавит</a:t>
            </a:r>
            <a:r>
              <a:rPr lang="ru-RU" sz="1600" dirty="0"/>
              <a:t> – это непустое множество элементов. Назовём элементы алфавита </a:t>
            </a:r>
            <a:r>
              <a:rPr lang="ru-RU" sz="1600" i="1" dirty="0"/>
              <a:t>символами</a:t>
            </a:r>
            <a:r>
              <a:rPr lang="ru-RU" sz="1600" dirty="0"/>
              <a:t>. Всякая конечная последовательность символов алфавита называется </a:t>
            </a:r>
            <a:r>
              <a:rPr lang="ru-RU" sz="1600" i="1" dirty="0"/>
              <a:t>цепочкой</a:t>
            </a:r>
            <a:r>
              <a:rPr lang="ru-RU" sz="1600" dirty="0"/>
              <a:t>.</a:t>
            </a:r>
          </a:p>
          <a:p>
            <a:r>
              <a:rPr lang="ru-RU" sz="1600" dirty="0"/>
              <a:t>	Пример 1.</a:t>
            </a:r>
          </a:p>
          <a:p>
            <a:r>
              <a:rPr lang="ru-RU" sz="1600" dirty="0"/>
              <a:t>	Алфавит: </a:t>
            </a:r>
            <a:r>
              <a:rPr lang="en-US" sz="1600" b="1" i="1" dirty="0"/>
              <a:t>A</a:t>
            </a:r>
            <a:r>
              <a:rPr lang="ru-RU" sz="1600" b="1" i="1" dirty="0"/>
              <a:t>={</a:t>
            </a:r>
            <a:r>
              <a:rPr lang="en-US" sz="1600" b="1" i="1" dirty="0"/>
              <a:t>a</a:t>
            </a:r>
            <a:r>
              <a:rPr lang="ru-RU" sz="1600" b="1" i="1" dirty="0"/>
              <a:t>,</a:t>
            </a:r>
            <a:r>
              <a:rPr lang="en-US" sz="1600" b="1" i="1" dirty="0"/>
              <a:t>b</a:t>
            </a:r>
            <a:r>
              <a:rPr lang="ru-RU" sz="1600" b="1" i="1" dirty="0"/>
              <a:t>,</a:t>
            </a:r>
            <a:r>
              <a:rPr lang="en-US" sz="1600" b="1" i="1" dirty="0"/>
              <a:t>c</a:t>
            </a:r>
            <a:r>
              <a:rPr lang="ru-RU" sz="1600" b="1" i="1" dirty="0"/>
              <a:t>}</a:t>
            </a:r>
            <a:r>
              <a:rPr lang="ru-RU" sz="1600" dirty="0"/>
              <a:t>. Цепочки</a:t>
            </a:r>
            <a:r>
              <a:rPr lang="en-US" sz="1600" dirty="0"/>
              <a:t>: </a:t>
            </a:r>
            <a:r>
              <a:rPr lang="en-US" sz="1600" b="1" i="1" dirty="0"/>
              <a:t>a, b, c, </a:t>
            </a:r>
            <a:r>
              <a:rPr lang="en-US" sz="1600" b="1" i="1" dirty="0" err="1"/>
              <a:t>ab</a:t>
            </a:r>
            <a:r>
              <a:rPr lang="en-US" sz="1600" b="1" i="1" dirty="0"/>
              <a:t>, </a:t>
            </a:r>
            <a:r>
              <a:rPr lang="en-US" sz="1600" b="1" i="1" dirty="0" err="1"/>
              <a:t>ba</a:t>
            </a:r>
            <a:r>
              <a:rPr lang="en-US" sz="1600" b="1" i="1" dirty="0"/>
              <a:t>, </a:t>
            </a:r>
            <a:r>
              <a:rPr lang="en-US" sz="1600" b="1" i="1" dirty="0" err="1"/>
              <a:t>baac</a:t>
            </a:r>
            <a:r>
              <a:rPr lang="en-US" sz="1600" dirty="0"/>
              <a:t>.</a:t>
            </a:r>
            <a:endParaRPr lang="ru-RU" sz="1600" dirty="0"/>
          </a:p>
          <a:p>
            <a:r>
              <a:rPr lang="en-US" sz="1600" dirty="0"/>
              <a:t>	</a:t>
            </a:r>
            <a:r>
              <a:rPr lang="ru-RU" sz="1600" i="1" dirty="0"/>
              <a:t>Длина</a:t>
            </a:r>
            <a:r>
              <a:rPr lang="ru-RU" sz="1600" dirty="0"/>
              <a:t> цепочки – это число символов в ней. Если </a:t>
            </a:r>
            <a:r>
              <a:rPr lang="en-US" sz="1600" b="1" i="1" dirty="0"/>
              <a:t>x</a:t>
            </a:r>
            <a:r>
              <a:rPr lang="ru-RU" sz="1600" dirty="0"/>
              <a:t> – цепочка, то </a:t>
            </a:r>
            <a:r>
              <a:rPr lang="ru-RU" sz="1600" b="1" i="1" dirty="0"/>
              <a:t>|</a:t>
            </a:r>
            <a:r>
              <a:rPr lang="en-US" sz="1600" b="1" i="1" dirty="0"/>
              <a:t>x</a:t>
            </a:r>
            <a:r>
              <a:rPr lang="ru-RU" sz="1600" b="1" i="1" dirty="0"/>
              <a:t>|</a:t>
            </a:r>
            <a:r>
              <a:rPr lang="ru-RU" sz="1600" dirty="0"/>
              <a:t> - длина цепочки </a:t>
            </a:r>
            <a:r>
              <a:rPr lang="en-US" sz="1600" b="1" i="1" dirty="0"/>
              <a:t>x</a:t>
            </a:r>
            <a:r>
              <a:rPr lang="ru-RU" sz="1600" dirty="0"/>
              <a:t>.</a:t>
            </a:r>
          </a:p>
          <a:p>
            <a:r>
              <a:rPr lang="ru-RU" sz="1600" dirty="0"/>
              <a:t>	Цепочка может быть пустой. Пустую цепочку будем обозначать  </a:t>
            </a:r>
            <a:r>
              <a:rPr lang="en-US" sz="1600" dirty="0" smtClean="0">
                <a:latin typeface="Symbol" pitchFamily="18" charset="2"/>
              </a:rPr>
              <a:t>L</a:t>
            </a:r>
            <a:r>
              <a:rPr lang="en-US" sz="1600" dirty="0" smtClean="0"/>
              <a:t> </a:t>
            </a:r>
            <a:r>
              <a:rPr lang="en-US" sz="1600" dirty="0"/>
              <a:t>(</a:t>
            </a:r>
            <a:r>
              <a:rPr lang="ru-RU" sz="1600" dirty="0"/>
              <a:t>или </a:t>
            </a:r>
            <a:r>
              <a:rPr lang="en-US" sz="1600" dirty="0" smtClean="0">
                <a:latin typeface="Symbol" pitchFamily="18" charset="2"/>
              </a:rPr>
              <a:t>e</a:t>
            </a:r>
            <a:r>
              <a:rPr lang="ru-RU" sz="1600" dirty="0" smtClean="0"/>
              <a:t>).</a:t>
            </a:r>
            <a:endParaRPr lang="ru-RU" sz="1600" dirty="0"/>
          </a:p>
          <a:p>
            <a:r>
              <a:rPr lang="ru-RU" sz="1600" dirty="0"/>
              <a:t>	Строчные буквы в конце латинского алфавита </a:t>
            </a:r>
            <a:r>
              <a:rPr lang="en-US" sz="1600" b="1" i="1" dirty="0"/>
              <a:t>u</a:t>
            </a:r>
            <a:r>
              <a:rPr lang="ru-RU" sz="1600" b="1" i="1" dirty="0"/>
              <a:t>, </a:t>
            </a:r>
            <a:r>
              <a:rPr lang="en-US" sz="1600" b="1" i="1" dirty="0"/>
              <a:t>v</a:t>
            </a:r>
            <a:r>
              <a:rPr lang="ru-RU" sz="1600" b="1" i="1" dirty="0"/>
              <a:t>, </a:t>
            </a:r>
            <a:r>
              <a:rPr lang="en-US" sz="1600" b="1" i="1" dirty="0"/>
              <a:t>w</a:t>
            </a:r>
            <a:r>
              <a:rPr lang="ru-RU" sz="1600" b="1" i="1" dirty="0"/>
              <a:t>, </a:t>
            </a:r>
            <a:r>
              <a:rPr lang="en-US" sz="1600" b="1" i="1" dirty="0"/>
              <a:t>x</a:t>
            </a:r>
            <a:r>
              <a:rPr lang="ru-RU" sz="1600" b="1" i="1" dirty="0"/>
              <a:t>, </a:t>
            </a:r>
            <a:r>
              <a:rPr lang="en-US" sz="1600" b="1" i="1" dirty="0"/>
              <a:t>y</a:t>
            </a:r>
            <a:r>
              <a:rPr lang="ru-RU" sz="1600" b="1" i="1" dirty="0"/>
              <a:t>, </a:t>
            </a:r>
            <a:r>
              <a:rPr lang="en-US" sz="1600" b="1" i="1" dirty="0"/>
              <a:t>z</a:t>
            </a:r>
            <a:r>
              <a:rPr lang="en-US" sz="1600" dirty="0"/>
              <a:t> </a:t>
            </a:r>
            <a:r>
              <a:rPr lang="ru-RU" sz="1600" dirty="0"/>
              <a:t>обычно будем использовать для обозначения цепочек. Буквы в начале </a:t>
            </a:r>
            <a:r>
              <a:rPr lang="en-US" sz="1600" b="1" i="1" dirty="0"/>
              <a:t>a</a:t>
            </a:r>
            <a:r>
              <a:rPr lang="ru-RU" sz="1600" b="1" i="1" dirty="0"/>
              <a:t>, </a:t>
            </a:r>
            <a:r>
              <a:rPr lang="en-US" sz="1600" b="1" i="1" dirty="0"/>
              <a:t>b</a:t>
            </a:r>
            <a:r>
              <a:rPr lang="ru-RU" sz="1600" b="1" i="1" dirty="0"/>
              <a:t>, </a:t>
            </a:r>
            <a:r>
              <a:rPr lang="en-US" sz="1600" b="1" i="1" dirty="0"/>
              <a:t>c</a:t>
            </a:r>
            <a:r>
              <a:rPr lang="ru-RU" sz="1600" b="1" i="1" dirty="0"/>
              <a:t>, </a:t>
            </a:r>
            <a:r>
              <a:rPr lang="en-US" sz="1600" b="1" i="1" dirty="0"/>
              <a:t>d </a:t>
            </a:r>
            <a:r>
              <a:rPr lang="ru-RU" sz="1600" dirty="0"/>
              <a:t>… будем использовать для обозначения символов. Заглавные буквы латинского алфавита будем использовать как для обозначения множеств, так и для обозначения символов.</a:t>
            </a:r>
          </a:p>
          <a:p>
            <a:r>
              <a:rPr lang="ru-RU" sz="1600" dirty="0"/>
              <a:t>	Можно выполнять операцию конкатенации (сцепления) цепочек. Если </a:t>
            </a:r>
            <a:r>
              <a:rPr lang="en-US" sz="1600" b="1" i="1" dirty="0"/>
              <a:t>x</a:t>
            </a:r>
            <a:r>
              <a:rPr lang="ru-RU" sz="1600" b="1" i="1" dirty="0"/>
              <a:t>, </a:t>
            </a:r>
            <a:r>
              <a:rPr lang="en-US" sz="1600" b="1" i="1" dirty="0"/>
              <a:t>y</a:t>
            </a:r>
            <a:r>
              <a:rPr lang="ru-RU" sz="1600" dirty="0"/>
              <a:t> – цепочки, то </a:t>
            </a:r>
            <a:r>
              <a:rPr lang="en-US" sz="1600" b="1" i="1" dirty="0" err="1"/>
              <a:t>xy</a:t>
            </a:r>
            <a:r>
              <a:rPr lang="en-US" sz="1600" dirty="0"/>
              <a:t> </a:t>
            </a:r>
            <a:r>
              <a:rPr lang="ru-RU" sz="1600" dirty="0"/>
              <a:t>–цепочка, полученная путём добавления цепочки </a:t>
            </a:r>
            <a:r>
              <a:rPr lang="en-US" sz="1600" b="1" i="1" dirty="0"/>
              <a:t>y</a:t>
            </a:r>
            <a:r>
              <a:rPr lang="ru-RU" sz="1600" dirty="0"/>
              <a:t> в конец цепочки </a:t>
            </a:r>
            <a:r>
              <a:rPr lang="en-US" sz="1600" b="1" i="1" dirty="0"/>
              <a:t>x</a:t>
            </a:r>
            <a:r>
              <a:rPr lang="ru-RU" sz="1600" dirty="0"/>
              <a:t>.</a:t>
            </a:r>
          </a:p>
          <a:p>
            <a:r>
              <a:rPr lang="ru-RU" sz="1600" dirty="0"/>
              <a:t>	Если </a:t>
            </a:r>
            <a:r>
              <a:rPr lang="ru-RU" sz="1600" b="1" i="1" dirty="0"/>
              <a:t> </a:t>
            </a:r>
            <a:r>
              <a:rPr lang="en-US" sz="1600" b="1" i="1" dirty="0"/>
              <a:t>z</a:t>
            </a:r>
            <a:r>
              <a:rPr lang="ru-RU" sz="1600" b="1" i="1" dirty="0"/>
              <a:t>=</a:t>
            </a:r>
            <a:r>
              <a:rPr lang="en-US" sz="1600" b="1" i="1" dirty="0" err="1"/>
              <a:t>xy</a:t>
            </a:r>
            <a:r>
              <a:rPr lang="ru-RU" sz="1600" dirty="0"/>
              <a:t> – некоторая цепочка, то </a:t>
            </a:r>
            <a:r>
              <a:rPr lang="en-US" sz="1600" b="1" i="1" dirty="0"/>
              <a:t>x</a:t>
            </a:r>
            <a:r>
              <a:rPr lang="ru-RU" sz="1600" dirty="0"/>
              <a:t> – это голова цепочки, а </a:t>
            </a:r>
            <a:r>
              <a:rPr lang="en-US" sz="1600" b="1" i="1" dirty="0"/>
              <a:t>y</a:t>
            </a:r>
            <a:r>
              <a:rPr lang="en-US" sz="1600" b="1" dirty="0"/>
              <a:t> </a:t>
            </a:r>
            <a:r>
              <a:rPr lang="ru-RU" sz="1600" dirty="0"/>
              <a:t>– это хвост цепочки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Степень цепочки и степень алфавита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Степень цепочки определяется следующим образом: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x</a:t>
            </a:r>
            <a:r>
              <a:rPr lang="en-US" baseline="30000" dirty="0"/>
              <a:t>1</a:t>
            </a:r>
            <a:r>
              <a:rPr lang="en-US" dirty="0"/>
              <a:t> = x</a:t>
            </a:r>
            <a:endParaRPr lang="ru-RU" dirty="0"/>
          </a:p>
          <a:p>
            <a:r>
              <a:rPr lang="en-US" dirty="0"/>
              <a:t>		x</a:t>
            </a:r>
            <a:r>
              <a:rPr lang="en-US" baseline="30000" dirty="0"/>
              <a:t>2</a:t>
            </a:r>
            <a:r>
              <a:rPr lang="en-US" dirty="0"/>
              <a:t> = xx</a:t>
            </a:r>
            <a:endParaRPr lang="ru-RU" dirty="0"/>
          </a:p>
          <a:p>
            <a:r>
              <a:rPr lang="en-US" dirty="0"/>
              <a:t>		x</a:t>
            </a:r>
            <a:r>
              <a:rPr lang="en-US" baseline="30000" dirty="0"/>
              <a:t>3</a:t>
            </a:r>
            <a:r>
              <a:rPr lang="en-US" dirty="0"/>
              <a:t> = xxx</a:t>
            </a:r>
            <a:endParaRPr lang="ru-RU" dirty="0"/>
          </a:p>
          <a:p>
            <a:r>
              <a:rPr lang="en-US" dirty="0"/>
              <a:t>		. . .</a:t>
            </a:r>
            <a:endParaRPr lang="ru-RU" dirty="0"/>
          </a:p>
          <a:p>
            <a:r>
              <a:rPr lang="ru-RU" dirty="0"/>
              <a:t>	Степень алфавита </a:t>
            </a:r>
            <a:r>
              <a:rPr lang="en-US" b="1" i="1" dirty="0"/>
              <a:t>A</a:t>
            </a:r>
            <a:r>
              <a:rPr lang="ru-RU" dirty="0"/>
              <a:t> определяется так: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A</a:t>
            </a:r>
            <a:r>
              <a:rPr lang="en-US" baseline="30000" dirty="0"/>
              <a:t>0</a:t>
            </a:r>
            <a:r>
              <a:rPr lang="en-US" dirty="0"/>
              <a:t> = </a:t>
            </a:r>
            <a:r>
              <a:rPr lang="en-US" dirty="0" smtClean="0"/>
              <a:t>{</a:t>
            </a:r>
            <a:r>
              <a:rPr lang="en-US" dirty="0" smtClean="0">
                <a:latin typeface="Symbol" pitchFamily="18" charset="2"/>
              </a:rPr>
              <a:t>L</a:t>
            </a:r>
            <a:r>
              <a:rPr lang="en-US" dirty="0" smtClean="0"/>
              <a:t>}</a:t>
            </a:r>
            <a:endParaRPr lang="ru-RU" dirty="0"/>
          </a:p>
          <a:p>
            <a:r>
              <a:rPr lang="en-US" dirty="0"/>
              <a:t>		A</a:t>
            </a:r>
            <a:r>
              <a:rPr lang="en-US" baseline="30000" dirty="0"/>
              <a:t>1</a:t>
            </a:r>
            <a:r>
              <a:rPr lang="en-US" dirty="0"/>
              <a:t> = A</a:t>
            </a:r>
            <a:endParaRPr lang="ru-RU" dirty="0"/>
          </a:p>
          <a:p>
            <a:r>
              <a:rPr lang="en-US" dirty="0"/>
              <a:t>		A</a:t>
            </a:r>
            <a:r>
              <a:rPr lang="ru-RU" baseline="30000" dirty="0"/>
              <a:t>2</a:t>
            </a:r>
            <a:r>
              <a:rPr lang="ru-RU" dirty="0"/>
              <a:t> = </a:t>
            </a:r>
            <a:r>
              <a:rPr lang="en-US" dirty="0"/>
              <a:t>A*A</a:t>
            </a:r>
            <a:r>
              <a:rPr lang="ru-RU" dirty="0"/>
              <a:t>     (Декартово произведение)</a:t>
            </a:r>
          </a:p>
          <a:p>
            <a:r>
              <a:rPr lang="en-US" dirty="0"/>
              <a:t>		. . .</a:t>
            </a:r>
            <a:endParaRPr lang="ru-RU" dirty="0"/>
          </a:p>
          <a:p>
            <a:r>
              <a:rPr lang="en-US" dirty="0"/>
              <a:t>		A</a:t>
            </a:r>
            <a:r>
              <a:rPr lang="en-US" baseline="30000" dirty="0"/>
              <a:t>n</a:t>
            </a:r>
            <a:r>
              <a:rPr lang="en-US" dirty="0"/>
              <a:t> = A*A</a:t>
            </a:r>
            <a:r>
              <a:rPr lang="en-US" baseline="30000" dirty="0"/>
              <a:t>n-1</a:t>
            </a:r>
            <a:r>
              <a:rPr lang="en-US" dirty="0"/>
              <a:t>  </a:t>
            </a:r>
            <a:r>
              <a:rPr lang="ru-RU" dirty="0"/>
              <a:t>, при </a:t>
            </a:r>
            <a:r>
              <a:rPr lang="en-US" b="1" i="1" dirty="0"/>
              <a:t>n&gt;0.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331236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	</a:t>
            </a:r>
            <a:r>
              <a:rPr lang="ru-RU" sz="3000" dirty="0"/>
              <a:t>Пример 2.</a:t>
            </a:r>
          </a:p>
          <a:p>
            <a:r>
              <a:rPr lang="ru-RU" sz="3000" dirty="0"/>
              <a:t>	Пусть  </a:t>
            </a:r>
            <a:r>
              <a:rPr lang="en-US" sz="3000" b="1" i="1" dirty="0"/>
              <a:t>A={</a:t>
            </a:r>
            <a:r>
              <a:rPr lang="en-US" sz="3000" b="1" i="1" dirty="0" err="1"/>
              <a:t>a,b</a:t>
            </a:r>
            <a:r>
              <a:rPr lang="en-US" sz="3000" b="1" i="1" dirty="0"/>
              <a:t>}</a:t>
            </a:r>
            <a:r>
              <a:rPr lang="ru-RU" sz="3000" b="1" i="1" dirty="0"/>
              <a:t>, </a:t>
            </a:r>
            <a:r>
              <a:rPr lang="ru-RU" sz="3000" dirty="0"/>
              <a:t> тогда</a:t>
            </a:r>
          </a:p>
          <a:p>
            <a:r>
              <a:rPr lang="ru-RU" sz="3000" dirty="0"/>
              <a:t> </a:t>
            </a:r>
          </a:p>
          <a:p>
            <a:r>
              <a:rPr lang="ru-RU" sz="3000" dirty="0"/>
              <a:t>		</a:t>
            </a:r>
            <a:r>
              <a:rPr lang="en-US" sz="3000" dirty="0"/>
              <a:t>A</a:t>
            </a:r>
            <a:r>
              <a:rPr lang="en-US" sz="3000" baseline="30000" dirty="0"/>
              <a:t>0</a:t>
            </a:r>
            <a:r>
              <a:rPr lang="en-US" sz="3000" dirty="0"/>
              <a:t> = </a:t>
            </a:r>
            <a:r>
              <a:rPr lang="en-US" sz="3000" dirty="0" smtClean="0"/>
              <a:t>{</a:t>
            </a:r>
            <a:r>
              <a:rPr lang="en-US" sz="2400" dirty="0" smtClean="0">
                <a:latin typeface="Symbol" pitchFamily="18" charset="2"/>
              </a:rPr>
              <a:t>L</a:t>
            </a:r>
            <a:r>
              <a:rPr lang="en-US" sz="3000" dirty="0" smtClean="0"/>
              <a:t>}</a:t>
            </a:r>
            <a:endParaRPr lang="ru-RU" sz="3000" dirty="0"/>
          </a:p>
          <a:p>
            <a:r>
              <a:rPr lang="ru-RU" sz="3000" dirty="0"/>
              <a:t>		</a:t>
            </a:r>
            <a:r>
              <a:rPr lang="en-US" sz="3000" dirty="0"/>
              <a:t>A</a:t>
            </a:r>
            <a:r>
              <a:rPr lang="en-US" sz="3000" baseline="30000" dirty="0"/>
              <a:t>1</a:t>
            </a:r>
            <a:r>
              <a:rPr lang="en-US" sz="3000" dirty="0"/>
              <a:t> = {</a:t>
            </a:r>
            <a:r>
              <a:rPr lang="en-US" sz="3000" dirty="0" err="1"/>
              <a:t>a,b</a:t>
            </a:r>
            <a:r>
              <a:rPr lang="en-US" sz="3000" dirty="0"/>
              <a:t>}</a:t>
            </a:r>
            <a:endParaRPr lang="ru-RU" sz="3000" dirty="0"/>
          </a:p>
          <a:p>
            <a:r>
              <a:rPr lang="en-US" sz="3000" dirty="0"/>
              <a:t>		A</a:t>
            </a:r>
            <a:r>
              <a:rPr lang="en-US" sz="3000" baseline="30000" dirty="0"/>
              <a:t>2</a:t>
            </a:r>
            <a:r>
              <a:rPr lang="en-US" sz="3000" dirty="0"/>
              <a:t> = {</a:t>
            </a:r>
            <a:r>
              <a:rPr lang="en-US" sz="3000" dirty="0" err="1"/>
              <a:t>aa,ab,ba,bb</a:t>
            </a:r>
            <a:r>
              <a:rPr lang="en-US" sz="3000" dirty="0"/>
              <a:t>}</a:t>
            </a:r>
            <a:endParaRPr lang="ru-RU" sz="3000" dirty="0"/>
          </a:p>
          <a:p>
            <a:r>
              <a:rPr lang="en-US" sz="3000" dirty="0"/>
              <a:t>		A</a:t>
            </a:r>
            <a:r>
              <a:rPr lang="en-US" sz="3000" baseline="30000" dirty="0"/>
              <a:t>3</a:t>
            </a:r>
            <a:r>
              <a:rPr lang="en-US" sz="3000" dirty="0"/>
              <a:t> = {</a:t>
            </a:r>
            <a:r>
              <a:rPr lang="en-US" sz="3000" dirty="0" err="1"/>
              <a:t>aaa,aab,aba,abb,baa,bab,bba,bbb</a:t>
            </a:r>
            <a:r>
              <a:rPr lang="en-US" sz="3000" dirty="0"/>
              <a:t>}</a:t>
            </a:r>
            <a:endParaRPr lang="ru-RU" sz="3000" dirty="0"/>
          </a:p>
          <a:p>
            <a:r>
              <a:rPr lang="en-US" sz="3000" dirty="0"/>
              <a:t>		. . .</a:t>
            </a:r>
            <a:endParaRPr lang="ru-RU" sz="3000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Итерация множества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	Определим </a:t>
            </a:r>
            <a:r>
              <a:rPr lang="ru-RU" i="1" dirty="0"/>
              <a:t>итерацию </a:t>
            </a:r>
            <a:r>
              <a:rPr lang="en-US" b="1" i="1" dirty="0"/>
              <a:t>A</a:t>
            </a:r>
            <a:r>
              <a:rPr lang="ru-RU" b="1" i="1" baseline="30000" dirty="0"/>
              <a:t>*</a:t>
            </a:r>
            <a:r>
              <a:rPr lang="ru-RU" dirty="0"/>
              <a:t> множества </a:t>
            </a:r>
            <a:r>
              <a:rPr lang="en-US" b="1" i="1" dirty="0"/>
              <a:t>A</a:t>
            </a:r>
            <a:r>
              <a:rPr lang="ru-RU" dirty="0"/>
              <a:t> и </a:t>
            </a:r>
            <a:r>
              <a:rPr lang="ru-RU" i="1" dirty="0"/>
              <a:t>усечённую итерацию </a:t>
            </a:r>
            <a:r>
              <a:rPr lang="en-US" b="1" i="1" dirty="0"/>
              <a:t>A</a:t>
            </a:r>
            <a:r>
              <a:rPr lang="en-US" b="1" i="1" baseline="30000" dirty="0"/>
              <a:t>+</a:t>
            </a:r>
            <a:r>
              <a:rPr lang="en-US" dirty="0"/>
              <a:t> </a:t>
            </a:r>
            <a:r>
              <a:rPr lang="ru-RU" dirty="0"/>
              <a:t>множества </a:t>
            </a:r>
            <a:r>
              <a:rPr lang="en-US" b="1" i="1" dirty="0"/>
              <a:t>A</a:t>
            </a:r>
            <a:r>
              <a:rPr lang="ru-RU" dirty="0"/>
              <a:t> как: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A</a:t>
            </a:r>
            <a:r>
              <a:rPr lang="en-US" baseline="30000" dirty="0"/>
              <a:t>+</a:t>
            </a:r>
            <a:r>
              <a:rPr lang="en-US" dirty="0"/>
              <a:t> = A</a:t>
            </a:r>
            <a:r>
              <a:rPr lang="en-US" baseline="30000" dirty="0"/>
              <a:t>1 </a:t>
            </a:r>
            <a:r>
              <a:rPr lang="en-US" dirty="0" smtClean="0"/>
              <a:t> </a:t>
            </a:r>
            <a:r>
              <a:rPr lang="ru-RU" dirty="0" smtClean="0"/>
              <a:t>+ </a:t>
            </a:r>
            <a:r>
              <a:rPr lang="en-US" dirty="0" smtClean="0"/>
              <a:t>A</a:t>
            </a:r>
            <a:r>
              <a:rPr lang="en-US" baseline="30000" dirty="0" smtClean="0"/>
              <a:t>2 </a:t>
            </a:r>
            <a:r>
              <a:rPr lang="en-US" dirty="0" smtClean="0"/>
              <a:t> </a:t>
            </a:r>
            <a:r>
              <a:rPr lang="ru-RU" dirty="0" smtClean="0"/>
              <a:t> +</a:t>
            </a:r>
            <a:r>
              <a:rPr lang="en-US" dirty="0" smtClean="0"/>
              <a:t>... </a:t>
            </a:r>
            <a:r>
              <a:rPr lang="ru-RU" dirty="0" smtClean="0"/>
              <a:t>+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baseline="30000" dirty="0"/>
              <a:t>n </a:t>
            </a:r>
            <a:r>
              <a:rPr lang="ru-RU" dirty="0" smtClean="0"/>
              <a:t> +</a:t>
            </a:r>
            <a:r>
              <a:rPr lang="en-US" dirty="0" smtClean="0"/>
              <a:t> …</a:t>
            </a:r>
            <a:r>
              <a:rPr lang="ru-RU" dirty="0" smtClean="0"/>
              <a:t>  (Здесь  +  знак объединения)</a:t>
            </a:r>
            <a:endParaRPr lang="ru-RU" dirty="0"/>
          </a:p>
          <a:p>
            <a:r>
              <a:rPr lang="en-US" dirty="0"/>
              <a:t>		A</a:t>
            </a:r>
            <a:r>
              <a:rPr lang="en-US" baseline="30000" dirty="0"/>
              <a:t>*</a:t>
            </a:r>
            <a:r>
              <a:rPr lang="en-US" dirty="0"/>
              <a:t> = A</a:t>
            </a:r>
            <a:r>
              <a:rPr lang="en-US" baseline="30000" dirty="0"/>
              <a:t>0 </a:t>
            </a:r>
            <a:r>
              <a:rPr lang="ru-RU" dirty="0" smtClean="0"/>
              <a:t> +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baseline="30000" dirty="0"/>
              <a:t>+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ru-RU" dirty="0" smtClean="0"/>
              <a:t> 	Таким </a:t>
            </a:r>
            <a:r>
              <a:rPr lang="ru-RU" dirty="0"/>
              <a:t>образом, усечённая итерация алфавита – это множество всех цепочек, составленных из символов алфавита; итерация – это множество всех цепочек, включая пустую цепочку. 	</a:t>
            </a:r>
          </a:p>
          <a:p>
            <a:r>
              <a:rPr lang="ru-RU" dirty="0" smtClean="0"/>
              <a:t>Часто </a:t>
            </a:r>
            <a:r>
              <a:rPr lang="ru-RU" dirty="0"/>
              <a:t>для обозначения произвольной цепочки используется многоточие … . Таким образом:</a:t>
            </a:r>
          </a:p>
          <a:p>
            <a:r>
              <a:rPr lang="ru-RU" dirty="0"/>
              <a:t> </a:t>
            </a:r>
          </a:p>
          <a:p>
            <a:r>
              <a:rPr lang="en-US" dirty="0"/>
              <a:t>z</a:t>
            </a:r>
            <a:r>
              <a:rPr lang="ru-RU" dirty="0"/>
              <a:t> = </a:t>
            </a:r>
            <a:r>
              <a:rPr lang="en-US" dirty="0"/>
              <a:t>x</a:t>
            </a:r>
            <a:r>
              <a:rPr lang="ru-RU" dirty="0"/>
              <a:t>… 		означает, что	</a:t>
            </a:r>
            <a:r>
              <a:rPr lang="en-US" b="1" i="1" dirty="0"/>
              <a:t>x</a:t>
            </a:r>
            <a:r>
              <a:rPr lang="en-US" dirty="0"/>
              <a:t> </a:t>
            </a:r>
            <a:r>
              <a:rPr lang="ru-RU" dirty="0"/>
              <a:t>– голова цепочки </a:t>
            </a:r>
            <a:r>
              <a:rPr lang="en-US" b="1" i="1" dirty="0"/>
              <a:t>z</a:t>
            </a:r>
            <a:endParaRPr lang="ru-RU" dirty="0"/>
          </a:p>
          <a:p>
            <a:r>
              <a:rPr lang="en-US" dirty="0"/>
              <a:t>z</a:t>
            </a:r>
            <a:r>
              <a:rPr lang="ru-RU" dirty="0"/>
              <a:t> = …</a:t>
            </a:r>
            <a:r>
              <a:rPr lang="en-US" dirty="0"/>
              <a:t>x</a:t>
            </a:r>
            <a:r>
              <a:rPr lang="ru-RU" dirty="0"/>
              <a:t>		</a:t>
            </a:r>
            <a:r>
              <a:rPr lang="ru-RU" dirty="0" smtClean="0"/>
              <a:t>	означает</a:t>
            </a:r>
            <a:r>
              <a:rPr lang="ru-RU" dirty="0"/>
              <a:t>, что	</a:t>
            </a:r>
            <a:r>
              <a:rPr lang="en-US" b="1" i="1" dirty="0"/>
              <a:t>x</a:t>
            </a:r>
            <a:r>
              <a:rPr lang="ru-RU" dirty="0"/>
              <a:t> – хвост цепочки </a:t>
            </a:r>
            <a:r>
              <a:rPr lang="en-US" b="1" i="1" dirty="0"/>
              <a:t>z</a:t>
            </a:r>
            <a:endParaRPr lang="ru-RU" dirty="0"/>
          </a:p>
          <a:p>
            <a:r>
              <a:rPr lang="en-US" dirty="0"/>
              <a:t>z</a:t>
            </a:r>
            <a:r>
              <a:rPr lang="ru-RU" dirty="0"/>
              <a:t> = …</a:t>
            </a:r>
            <a:r>
              <a:rPr lang="en-US" dirty="0"/>
              <a:t>x</a:t>
            </a:r>
            <a:r>
              <a:rPr lang="ru-RU" dirty="0"/>
              <a:t>…		означает, что 	</a:t>
            </a:r>
            <a:r>
              <a:rPr lang="en-US" b="1" i="1" dirty="0"/>
              <a:t>x</a:t>
            </a:r>
            <a:r>
              <a:rPr lang="ru-RU" dirty="0"/>
              <a:t> – встречается где-то в цепочке </a:t>
            </a:r>
            <a:r>
              <a:rPr lang="en-US" b="1" i="1" dirty="0"/>
              <a:t>z</a:t>
            </a:r>
            <a:endParaRPr lang="ru-RU" dirty="0"/>
          </a:p>
          <a:p>
            <a:r>
              <a:rPr lang="en-US" dirty="0"/>
              <a:t>z = a…		</a:t>
            </a:r>
            <a:r>
              <a:rPr lang="ru-RU" dirty="0"/>
              <a:t>означает, что	</a:t>
            </a:r>
            <a:r>
              <a:rPr lang="en-US" b="1" i="1" dirty="0"/>
              <a:t>a</a:t>
            </a:r>
            <a:r>
              <a:rPr lang="ru-RU" dirty="0"/>
              <a:t> – первый символ в цепочке </a:t>
            </a:r>
            <a:r>
              <a:rPr lang="en-US" b="1" i="1" dirty="0"/>
              <a:t>z</a:t>
            </a:r>
            <a:endParaRPr lang="ru-RU" dirty="0"/>
          </a:p>
          <a:p>
            <a:r>
              <a:rPr lang="en-US" dirty="0"/>
              <a:t>z</a:t>
            </a:r>
            <a:r>
              <a:rPr lang="ru-RU" dirty="0"/>
              <a:t> = …</a:t>
            </a:r>
            <a:r>
              <a:rPr lang="en-US" dirty="0"/>
              <a:t>a</a:t>
            </a:r>
            <a:r>
              <a:rPr lang="ru-RU" dirty="0"/>
              <a:t>		означает, что	</a:t>
            </a:r>
            <a:r>
              <a:rPr lang="en-US" b="1" i="1" dirty="0"/>
              <a:t>a</a:t>
            </a:r>
            <a:r>
              <a:rPr lang="ru-RU" dirty="0"/>
              <a:t> – последний символ в цепочке </a:t>
            </a:r>
            <a:r>
              <a:rPr lang="en-US" b="1" i="1" dirty="0"/>
              <a:t>z</a:t>
            </a:r>
            <a:endParaRPr lang="ru-RU" dirty="0"/>
          </a:p>
          <a:p>
            <a:r>
              <a:rPr lang="en-US" dirty="0"/>
              <a:t>z</a:t>
            </a:r>
            <a:r>
              <a:rPr lang="ru-RU" dirty="0"/>
              <a:t> = …</a:t>
            </a:r>
            <a:r>
              <a:rPr lang="en-US" dirty="0"/>
              <a:t>a</a:t>
            </a:r>
            <a:r>
              <a:rPr lang="ru-RU" dirty="0"/>
              <a:t>…		означает, что	</a:t>
            </a:r>
            <a:r>
              <a:rPr lang="en-US" b="1" i="1" dirty="0"/>
              <a:t>a</a:t>
            </a:r>
            <a:r>
              <a:rPr lang="ru-RU" dirty="0"/>
              <a:t> – встречается где-то в цепочке </a:t>
            </a:r>
            <a:r>
              <a:rPr lang="en-US" b="1" i="1" dirty="0"/>
              <a:t>z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2.2. Формальные грамматики и языки</a:t>
            </a:r>
            <a:br>
              <a:rPr lang="ru-RU" sz="2800" b="1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	</a:t>
            </a:r>
            <a:r>
              <a:rPr lang="ru-RU" i="1" dirty="0"/>
              <a:t>Грамматика  </a:t>
            </a:r>
            <a:r>
              <a:rPr lang="en-US" b="1" i="1" dirty="0"/>
              <a:t>G</a:t>
            </a:r>
            <a:r>
              <a:rPr lang="ru-RU" dirty="0"/>
              <a:t> – это упорядоченная четвёрка </a:t>
            </a:r>
            <a:r>
              <a:rPr lang="ru-RU" b="1" i="1" dirty="0"/>
              <a:t>&lt;</a:t>
            </a:r>
            <a:r>
              <a:rPr lang="en-US" b="1" i="1" dirty="0"/>
              <a:t>V</a:t>
            </a:r>
            <a:r>
              <a:rPr lang="ru-RU" b="1" i="1" dirty="0"/>
              <a:t>,</a:t>
            </a:r>
            <a:r>
              <a:rPr lang="en-US" b="1" i="1" dirty="0"/>
              <a:t>T</a:t>
            </a:r>
            <a:r>
              <a:rPr lang="ru-RU" b="1" i="1" dirty="0"/>
              <a:t>,</a:t>
            </a:r>
            <a:r>
              <a:rPr lang="en-US" b="1" i="1" dirty="0"/>
              <a:t>P</a:t>
            </a:r>
            <a:r>
              <a:rPr lang="ru-RU" b="1" i="1" dirty="0"/>
              <a:t>,</a:t>
            </a:r>
            <a:r>
              <a:rPr lang="en-US" b="1" i="1" dirty="0"/>
              <a:t>S</a:t>
            </a:r>
            <a:r>
              <a:rPr lang="ru-RU" b="1" i="1" dirty="0"/>
              <a:t>&gt;</a:t>
            </a:r>
            <a:r>
              <a:rPr lang="ru-RU" dirty="0"/>
              <a:t>, где</a:t>
            </a:r>
          </a:p>
          <a:p>
            <a:r>
              <a:rPr lang="en-US" b="1" i="1" dirty="0"/>
              <a:t>V</a:t>
            </a:r>
            <a:r>
              <a:rPr lang="ru-RU" dirty="0"/>
              <a:t> – это алфавит грамматики,</a:t>
            </a:r>
          </a:p>
          <a:p>
            <a:r>
              <a:rPr lang="en-US" b="1" i="1" dirty="0"/>
              <a:t>T </a:t>
            </a:r>
            <a:r>
              <a:rPr lang="ru-RU" dirty="0" smtClean="0"/>
              <a:t>– </a:t>
            </a:r>
            <a:r>
              <a:rPr lang="ru-RU" dirty="0"/>
              <a:t>алфавит терминальных символов</a:t>
            </a:r>
            <a:r>
              <a:rPr lang="ru-RU" dirty="0" smtClean="0"/>
              <a:t>, является подмножеством </a:t>
            </a:r>
            <a:r>
              <a:rPr lang="en-US" b="1" i="1" dirty="0" smtClean="0"/>
              <a:t>V</a:t>
            </a:r>
            <a:r>
              <a:rPr lang="ru-RU" b="1" i="1" dirty="0" smtClean="0"/>
              <a:t>,</a:t>
            </a:r>
            <a:endParaRPr lang="ru-RU" dirty="0"/>
          </a:p>
          <a:p>
            <a:r>
              <a:rPr lang="en-US" b="1" i="1" dirty="0"/>
              <a:t>P</a:t>
            </a:r>
            <a:r>
              <a:rPr lang="ru-RU" dirty="0"/>
              <a:t> – конечный набор правил подстановки,</a:t>
            </a:r>
          </a:p>
          <a:p>
            <a:r>
              <a:rPr lang="en-US" b="1" i="1" dirty="0"/>
              <a:t>S</a:t>
            </a:r>
            <a:r>
              <a:rPr lang="ru-RU" dirty="0"/>
              <a:t> – начальный символ, принадлежащий множеству </a:t>
            </a:r>
            <a:r>
              <a:rPr lang="en-US" b="1" i="1" dirty="0"/>
              <a:t>V</a:t>
            </a:r>
            <a:r>
              <a:rPr lang="ru-RU" b="1" i="1" dirty="0"/>
              <a:t> \ </a:t>
            </a:r>
            <a:r>
              <a:rPr lang="en-US" b="1" i="1" dirty="0"/>
              <a:t>T</a:t>
            </a:r>
            <a:r>
              <a:rPr lang="ru-RU" dirty="0"/>
              <a:t>.</a:t>
            </a:r>
          </a:p>
          <a:p>
            <a:r>
              <a:rPr lang="ru-RU" dirty="0"/>
              <a:t>	В ряде случаев для обозначения начального символа грамматики используется </a:t>
            </a:r>
            <a:r>
              <a:rPr lang="en-US" b="1" i="1" dirty="0"/>
              <a:t>Z</a:t>
            </a:r>
            <a:r>
              <a:rPr lang="ru-RU" dirty="0"/>
              <a:t>, а не</a:t>
            </a:r>
            <a:r>
              <a:rPr lang="ru-RU" b="1" i="1" dirty="0"/>
              <a:t> </a:t>
            </a:r>
            <a:r>
              <a:rPr lang="en-US" b="1" i="1" dirty="0"/>
              <a:t>S</a:t>
            </a:r>
            <a:r>
              <a:rPr lang="ru-RU" dirty="0"/>
              <a:t>.</a:t>
            </a:r>
          </a:p>
          <a:p>
            <a:r>
              <a:rPr lang="ru-RU" dirty="0"/>
              <a:t>	Кроме того, в ряде случаев грамматика определяется как четвёрка </a:t>
            </a:r>
            <a:r>
              <a:rPr lang="ru-RU" b="1" i="1" dirty="0"/>
              <a:t>&lt;</a:t>
            </a:r>
            <a:r>
              <a:rPr lang="en-US" b="1" i="1" dirty="0"/>
              <a:t>N</a:t>
            </a:r>
            <a:r>
              <a:rPr lang="ru-RU" b="1" i="1" dirty="0"/>
              <a:t>,</a:t>
            </a:r>
            <a:r>
              <a:rPr lang="en-US" b="1" i="1" dirty="0"/>
              <a:t>T</a:t>
            </a:r>
            <a:r>
              <a:rPr lang="ru-RU" b="1" i="1" dirty="0"/>
              <a:t>,</a:t>
            </a:r>
            <a:r>
              <a:rPr lang="en-US" b="1" i="1" dirty="0"/>
              <a:t>P</a:t>
            </a:r>
            <a:r>
              <a:rPr lang="ru-RU" b="1" i="1" dirty="0"/>
              <a:t>,</a:t>
            </a:r>
            <a:r>
              <a:rPr lang="en-US" b="1" i="1" dirty="0"/>
              <a:t>S</a:t>
            </a:r>
            <a:r>
              <a:rPr lang="ru-RU" b="1" i="1" dirty="0"/>
              <a:t>&gt;</a:t>
            </a:r>
            <a:r>
              <a:rPr lang="ru-RU" dirty="0"/>
              <a:t>, где </a:t>
            </a:r>
            <a:r>
              <a:rPr lang="en-US" b="1" i="1" dirty="0"/>
              <a:t>N</a:t>
            </a:r>
            <a:r>
              <a:rPr lang="ru-RU" dirty="0"/>
              <a:t> – множество нетерминальных символов и </a:t>
            </a:r>
            <a:r>
              <a:rPr lang="en-US" b="1" i="1" dirty="0" smtClean="0"/>
              <a:t>S</a:t>
            </a:r>
            <a:r>
              <a:rPr lang="ru-RU" b="1" i="1" dirty="0"/>
              <a:t>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 smtClean="0"/>
              <a:t>N</a:t>
            </a:r>
            <a:r>
              <a:rPr lang="ru-RU" dirty="0"/>
              <a:t>. Мы имеем </a:t>
            </a:r>
            <a:r>
              <a:rPr lang="ru-RU" dirty="0" smtClean="0"/>
              <a:t>здесь, что  </a:t>
            </a:r>
            <a:r>
              <a:rPr lang="en-US" b="1" i="1" dirty="0" smtClean="0"/>
              <a:t>V</a:t>
            </a:r>
            <a:r>
              <a:rPr lang="ru-RU" b="1" i="1" dirty="0" smtClean="0"/>
              <a:t>  </a:t>
            </a:r>
            <a:r>
              <a:rPr lang="ru-RU" dirty="0" smtClean="0"/>
              <a:t>– </a:t>
            </a:r>
            <a:r>
              <a:rPr lang="ru-RU" b="1" i="1" dirty="0" smtClean="0"/>
              <a:t> </a:t>
            </a:r>
            <a:r>
              <a:rPr lang="ru-RU" dirty="0" smtClean="0"/>
              <a:t>это  объединение </a:t>
            </a:r>
            <a:r>
              <a:rPr lang="ru-RU" b="1" i="1" dirty="0" smtClean="0"/>
              <a:t> </a:t>
            </a:r>
            <a:r>
              <a:rPr lang="en-US" b="1" i="1" dirty="0"/>
              <a:t>N </a:t>
            </a:r>
            <a:r>
              <a:rPr lang="ru-RU" b="1" i="1" dirty="0" smtClean="0"/>
              <a:t> </a:t>
            </a:r>
            <a:r>
              <a:rPr lang="ru-RU" dirty="0" smtClean="0"/>
              <a:t>и</a:t>
            </a:r>
            <a:r>
              <a:rPr lang="ru-RU" b="1" i="1" dirty="0" smtClean="0"/>
              <a:t>  </a:t>
            </a:r>
            <a:r>
              <a:rPr lang="en-US" b="1" i="1" dirty="0"/>
              <a:t>T</a:t>
            </a:r>
            <a:r>
              <a:rPr lang="ru-RU" dirty="0"/>
              <a:t>.  Нетерминальные символы часто для краткости называют </a:t>
            </a:r>
            <a:r>
              <a:rPr lang="ru-RU" dirty="0" err="1"/>
              <a:t>нетерминалами</a:t>
            </a:r>
            <a:r>
              <a:rPr lang="ru-RU" dirty="0"/>
              <a:t>.</a:t>
            </a:r>
          </a:p>
          <a:p>
            <a:r>
              <a:rPr lang="ru-RU" dirty="0"/>
              <a:t>	Правила подстановки из </a:t>
            </a:r>
            <a:r>
              <a:rPr lang="en-US" b="1" i="1" dirty="0"/>
              <a:t>P</a:t>
            </a:r>
            <a:r>
              <a:rPr lang="ru-RU" dirty="0"/>
              <a:t> имеют следующий вид: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i="1" dirty="0"/>
              <a:t>&lt;</a:t>
            </a:r>
            <a:r>
              <a:rPr lang="ru-RU" i="1" dirty="0"/>
              <a:t>цепочка 1</a:t>
            </a:r>
            <a:r>
              <a:rPr lang="en-US" i="1" dirty="0"/>
              <a:t>&gt; </a:t>
            </a:r>
            <a:r>
              <a:rPr lang="en-US" b="1" dirty="0"/>
              <a:t>::=</a:t>
            </a:r>
            <a:r>
              <a:rPr lang="en-US" dirty="0"/>
              <a:t> </a:t>
            </a:r>
            <a:r>
              <a:rPr lang="en-US" i="1" dirty="0"/>
              <a:t>&lt;</a:t>
            </a:r>
            <a:r>
              <a:rPr lang="ru-RU" i="1" dirty="0"/>
              <a:t>цепочка 2</a:t>
            </a:r>
            <a:r>
              <a:rPr lang="en-US" i="1" dirty="0"/>
              <a:t>&gt;</a:t>
            </a:r>
            <a:endParaRPr lang="ru-RU" dirty="0"/>
          </a:p>
          <a:p>
            <a:r>
              <a:rPr lang="ru-RU" dirty="0"/>
              <a:t>или</a:t>
            </a:r>
          </a:p>
          <a:p>
            <a:r>
              <a:rPr lang="ru-RU" dirty="0"/>
              <a:t>		</a:t>
            </a:r>
            <a:r>
              <a:rPr lang="ru-RU" i="1" dirty="0"/>
              <a:t>&lt;цепочка 1&gt;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</a:t>
            </a:r>
            <a:r>
              <a:rPr lang="ru-RU" i="1" dirty="0"/>
              <a:t>&lt;цепочка 2</a:t>
            </a:r>
            <a:r>
              <a:rPr lang="ru-RU" i="1" dirty="0" smtClean="0"/>
              <a:t>&gt;</a:t>
            </a:r>
            <a:r>
              <a:rPr lang="ru-RU" dirty="0" smtClean="0"/>
              <a:t>,</a:t>
            </a:r>
          </a:p>
          <a:p>
            <a:endParaRPr lang="ru-RU" dirty="0"/>
          </a:p>
          <a:p>
            <a:r>
              <a:rPr lang="ru-RU" dirty="0"/>
              <a:t>т.е. </a:t>
            </a:r>
            <a:r>
              <a:rPr lang="ru-RU" i="1" dirty="0"/>
              <a:t>цепочка 1</a:t>
            </a:r>
            <a:r>
              <a:rPr lang="ru-RU" dirty="0"/>
              <a:t> заменяется на </a:t>
            </a:r>
            <a:r>
              <a:rPr lang="ru-RU" i="1" dirty="0"/>
              <a:t>цепочку 2</a:t>
            </a:r>
            <a:r>
              <a:rPr lang="ru-RU" dirty="0"/>
              <a:t> или </a:t>
            </a:r>
            <a:r>
              <a:rPr lang="ru-RU" i="1" dirty="0"/>
              <a:t>цепочка 2</a:t>
            </a:r>
            <a:r>
              <a:rPr lang="ru-RU" dirty="0"/>
              <a:t> выводится из </a:t>
            </a:r>
            <a:r>
              <a:rPr lang="ru-RU" i="1" dirty="0"/>
              <a:t>цепочки 1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Правила замены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	Правила подстановки называются также правилами замены, правилами вывода или продукциями.</a:t>
            </a:r>
          </a:p>
          <a:p>
            <a:r>
              <a:rPr lang="ru-RU" dirty="0"/>
              <a:t>	Если имеется несколько правил с одинаковыми левыми частями, то они могут быть объединены, например: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z ::= x</a:t>
            </a:r>
            <a:endParaRPr lang="ru-RU" dirty="0"/>
          </a:p>
          <a:p>
            <a:r>
              <a:rPr lang="en-US" dirty="0"/>
              <a:t>		z ::= y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ru-RU" dirty="0"/>
              <a:t>Это можно записать как одно правило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z ::= </a:t>
            </a:r>
            <a:r>
              <a:rPr lang="en-US" dirty="0" err="1"/>
              <a:t>x|y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54461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	</a:t>
            </a:r>
            <a:r>
              <a:rPr lang="ru-RU" dirty="0"/>
              <a:t>Рассмотрим следующий пример.</a:t>
            </a:r>
          </a:p>
          <a:p>
            <a:r>
              <a:rPr lang="ru-RU" dirty="0"/>
              <a:t>	Пример 1.</a:t>
            </a:r>
          </a:p>
          <a:p>
            <a:r>
              <a:rPr lang="ru-RU" dirty="0"/>
              <a:t>	Пусть дана следующая грамматика:</a:t>
            </a:r>
          </a:p>
          <a:p>
            <a:r>
              <a:rPr lang="ru-RU" dirty="0"/>
              <a:t>	</a:t>
            </a:r>
            <a:r>
              <a:rPr lang="en-US" b="1" i="1" dirty="0"/>
              <a:t>G=&lt; { </a:t>
            </a:r>
            <a:r>
              <a:rPr lang="en-US" b="1" i="1" dirty="0" err="1"/>
              <a:t>a,b,A,B,S</a:t>
            </a:r>
            <a:r>
              <a:rPr lang="en-US" b="1" i="1" dirty="0"/>
              <a:t>}, {</a:t>
            </a:r>
            <a:r>
              <a:rPr lang="en-US" b="1" i="1" dirty="0" err="1"/>
              <a:t>a,b</a:t>
            </a:r>
            <a:r>
              <a:rPr lang="en-US" b="1" i="1" dirty="0"/>
              <a:t>}, P, S &gt;</a:t>
            </a:r>
            <a:r>
              <a:rPr lang="en-US" dirty="0"/>
              <a:t>. </a:t>
            </a:r>
            <a:endParaRPr lang="ru-RU" dirty="0"/>
          </a:p>
          <a:p>
            <a:r>
              <a:rPr lang="ru-RU" dirty="0"/>
              <a:t>Здесь  </a:t>
            </a:r>
            <a:r>
              <a:rPr lang="en-US" b="1" i="1" dirty="0"/>
              <a:t>V</a:t>
            </a:r>
            <a:r>
              <a:rPr lang="ru-RU" b="1" i="1" dirty="0"/>
              <a:t>={ </a:t>
            </a:r>
            <a:r>
              <a:rPr lang="en-US" b="1" i="1" dirty="0"/>
              <a:t>a</a:t>
            </a:r>
            <a:r>
              <a:rPr lang="ru-RU" b="1" i="1" dirty="0"/>
              <a:t>,</a:t>
            </a:r>
            <a:r>
              <a:rPr lang="en-US" b="1" i="1" dirty="0"/>
              <a:t>b</a:t>
            </a:r>
            <a:r>
              <a:rPr lang="ru-RU" b="1" i="1" dirty="0"/>
              <a:t>,</a:t>
            </a:r>
            <a:r>
              <a:rPr lang="en-US" b="1" i="1" dirty="0"/>
              <a:t>A</a:t>
            </a:r>
            <a:r>
              <a:rPr lang="ru-RU" b="1" i="1" dirty="0"/>
              <a:t>,</a:t>
            </a:r>
            <a:r>
              <a:rPr lang="en-US" b="1" i="1" dirty="0"/>
              <a:t>B</a:t>
            </a:r>
            <a:r>
              <a:rPr lang="ru-RU" b="1" i="1" dirty="0"/>
              <a:t>,</a:t>
            </a:r>
            <a:r>
              <a:rPr lang="en-US" b="1" i="1" dirty="0"/>
              <a:t>S</a:t>
            </a:r>
            <a:r>
              <a:rPr lang="ru-RU" b="1" i="1" dirty="0"/>
              <a:t>},  </a:t>
            </a:r>
            <a:r>
              <a:rPr lang="en-US" b="1" i="1" dirty="0"/>
              <a:t>T</a:t>
            </a:r>
            <a:r>
              <a:rPr lang="ru-RU" b="1" i="1" dirty="0"/>
              <a:t>={</a:t>
            </a:r>
            <a:r>
              <a:rPr lang="en-US" b="1" i="1" dirty="0"/>
              <a:t>a</a:t>
            </a:r>
            <a:r>
              <a:rPr lang="ru-RU" b="1" i="1" dirty="0"/>
              <a:t>,</a:t>
            </a:r>
            <a:r>
              <a:rPr lang="en-US" b="1" i="1" dirty="0"/>
              <a:t>b</a:t>
            </a:r>
            <a:r>
              <a:rPr lang="ru-RU" b="1" i="1" dirty="0"/>
              <a:t>},  </a:t>
            </a:r>
            <a:r>
              <a:rPr lang="en-US" b="1" i="1" dirty="0"/>
              <a:t>S </a:t>
            </a:r>
            <a:r>
              <a:rPr lang="ru-RU" dirty="0"/>
              <a:t>– начальный символ грамматики.</a:t>
            </a:r>
          </a:p>
          <a:p>
            <a:r>
              <a:rPr lang="ru-RU" dirty="0"/>
              <a:t>Множество правил замены  </a:t>
            </a:r>
            <a:r>
              <a:rPr lang="en-US" i="1" dirty="0"/>
              <a:t>P</a:t>
            </a:r>
            <a:r>
              <a:rPr lang="ru-RU" dirty="0"/>
              <a:t> имеет вид: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S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A</a:t>
            </a:r>
            <a:endParaRPr lang="ru-RU" dirty="0"/>
          </a:p>
          <a:p>
            <a:r>
              <a:rPr lang="en-US" b="1" i="1" dirty="0"/>
              <a:t>		S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B</a:t>
            </a:r>
            <a:endParaRPr lang="ru-RU" dirty="0"/>
          </a:p>
          <a:p>
            <a:r>
              <a:rPr lang="en-US" b="1" i="1" dirty="0"/>
              <a:t>		A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</a:t>
            </a:r>
            <a:r>
              <a:rPr lang="en-US" b="1" i="1" dirty="0" err="1"/>
              <a:t>Ba</a:t>
            </a:r>
            <a:endParaRPr lang="ru-RU" dirty="0"/>
          </a:p>
          <a:p>
            <a:r>
              <a:rPr lang="en-US" b="1" i="1" dirty="0"/>
              <a:t>		A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a</a:t>
            </a:r>
            <a:endParaRPr lang="ru-RU" dirty="0"/>
          </a:p>
          <a:p>
            <a:r>
              <a:rPr lang="en-US" b="1" i="1" dirty="0"/>
              <a:t>		B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b</a:t>
            </a:r>
            <a:endParaRPr lang="ru-RU" dirty="0"/>
          </a:p>
          <a:p>
            <a:r>
              <a:rPr lang="ru-RU" b="1" i="1" dirty="0"/>
              <a:t> </a:t>
            </a:r>
            <a:endParaRPr lang="ru-RU" dirty="0"/>
          </a:p>
          <a:p>
            <a:r>
              <a:rPr lang="ru-RU" dirty="0"/>
              <a:t>Множество правил замены можно переписать в следующем виде:</a:t>
            </a:r>
          </a:p>
          <a:p>
            <a:r>
              <a:rPr lang="ru-RU" dirty="0"/>
              <a:t> </a:t>
            </a:r>
          </a:p>
          <a:p>
            <a:r>
              <a:rPr lang="en-US" dirty="0"/>
              <a:t>		</a:t>
            </a:r>
            <a:r>
              <a:rPr lang="en-US" b="1" i="1" dirty="0"/>
              <a:t>S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A</a:t>
            </a:r>
            <a:r>
              <a:rPr lang="ru-RU" b="1" i="1" dirty="0"/>
              <a:t> </a:t>
            </a:r>
            <a:r>
              <a:rPr lang="en-US" dirty="0" smtClean="0"/>
              <a:t>|</a:t>
            </a:r>
            <a:r>
              <a:rPr lang="ru-RU" b="1" i="1" dirty="0" smtClean="0"/>
              <a:t> </a:t>
            </a:r>
            <a:r>
              <a:rPr lang="en-US" b="1" i="1" dirty="0"/>
              <a:t>B</a:t>
            </a:r>
            <a:endParaRPr lang="ru-RU" dirty="0"/>
          </a:p>
          <a:p>
            <a:r>
              <a:rPr lang="ru-RU" b="1" i="1" dirty="0"/>
              <a:t>		</a:t>
            </a:r>
            <a:r>
              <a:rPr lang="en-US" b="1" i="1" dirty="0"/>
              <a:t>A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</a:t>
            </a:r>
            <a:r>
              <a:rPr lang="en-US" b="1" i="1" dirty="0" err="1"/>
              <a:t>Ba</a:t>
            </a:r>
            <a:r>
              <a:rPr lang="ru-RU" b="1" i="1" dirty="0"/>
              <a:t> </a:t>
            </a:r>
            <a:r>
              <a:rPr lang="en-US" dirty="0" smtClean="0"/>
              <a:t>|</a:t>
            </a:r>
            <a:r>
              <a:rPr lang="ru-RU" b="1" i="1" dirty="0" smtClean="0"/>
              <a:t> </a:t>
            </a:r>
            <a:r>
              <a:rPr lang="en-US" b="1" i="1" dirty="0"/>
              <a:t>a</a:t>
            </a:r>
            <a:endParaRPr lang="ru-RU" dirty="0"/>
          </a:p>
          <a:p>
            <a:r>
              <a:rPr lang="ru-RU" b="1" i="1" dirty="0"/>
              <a:t>		</a:t>
            </a:r>
            <a:r>
              <a:rPr lang="en-US" b="1" i="1" dirty="0"/>
              <a:t>B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b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Классификация грамматик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Рассмотрим далее классификацию грамматик по Хомскому. Согласно этой классификации различают 4 типа грамматик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pPr lvl="0"/>
            <a:r>
              <a:rPr lang="ru-RU" dirty="0" smtClean="0"/>
              <a:t> 	Грамматикой </a:t>
            </a:r>
            <a:r>
              <a:rPr lang="ru-RU" dirty="0"/>
              <a:t>типа 0 или </a:t>
            </a:r>
            <a:r>
              <a:rPr lang="ru-RU" i="1" dirty="0"/>
              <a:t>грамматикой с фразовой структурой</a:t>
            </a:r>
            <a:r>
              <a:rPr lang="ru-RU" dirty="0"/>
              <a:t> называют грамматику, правила замены которой имеют вид:</a:t>
            </a:r>
          </a:p>
          <a:p>
            <a:r>
              <a:rPr lang="en-US" b="1" i="1" dirty="0"/>
              <a:t>u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v</a:t>
            </a:r>
            <a:r>
              <a:rPr lang="ru-RU" b="1" i="1" dirty="0"/>
              <a:t>   </a:t>
            </a:r>
            <a:r>
              <a:rPr lang="ru-RU" dirty="0"/>
              <a:t>,  </a:t>
            </a:r>
          </a:p>
          <a:p>
            <a:r>
              <a:rPr lang="ru-RU" dirty="0"/>
              <a:t>где</a:t>
            </a:r>
            <a:r>
              <a:rPr lang="ru-RU" b="1" i="1" dirty="0"/>
              <a:t>   </a:t>
            </a:r>
            <a:r>
              <a:rPr lang="en-US" b="1" i="1" dirty="0" smtClean="0"/>
              <a:t>u</a:t>
            </a:r>
            <a:r>
              <a:rPr lang="ru-RU" b="1" i="1" dirty="0" smtClean="0"/>
              <a:t> 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/>
              <a:t>V </a:t>
            </a:r>
            <a:r>
              <a:rPr lang="ru-RU" b="1" i="1" baseline="30000" dirty="0"/>
              <a:t>+</a:t>
            </a:r>
            <a:r>
              <a:rPr lang="ru-RU" b="1" i="1" dirty="0"/>
              <a:t> ,  </a:t>
            </a:r>
            <a:r>
              <a:rPr lang="en-US" b="1" i="1" dirty="0" smtClean="0"/>
              <a:t>v</a:t>
            </a:r>
            <a:r>
              <a:rPr lang="ru-RU" b="1" i="1" dirty="0" smtClean="0"/>
              <a:t> 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/>
              <a:t>V </a:t>
            </a:r>
            <a:r>
              <a:rPr lang="ru-RU" b="1" i="1" baseline="30000" dirty="0"/>
              <a:t>*</a:t>
            </a:r>
            <a:r>
              <a:rPr lang="ru-RU" b="1" i="1" dirty="0"/>
              <a:t>,</a:t>
            </a:r>
            <a:endParaRPr lang="ru-RU" dirty="0"/>
          </a:p>
          <a:p>
            <a:r>
              <a:rPr lang="ru-RU" dirty="0"/>
              <a:t>т.е. левая часть правила может быть произвольной цепочкой символов, а правая часть – произвольной цепочкой, включая пустую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pPr lvl="0"/>
            <a:r>
              <a:rPr lang="ru-RU" dirty="0" smtClean="0"/>
              <a:t> 	Грамматикой </a:t>
            </a:r>
            <a:r>
              <a:rPr lang="ru-RU" dirty="0"/>
              <a:t>типа 1 или </a:t>
            </a:r>
            <a:r>
              <a:rPr lang="ru-RU" i="1" dirty="0"/>
              <a:t>контекстно-зависимой</a:t>
            </a:r>
            <a:r>
              <a:rPr lang="ru-RU" dirty="0"/>
              <a:t> </a:t>
            </a:r>
            <a:r>
              <a:rPr lang="ru-RU" i="1" dirty="0"/>
              <a:t>грамматикой </a:t>
            </a:r>
            <a:r>
              <a:rPr lang="ru-RU" dirty="0"/>
              <a:t>называют грамматику, правила замены которой имеют вид:</a:t>
            </a:r>
          </a:p>
          <a:p>
            <a:r>
              <a:rPr lang="en-US" b="1" i="1" dirty="0" err="1"/>
              <a:t>xUy</a:t>
            </a:r>
            <a:r>
              <a:rPr lang="en-US" b="1" i="1" dirty="0"/>
              <a:t>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</a:t>
            </a:r>
            <a:r>
              <a:rPr lang="en-US" b="1" i="1" dirty="0" err="1"/>
              <a:t>xuy</a:t>
            </a:r>
            <a:r>
              <a:rPr lang="en-US" b="1" i="1" dirty="0"/>
              <a:t> </a:t>
            </a:r>
            <a:r>
              <a:rPr lang="ru-RU" dirty="0"/>
              <a:t> ,   </a:t>
            </a:r>
          </a:p>
          <a:p>
            <a:r>
              <a:rPr lang="ru-RU" dirty="0"/>
              <a:t>где </a:t>
            </a:r>
            <a:r>
              <a:rPr lang="ru-RU" b="1" i="1" dirty="0"/>
              <a:t>  </a:t>
            </a:r>
            <a:r>
              <a:rPr lang="en-US" b="1" i="1" dirty="0" smtClean="0"/>
              <a:t>U</a:t>
            </a:r>
            <a:r>
              <a:rPr lang="ru-RU" b="1" i="1" dirty="0"/>
              <a:t> </a:t>
            </a:r>
            <a:r>
              <a:rPr lang="ru-RU" dirty="0" smtClean="0"/>
              <a:t>принадлежит </a:t>
            </a:r>
            <a:r>
              <a:rPr lang="en-US" b="1" i="1" dirty="0" smtClean="0"/>
              <a:t>V</a:t>
            </a:r>
            <a:r>
              <a:rPr lang="ru-RU" b="1" i="1" dirty="0" smtClean="0"/>
              <a:t> </a:t>
            </a:r>
            <a:r>
              <a:rPr lang="ru-RU" b="1" i="1" dirty="0"/>
              <a:t>\ </a:t>
            </a:r>
            <a:r>
              <a:rPr lang="en-US" b="1" i="1" dirty="0"/>
              <a:t>T</a:t>
            </a:r>
            <a:r>
              <a:rPr lang="ru-RU" b="1" i="1" dirty="0"/>
              <a:t>,   </a:t>
            </a:r>
            <a:r>
              <a:rPr lang="en-US" b="1" i="1" dirty="0" smtClean="0"/>
              <a:t>u</a:t>
            </a:r>
            <a:r>
              <a:rPr lang="ru-RU" b="1" i="1" dirty="0" smtClean="0"/>
              <a:t>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/>
              <a:t>V</a:t>
            </a:r>
            <a:r>
              <a:rPr lang="ru-RU" b="1" i="1" baseline="30000" dirty="0"/>
              <a:t> +</a:t>
            </a:r>
            <a:r>
              <a:rPr lang="ru-RU" b="1" i="1" dirty="0"/>
              <a:t> ,   </a:t>
            </a:r>
            <a:r>
              <a:rPr lang="en-US" b="1" i="1" dirty="0"/>
              <a:t>x</a:t>
            </a:r>
            <a:r>
              <a:rPr lang="ru-RU" b="1" i="1" dirty="0"/>
              <a:t>, </a:t>
            </a:r>
            <a:r>
              <a:rPr lang="en-US" b="1" i="1" dirty="0"/>
              <a:t>y </a:t>
            </a:r>
            <a:r>
              <a:rPr lang="ru-RU" dirty="0" smtClean="0"/>
              <a:t>принадлежат</a:t>
            </a:r>
            <a:r>
              <a:rPr lang="ru-RU" b="1" i="1" dirty="0" smtClean="0"/>
              <a:t> </a:t>
            </a:r>
            <a:r>
              <a:rPr lang="en-US" b="1" i="1" dirty="0"/>
              <a:t>V</a:t>
            </a:r>
            <a:r>
              <a:rPr lang="ru-RU" b="1" i="1" baseline="30000" dirty="0"/>
              <a:t> *</a:t>
            </a:r>
            <a:r>
              <a:rPr lang="ru-RU" b="1" i="1" dirty="0"/>
              <a:t> ,</a:t>
            </a:r>
            <a:endParaRPr lang="ru-RU" dirty="0"/>
          </a:p>
          <a:p>
            <a:r>
              <a:rPr lang="ru-RU" dirty="0"/>
              <a:t>т.е. заменить </a:t>
            </a:r>
            <a:r>
              <a:rPr lang="ru-RU" dirty="0" err="1"/>
              <a:t>нетерминал</a:t>
            </a:r>
            <a:r>
              <a:rPr lang="ru-RU" dirty="0"/>
              <a:t>  </a:t>
            </a:r>
            <a:r>
              <a:rPr lang="en-US" b="1" i="1" dirty="0"/>
              <a:t>U</a:t>
            </a:r>
            <a:r>
              <a:rPr lang="ru-RU" dirty="0"/>
              <a:t>  можно только в контексте цепочек  </a:t>
            </a:r>
            <a:r>
              <a:rPr lang="en-US" b="1" i="1" dirty="0"/>
              <a:t>x</a:t>
            </a:r>
            <a:r>
              <a:rPr lang="ru-RU" b="1" i="1" dirty="0"/>
              <a:t>  </a:t>
            </a:r>
            <a:r>
              <a:rPr lang="ru-RU" dirty="0"/>
              <a:t>и</a:t>
            </a:r>
            <a:r>
              <a:rPr lang="ru-RU" b="1" i="1" dirty="0"/>
              <a:t>  </a:t>
            </a:r>
            <a:r>
              <a:rPr lang="en-US" b="1" i="1" dirty="0"/>
              <a:t>y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Классификация грамматик 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dirty="0" smtClean="0"/>
              <a:t> 	Грамматикой типа 2 или </a:t>
            </a:r>
            <a:r>
              <a:rPr lang="ru-RU" i="1" dirty="0" smtClean="0"/>
              <a:t>контекстно-свободной</a:t>
            </a:r>
            <a:r>
              <a:rPr lang="ru-RU" dirty="0" smtClean="0"/>
              <a:t> </a:t>
            </a:r>
            <a:r>
              <a:rPr lang="ru-RU" i="1" dirty="0" smtClean="0"/>
              <a:t>грамматикой </a:t>
            </a:r>
            <a:r>
              <a:rPr lang="ru-RU" dirty="0" smtClean="0"/>
              <a:t>называют грамматику, правила замены которой имеют вид:</a:t>
            </a:r>
          </a:p>
          <a:p>
            <a:r>
              <a:rPr lang="en-US" b="1" i="1" dirty="0" smtClean="0"/>
              <a:t>U </a:t>
            </a:r>
            <a:r>
              <a:rPr lang="en-US" b="1" i="1" dirty="0" smtClean="0">
                <a:sym typeface="Wingdings"/>
              </a:rPr>
              <a:t></a:t>
            </a:r>
            <a:r>
              <a:rPr lang="ru-RU" b="1" i="1" dirty="0" smtClean="0"/>
              <a:t>  </a:t>
            </a:r>
            <a:r>
              <a:rPr lang="en-US" b="1" i="1" dirty="0" smtClean="0"/>
              <a:t>u</a:t>
            </a:r>
            <a:r>
              <a:rPr lang="ru-RU" b="1" i="1" dirty="0" smtClean="0"/>
              <a:t>  </a:t>
            </a:r>
            <a:r>
              <a:rPr lang="ru-RU" dirty="0" smtClean="0"/>
              <a:t>,</a:t>
            </a:r>
            <a:r>
              <a:rPr lang="ru-RU" b="1" i="1" dirty="0" smtClean="0"/>
              <a:t>      </a:t>
            </a:r>
            <a:endParaRPr lang="ru-RU" dirty="0" smtClean="0"/>
          </a:p>
          <a:p>
            <a:r>
              <a:rPr lang="ru-RU" dirty="0" smtClean="0"/>
              <a:t>где</a:t>
            </a:r>
            <a:r>
              <a:rPr lang="ru-RU" b="1" i="1" dirty="0" smtClean="0"/>
              <a:t>     </a:t>
            </a:r>
            <a:r>
              <a:rPr lang="en-US" b="1" i="1" dirty="0" smtClean="0"/>
              <a:t>U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 smtClean="0"/>
              <a:t>V</a:t>
            </a:r>
            <a:r>
              <a:rPr lang="ru-RU" b="1" i="1" dirty="0" smtClean="0"/>
              <a:t> \ </a:t>
            </a:r>
            <a:r>
              <a:rPr lang="en-US" b="1" i="1" dirty="0" smtClean="0"/>
              <a:t>T </a:t>
            </a:r>
            <a:r>
              <a:rPr lang="ru-RU" dirty="0" smtClean="0"/>
              <a:t>,</a:t>
            </a:r>
            <a:r>
              <a:rPr lang="ru-RU" b="1" i="1" dirty="0" smtClean="0"/>
              <a:t>    </a:t>
            </a:r>
            <a:r>
              <a:rPr lang="en-US" b="1" i="1" dirty="0" smtClean="0"/>
              <a:t>u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 smtClean="0"/>
              <a:t>V </a:t>
            </a:r>
            <a:r>
              <a:rPr lang="ru-RU" b="1" i="1" baseline="30000" dirty="0" smtClean="0"/>
              <a:t>*</a:t>
            </a:r>
            <a:r>
              <a:rPr lang="ru-RU" b="1" i="1" dirty="0" smtClean="0"/>
              <a:t> ,</a:t>
            </a:r>
            <a:endParaRPr lang="ru-RU" dirty="0" smtClean="0"/>
          </a:p>
          <a:p>
            <a:r>
              <a:rPr lang="ru-RU" dirty="0" smtClean="0"/>
              <a:t>т.е. символ  </a:t>
            </a:r>
            <a:r>
              <a:rPr lang="en-US" b="1" i="1" dirty="0" smtClean="0"/>
              <a:t>U</a:t>
            </a:r>
            <a:r>
              <a:rPr lang="ru-RU" dirty="0" smtClean="0"/>
              <a:t>  можно заменить цепочкой  </a:t>
            </a:r>
            <a:r>
              <a:rPr lang="en-US" b="1" i="1" dirty="0" smtClean="0"/>
              <a:t>u</a:t>
            </a:r>
            <a:r>
              <a:rPr lang="ru-RU" dirty="0" smtClean="0"/>
              <a:t> , не обращая внимания на контекст.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 	Грамматикой типа 3 или </a:t>
            </a:r>
            <a:r>
              <a:rPr lang="ru-RU" i="1" dirty="0" smtClean="0"/>
              <a:t>регулярной (автоматной)</a:t>
            </a:r>
            <a:r>
              <a:rPr lang="ru-RU" dirty="0" smtClean="0"/>
              <a:t> </a:t>
            </a:r>
            <a:r>
              <a:rPr lang="ru-RU" i="1" dirty="0" smtClean="0"/>
              <a:t>грамматикой </a:t>
            </a:r>
            <a:r>
              <a:rPr lang="ru-RU" dirty="0" smtClean="0"/>
              <a:t>называют грамматику, правила замены которой имеют вид:</a:t>
            </a:r>
          </a:p>
          <a:p>
            <a:r>
              <a:rPr lang="en-US" b="1" i="1" dirty="0" smtClean="0"/>
              <a:t>U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 a      </a:t>
            </a:r>
            <a:r>
              <a:rPr lang="ru-RU" dirty="0" smtClean="0"/>
              <a:t>или</a:t>
            </a:r>
          </a:p>
          <a:p>
            <a:r>
              <a:rPr lang="en-US" b="1" i="1" dirty="0" smtClean="0"/>
              <a:t>U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</a:t>
            </a:r>
            <a:r>
              <a:rPr lang="en-US" b="1" i="1" dirty="0" err="1" smtClean="0"/>
              <a:t>Ba</a:t>
            </a:r>
            <a:r>
              <a:rPr lang="en-US" b="1" i="1" dirty="0" smtClean="0"/>
              <a:t> ,</a:t>
            </a:r>
            <a:endParaRPr lang="ru-RU" dirty="0" smtClean="0"/>
          </a:p>
          <a:p>
            <a:r>
              <a:rPr lang="ru-RU" dirty="0" smtClean="0"/>
              <a:t>где</a:t>
            </a:r>
            <a:r>
              <a:rPr lang="en-US" dirty="0" smtClean="0"/>
              <a:t>  </a:t>
            </a:r>
            <a:r>
              <a:rPr lang="en-US" b="1" i="1" dirty="0" smtClean="0"/>
              <a:t>U, B </a:t>
            </a:r>
            <a:r>
              <a:rPr lang="ru-RU" dirty="0" smtClean="0"/>
              <a:t>принадлежат</a:t>
            </a:r>
            <a:r>
              <a:rPr lang="en-US" b="1" i="1" dirty="0" smtClean="0"/>
              <a:t> V \ T ,   a </a:t>
            </a:r>
            <a:r>
              <a:rPr lang="ru-RU" dirty="0" smtClean="0"/>
              <a:t>принадлежит</a:t>
            </a:r>
            <a:r>
              <a:rPr lang="en-US" b="1" i="1" dirty="0" smtClean="0"/>
              <a:t> T </a:t>
            </a:r>
            <a:r>
              <a:rPr lang="ru-RU" dirty="0"/>
              <a:t>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Вывод цепочек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8863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	Пусть </a:t>
            </a:r>
            <a:r>
              <a:rPr lang="en-US" b="1" i="1" dirty="0"/>
              <a:t>G</a:t>
            </a:r>
            <a:r>
              <a:rPr lang="ru-RU" dirty="0"/>
              <a:t> – некоторая грамматика. Будем говорить, что цепочка </a:t>
            </a:r>
            <a:r>
              <a:rPr lang="en-US" b="1" i="1" dirty="0"/>
              <a:t>v</a:t>
            </a:r>
            <a:r>
              <a:rPr lang="en-US" dirty="0"/>
              <a:t> </a:t>
            </a:r>
            <a:r>
              <a:rPr lang="ru-RU" i="1" dirty="0"/>
              <a:t>непосредственно порождает</a:t>
            </a:r>
            <a:r>
              <a:rPr lang="ru-RU" dirty="0"/>
              <a:t> цепочку </a:t>
            </a:r>
            <a:r>
              <a:rPr lang="en-US" b="1" i="1" dirty="0"/>
              <a:t>w</a:t>
            </a:r>
            <a:r>
              <a:rPr lang="ru-RU" dirty="0"/>
              <a:t>, и обозначать это как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	</a:t>
            </a:r>
            <a:r>
              <a:rPr lang="en-US" b="1" i="1" dirty="0"/>
              <a:t>v </a:t>
            </a:r>
            <a:r>
              <a:rPr lang="en-US" b="1" i="1" dirty="0" smtClean="0"/>
              <a:t> </a:t>
            </a:r>
            <a:r>
              <a:rPr lang="ru-RU" b="1" i="1" dirty="0" smtClean="0"/>
              <a:t>=</a:t>
            </a:r>
            <a:r>
              <a:rPr lang="en-US" b="1" i="1" dirty="0" smtClean="0"/>
              <a:t>&gt;</a:t>
            </a:r>
            <a:r>
              <a:rPr lang="ru-RU" b="1" i="1" dirty="0" smtClean="0"/>
              <a:t> </a:t>
            </a:r>
            <a:r>
              <a:rPr lang="en-US" b="1" i="1" dirty="0"/>
              <a:t>w</a:t>
            </a:r>
            <a:r>
              <a:rPr lang="ru-RU" dirty="0"/>
              <a:t> ,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если  </a:t>
            </a:r>
            <a:r>
              <a:rPr lang="en-US" b="1" i="1" dirty="0"/>
              <a:t>v</a:t>
            </a:r>
            <a:r>
              <a:rPr lang="ru-RU" b="1" i="1" dirty="0"/>
              <a:t>=</a:t>
            </a:r>
            <a:r>
              <a:rPr lang="en-US" b="1" i="1" dirty="0" err="1"/>
              <a:t>xUy</a:t>
            </a:r>
            <a:r>
              <a:rPr lang="ru-RU" b="1" i="1" dirty="0"/>
              <a:t>,  </a:t>
            </a:r>
            <a:r>
              <a:rPr lang="en-US" b="1" i="1" dirty="0"/>
              <a:t>w</a:t>
            </a:r>
            <a:r>
              <a:rPr lang="ru-RU" b="1" i="1" dirty="0"/>
              <a:t>=</a:t>
            </a:r>
            <a:r>
              <a:rPr lang="en-US" b="1" i="1" dirty="0" err="1"/>
              <a:t>xuy</a:t>
            </a:r>
            <a:r>
              <a:rPr lang="ru-RU" b="1" i="1" dirty="0"/>
              <a:t>  </a:t>
            </a:r>
            <a:r>
              <a:rPr lang="ru-RU" dirty="0"/>
              <a:t>(где </a:t>
            </a:r>
            <a:r>
              <a:rPr lang="en-US" b="1" i="1" dirty="0"/>
              <a:t>x</a:t>
            </a:r>
            <a:r>
              <a:rPr lang="ru-RU" b="1" i="1" dirty="0"/>
              <a:t>, </a:t>
            </a:r>
            <a:r>
              <a:rPr lang="en-US" b="1" i="1" dirty="0"/>
              <a:t>y</a:t>
            </a:r>
            <a:r>
              <a:rPr lang="ru-RU" dirty="0"/>
              <a:t> – цепочки) и </a:t>
            </a:r>
            <a:r>
              <a:rPr lang="en-US" b="1" i="1" dirty="0"/>
              <a:t>U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u </a:t>
            </a:r>
            <a:r>
              <a:rPr lang="ru-RU" dirty="0"/>
              <a:t> – правило грамматики </a:t>
            </a:r>
            <a:r>
              <a:rPr lang="en-US" b="1" i="1" dirty="0"/>
              <a:t>G</a:t>
            </a:r>
            <a:r>
              <a:rPr lang="ru-RU" b="1" i="1" dirty="0"/>
              <a:t>.</a:t>
            </a:r>
            <a:r>
              <a:rPr lang="ru-RU" dirty="0"/>
              <a:t> </a:t>
            </a:r>
          </a:p>
          <a:p>
            <a:r>
              <a:rPr lang="ru-RU" dirty="0"/>
              <a:t>	Мы будем также говорить, что  </a:t>
            </a:r>
            <a:r>
              <a:rPr lang="en-US" b="1" i="1" dirty="0"/>
              <a:t>w </a:t>
            </a:r>
            <a:r>
              <a:rPr lang="ru-RU" i="1" dirty="0"/>
              <a:t>непосредственно выводится из </a:t>
            </a:r>
            <a:r>
              <a:rPr lang="en-US" b="1" i="1" dirty="0"/>
              <a:t>v</a:t>
            </a:r>
            <a:r>
              <a:rPr lang="ru-RU" dirty="0"/>
              <a:t> или что </a:t>
            </a:r>
            <a:r>
              <a:rPr lang="en-US" b="1" i="1" dirty="0"/>
              <a:t>w</a:t>
            </a:r>
            <a:r>
              <a:rPr lang="en-US" dirty="0"/>
              <a:t> </a:t>
            </a:r>
            <a:r>
              <a:rPr lang="ru-RU" i="1" dirty="0"/>
              <a:t>непосредственно приводится (редуцируется) </a:t>
            </a:r>
            <a:r>
              <a:rPr lang="ru-RU" dirty="0"/>
              <a:t>к  </a:t>
            </a:r>
            <a:r>
              <a:rPr lang="en-US" b="1" i="1" dirty="0"/>
              <a:t>v</a:t>
            </a:r>
            <a:r>
              <a:rPr lang="ru-RU" dirty="0"/>
              <a:t>.</a:t>
            </a:r>
          </a:p>
          <a:p>
            <a:r>
              <a:rPr lang="ru-RU" dirty="0"/>
              <a:t>	Будем говорить, что цепочка </a:t>
            </a:r>
            <a:r>
              <a:rPr lang="en-US" b="1" i="1" dirty="0"/>
              <a:t>v</a:t>
            </a:r>
            <a:r>
              <a:rPr lang="en-US" dirty="0"/>
              <a:t> </a:t>
            </a:r>
            <a:r>
              <a:rPr lang="ru-RU" dirty="0"/>
              <a:t>порождает цепочку </a:t>
            </a:r>
            <a:r>
              <a:rPr lang="en-US" b="1" i="1" dirty="0"/>
              <a:t>w</a:t>
            </a:r>
            <a:r>
              <a:rPr lang="ru-RU" dirty="0"/>
              <a:t> или цепочка </a:t>
            </a:r>
            <a:r>
              <a:rPr lang="en-US" b="1" i="1" dirty="0"/>
              <a:t>w</a:t>
            </a:r>
            <a:r>
              <a:rPr lang="ru-RU" dirty="0"/>
              <a:t> выводится из цепочки </a:t>
            </a:r>
            <a:r>
              <a:rPr lang="en-US" b="1" i="1" dirty="0"/>
              <a:t>v</a:t>
            </a:r>
            <a:r>
              <a:rPr lang="ru-RU" dirty="0"/>
              <a:t> или цепочка </a:t>
            </a:r>
            <a:r>
              <a:rPr lang="en-US" b="1" i="1" dirty="0"/>
              <a:t>w</a:t>
            </a:r>
            <a:r>
              <a:rPr lang="ru-RU" dirty="0"/>
              <a:t> приводится к цепочке </a:t>
            </a:r>
            <a:r>
              <a:rPr lang="en-US" b="1" i="1" dirty="0"/>
              <a:t>v</a:t>
            </a:r>
            <a:r>
              <a:rPr lang="ru-RU" dirty="0"/>
              <a:t>, если существует последовательность </a:t>
            </a:r>
            <a:r>
              <a:rPr lang="ru-RU" dirty="0" smtClean="0"/>
              <a:t>выводов</a:t>
            </a:r>
          </a:p>
          <a:p>
            <a:endParaRPr lang="ru-RU" dirty="0"/>
          </a:p>
          <a:p>
            <a:r>
              <a:rPr lang="ru-RU" dirty="0"/>
              <a:t> 	</a:t>
            </a:r>
            <a:r>
              <a:rPr lang="en-US" dirty="0"/>
              <a:t>	</a:t>
            </a:r>
            <a:r>
              <a:rPr lang="en-US" b="1" i="1" dirty="0"/>
              <a:t>v</a:t>
            </a:r>
            <a:r>
              <a:rPr lang="en-US" dirty="0"/>
              <a:t> </a:t>
            </a:r>
            <a:r>
              <a:rPr lang="en-US" b="1" i="1" dirty="0"/>
              <a:t>= u</a:t>
            </a:r>
            <a:r>
              <a:rPr lang="en-US" b="1" i="1" baseline="-25000" dirty="0"/>
              <a:t>0</a:t>
            </a:r>
            <a:r>
              <a:rPr lang="ru-RU" b="1" i="1" dirty="0"/>
              <a:t> </a:t>
            </a:r>
            <a:r>
              <a:rPr lang="en-US" b="1" i="1" dirty="0" smtClean="0"/>
              <a:t> =&gt;  </a:t>
            </a:r>
            <a:r>
              <a:rPr lang="en-US" b="1" i="1" dirty="0"/>
              <a:t>u</a:t>
            </a:r>
            <a:r>
              <a:rPr lang="en-US" b="1" i="1" baseline="-25000" dirty="0"/>
              <a:t>1</a:t>
            </a:r>
            <a:r>
              <a:rPr lang="ru-RU" b="1" i="1" dirty="0"/>
              <a:t> </a:t>
            </a:r>
            <a:r>
              <a:rPr lang="en-US" b="1" i="1" dirty="0" smtClean="0"/>
              <a:t> =&gt;  </a:t>
            </a:r>
            <a:r>
              <a:rPr lang="en-US" b="1" i="1" dirty="0"/>
              <a:t>u</a:t>
            </a:r>
            <a:r>
              <a:rPr lang="en-US" b="1" i="1" baseline="-25000" dirty="0"/>
              <a:t>2</a:t>
            </a:r>
            <a:r>
              <a:rPr lang="ru-RU" b="1" i="1" dirty="0"/>
              <a:t> </a:t>
            </a:r>
            <a:r>
              <a:rPr lang="en-US" b="1" i="1" dirty="0" smtClean="0"/>
              <a:t> =&gt; </a:t>
            </a:r>
            <a:r>
              <a:rPr lang="en-US" b="1" i="1" dirty="0"/>
              <a:t>... </a:t>
            </a:r>
            <a:r>
              <a:rPr lang="en-US" b="1" i="1" dirty="0" smtClean="0"/>
              <a:t>=&gt;  </a:t>
            </a:r>
            <a:r>
              <a:rPr lang="en-US" b="1" i="1" dirty="0"/>
              <a:t>u</a:t>
            </a:r>
            <a:r>
              <a:rPr lang="en-US" b="1" i="1" baseline="-25000" dirty="0"/>
              <a:t>n</a:t>
            </a:r>
            <a:r>
              <a:rPr lang="en-US" b="1" i="1" dirty="0"/>
              <a:t> = w,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где  </a:t>
            </a:r>
            <a:r>
              <a:rPr lang="en-US" b="1" i="1" dirty="0"/>
              <a:t>n</a:t>
            </a:r>
            <a:r>
              <a:rPr lang="ru-RU" b="1" i="1" dirty="0"/>
              <a:t>&gt;0.</a:t>
            </a:r>
            <a:r>
              <a:rPr lang="ru-RU" dirty="0"/>
              <a:t> Это обозначается как  </a:t>
            </a:r>
            <a:r>
              <a:rPr lang="en-US" b="1" i="1" dirty="0"/>
              <a:t>v </a:t>
            </a:r>
            <a:r>
              <a:rPr lang="en-US" b="1" i="1" dirty="0" smtClean="0"/>
              <a:t>=&gt;+ </a:t>
            </a:r>
            <a:r>
              <a:rPr lang="en-US" b="1" i="1" dirty="0"/>
              <a:t>w</a:t>
            </a:r>
            <a:r>
              <a:rPr lang="ru-RU" b="1" i="1" dirty="0"/>
              <a:t>.</a:t>
            </a:r>
            <a:r>
              <a:rPr lang="ru-RU" dirty="0"/>
              <a:t> Последовательность выводов называется выводом длины  </a:t>
            </a:r>
            <a:r>
              <a:rPr lang="en-US" b="1" i="1" dirty="0"/>
              <a:t>n</a:t>
            </a:r>
            <a:r>
              <a:rPr lang="ru-RU" b="1" i="1" dirty="0"/>
              <a:t>.</a:t>
            </a:r>
            <a:endParaRPr lang="ru-RU" dirty="0"/>
          </a:p>
          <a:p>
            <a:r>
              <a:rPr lang="ru-RU" dirty="0"/>
              <a:t>	Также будем записывать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v </a:t>
            </a:r>
            <a:r>
              <a:rPr lang="en-US" b="1" i="1" dirty="0" smtClean="0"/>
              <a:t> =&gt;* </a:t>
            </a:r>
            <a:r>
              <a:rPr lang="en-US" b="1" i="1" dirty="0"/>
              <a:t>w</a:t>
            </a:r>
            <a:r>
              <a:rPr lang="ru-RU" b="1" i="1" dirty="0"/>
              <a:t>,</a:t>
            </a:r>
            <a:endParaRPr lang="ru-RU" dirty="0"/>
          </a:p>
          <a:p>
            <a:r>
              <a:rPr lang="ru-RU" b="1" i="1" dirty="0"/>
              <a:t> </a:t>
            </a:r>
            <a:endParaRPr lang="ru-RU" dirty="0"/>
          </a:p>
          <a:p>
            <a:r>
              <a:rPr lang="ru-RU" dirty="0"/>
              <a:t>если  </a:t>
            </a:r>
            <a:r>
              <a:rPr lang="en-US" b="1" i="1" dirty="0"/>
              <a:t>v </a:t>
            </a:r>
            <a:r>
              <a:rPr lang="en-US" b="1" i="1" dirty="0" smtClean="0"/>
              <a:t> =&gt;+ </a:t>
            </a:r>
            <a:r>
              <a:rPr lang="en-US" b="1" i="1" dirty="0"/>
              <a:t>w</a:t>
            </a:r>
            <a:r>
              <a:rPr lang="ru-RU" dirty="0"/>
              <a:t>  или </a:t>
            </a:r>
            <a:r>
              <a:rPr lang="en-US" b="1" i="1" dirty="0"/>
              <a:t>v</a:t>
            </a:r>
            <a:r>
              <a:rPr lang="ru-RU" b="1" i="1" dirty="0"/>
              <a:t> = </a:t>
            </a:r>
            <a:r>
              <a:rPr lang="en-US" b="1" i="1" dirty="0"/>
              <a:t>w</a:t>
            </a:r>
            <a:r>
              <a:rPr lang="ru-RU" b="1" i="1" dirty="0"/>
              <a:t>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Сентенциальная форма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Из начального символа грамматики путём замены </a:t>
            </a:r>
            <a:r>
              <a:rPr lang="ru-RU" dirty="0" err="1"/>
              <a:t>нетерминалов</a:t>
            </a:r>
            <a:r>
              <a:rPr lang="ru-RU" dirty="0"/>
              <a:t> правыми частями соответствующих правил можно получить различные цепочки.</a:t>
            </a:r>
          </a:p>
          <a:p>
            <a:r>
              <a:rPr lang="ru-RU" dirty="0"/>
              <a:t>	Цепочка  </a:t>
            </a:r>
            <a:r>
              <a:rPr lang="en-US" b="1" i="1" dirty="0"/>
              <a:t>x</a:t>
            </a:r>
            <a:r>
              <a:rPr lang="ru-RU" dirty="0"/>
              <a:t> называется </a:t>
            </a:r>
            <a:r>
              <a:rPr lang="ru-RU" i="1" dirty="0"/>
              <a:t>сентенциальной формой</a:t>
            </a:r>
            <a:r>
              <a:rPr lang="ru-RU" b="1" dirty="0"/>
              <a:t>, </a:t>
            </a:r>
            <a:r>
              <a:rPr lang="ru-RU" dirty="0"/>
              <a:t>если она выводима из начального символа грамматики </a:t>
            </a:r>
            <a:r>
              <a:rPr lang="en-US" b="1" i="1" dirty="0"/>
              <a:t>S</a:t>
            </a:r>
            <a:r>
              <a:rPr lang="ru-RU" dirty="0"/>
              <a:t>, т.е.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S </a:t>
            </a:r>
            <a:r>
              <a:rPr lang="ru-RU" b="1" i="1" dirty="0" smtClean="0"/>
              <a:t> </a:t>
            </a:r>
            <a:r>
              <a:rPr lang="en-US" b="1" i="1" dirty="0" smtClean="0"/>
              <a:t>=&gt;*</a:t>
            </a:r>
            <a:r>
              <a:rPr lang="ru-RU" b="1" i="1" dirty="0" smtClean="0"/>
              <a:t>  </a:t>
            </a:r>
            <a:r>
              <a:rPr lang="en-US" b="1" i="1" dirty="0"/>
              <a:t>x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ru-RU" i="1" dirty="0"/>
              <a:t>Предложение</a:t>
            </a:r>
            <a:r>
              <a:rPr lang="ru-RU" dirty="0"/>
              <a:t> – это сентенциальная форма, состоящая только из терминальных символов.</a:t>
            </a:r>
          </a:p>
          <a:p>
            <a:r>
              <a:rPr lang="ru-RU" dirty="0"/>
              <a:t>	</a:t>
            </a:r>
            <a:r>
              <a:rPr lang="ru-RU" i="1" dirty="0"/>
              <a:t>Язык</a:t>
            </a:r>
            <a:r>
              <a:rPr lang="ru-RU" dirty="0"/>
              <a:t> – это множество предложений, т.е.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 smtClean="0"/>
              <a:t>L</a:t>
            </a:r>
            <a:r>
              <a:rPr lang="ru-RU" b="1" i="1" dirty="0" smtClean="0"/>
              <a:t> </a:t>
            </a:r>
            <a:r>
              <a:rPr lang="en-US" b="1" i="1" dirty="0" smtClean="0"/>
              <a:t>(</a:t>
            </a:r>
            <a:r>
              <a:rPr lang="en-US" b="1" i="1" dirty="0"/>
              <a:t>G) = { x | S </a:t>
            </a:r>
            <a:r>
              <a:rPr lang="en-US" b="1" i="1" dirty="0" smtClean="0"/>
              <a:t> =&gt;* </a:t>
            </a:r>
            <a:r>
              <a:rPr lang="en-US" b="1" i="1" dirty="0"/>
              <a:t>x , x </a:t>
            </a:r>
            <a:r>
              <a:rPr lang="en-US" b="1" i="1" dirty="0" smtClean="0"/>
              <a:t> </a:t>
            </a:r>
            <a:r>
              <a:rPr lang="ru-RU" b="1" i="1" dirty="0" smtClean="0"/>
              <a:t>принадлежит  </a:t>
            </a:r>
            <a:r>
              <a:rPr lang="en-US" b="1" i="1" dirty="0"/>
              <a:t>T</a:t>
            </a:r>
            <a:r>
              <a:rPr lang="en-US" b="1" i="1" baseline="30000" dirty="0"/>
              <a:t> +</a:t>
            </a:r>
            <a:r>
              <a:rPr lang="en-US" b="1" i="1" dirty="0"/>
              <a:t> }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Для грамматики из предыдущего примера</a:t>
            </a:r>
          </a:p>
          <a:p>
            <a:r>
              <a:rPr lang="ru-RU" dirty="0"/>
              <a:t> </a:t>
            </a:r>
          </a:p>
          <a:p>
            <a:r>
              <a:rPr lang="en-US" dirty="0"/>
              <a:t>		</a:t>
            </a:r>
            <a:r>
              <a:rPr lang="en-US" b="1" i="1" dirty="0"/>
              <a:t>S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A</a:t>
            </a:r>
            <a:r>
              <a:rPr lang="ru-RU" b="1" i="1" dirty="0"/>
              <a:t> </a:t>
            </a:r>
            <a:r>
              <a:rPr lang="en-US" b="1" dirty="0" smtClean="0"/>
              <a:t>|</a:t>
            </a:r>
            <a:r>
              <a:rPr lang="ru-RU" b="1" i="1" dirty="0" smtClean="0"/>
              <a:t> </a:t>
            </a:r>
            <a:r>
              <a:rPr lang="en-US" b="1" i="1" dirty="0"/>
              <a:t>B</a:t>
            </a:r>
            <a:endParaRPr lang="ru-RU" dirty="0"/>
          </a:p>
          <a:p>
            <a:r>
              <a:rPr lang="ru-RU" b="1" i="1" dirty="0"/>
              <a:t>		</a:t>
            </a:r>
            <a:r>
              <a:rPr lang="en-US" b="1" i="1" dirty="0"/>
              <a:t>A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</a:t>
            </a:r>
            <a:r>
              <a:rPr lang="en-US" b="1" i="1" dirty="0" err="1"/>
              <a:t>Ba</a:t>
            </a:r>
            <a:r>
              <a:rPr lang="ru-RU" b="1" i="1" dirty="0"/>
              <a:t> </a:t>
            </a:r>
            <a:r>
              <a:rPr lang="en-US" b="1" dirty="0" smtClean="0"/>
              <a:t>|</a:t>
            </a:r>
            <a:r>
              <a:rPr lang="ru-RU" b="1" i="1" dirty="0" smtClean="0"/>
              <a:t> </a:t>
            </a:r>
            <a:r>
              <a:rPr lang="en-US" b="1" i="1" dirty="0"/>
              <a:t>a</a:t>
            </a:r>
            <a:endParaRPr lang="ru-RU" dirty="0"/>
          </a:p>
          <a:p>
            <a:r>
              <a:rPr lang="ru-RU" b="1" i="1" dirty="0"/>
              <a:t>		</a:t>
            </a:r>
            <a:r>
              <a:rPr lang="en-US" b="1" i="1" dirty="0"/>
              <a:t>B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b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Имеем несколько выводов предложений: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S </a:t>
            </a:r>
            <a:r>
              <a:rPr lang="en-US" b="1" i="1" dirty="0" smtClean="0"/>
              <a:t> =&gt;  </a:t>
            </a:r>
            <a:r>
              <a:rPr lang="en-US" b="1" i="1" dirty="0"/>
              <a:t>A </a:t>
            </a:r>
            <a:r>
              <a:rPr lang="en-US" b="1" i="1" dirty="0" smtClean="0"/>
              <a:t>=&gt;  </a:t>
            </a:r>
            <a:r>
              <a:rPr lang="en-US" b="1" i="1" dirty="0" err="1"/>
              <a:t>Ba</a:t>
            </a:r>
            <a:r>
              <a:rPr lang="en-US" b="1" i="1" dirty="0"/>
              <a:t> </a:t>
            </a:r>
            <a:r>
              <a:rPr lang="en-US" b="1" i="1" dirty="0" smtClean="0"/>
              <a:t> =&gt;  </a:t>
            </a:r>
            <a:r>
              <a:rPr lang="en-US" b="1" i="1" dirty="0" err="1"/>
              <a:t>ba</a:t>
            </a:r>
            <a:endParaRPr lang="ru-RU" dirty="0"/>
          </a:p>
          <a:p>
            <a:r>
              <a:rPr lang="en-US" b="1" i="1" dirty="0"/>
              <a:t>		S </a:t>
            </a:r>
            <a:r>
              <a:rPr lang="en-US" b="1" i="1" dirty="0" smtClean="0"/>
              <a:t> =&gt;</a:t>
            </a:r>
            <a:r>
              <a:rPr lang="ru-RU" b="1" i="1" dirty="0" smtClean="0"/>
              <a:t>  </a:t>
            </a:r>
            <a:r>
              <a:rPr lang="en-US" b="1" i="1" dirty="0"/>
              <a:t>A </a:t>
            </a:r>
            <a:r>
              <a:rPr lang="en-US" b="1" i="1" dirty="0" smtClean="0"/>
              <a:t> =&gt;  </a:t>
            </a:r>
            <a:r>
              <a:rPr lang="en-US" b="1" i="1" dirty="0"/>
              <a:t>a</a:t>
            </a:r>
            <a:endParaRPr lang="ru-RU" dirty="0"/>
          </a:p>
          <a:p>
            <a:r>
              <a:rPr lang="en-US" b="1" i="1" dirty="0"/>
              <a:t>		S </a:t>
            </a:r>
            <a:r>
              <a:rPr lang="en-US" b="1" i="1" dirty="0" smtClean="0"/>
              <a:t> =&gt;  </a:t>
            </a:r>
            <a:r>
              <a:rPr lang="en-US" b="1" i="1" dirty="0"/>
              <a:t>B </a:t>
            </a:r>
            <a:r>
              <a:rPr lang="en-US" b="1" i="1" dirty="0" smtClean="0"/>
              <a:t> =&gt;  </a:t>
            </a:r>
            <a:r>
              <a:rPr lang="en-US" b="1" i="1" dirty="0"/>
              <a:t>b</a:t>
            </a:r>
            <a:endParaRPr lang="ru-RU" dirty="0"/>
          </a:p>
          <a:p>
            <a:r>
              <a:rPr lang="en-US" b="1" i="1" dirty="0"/>
              <a:t> </a:t>
            </a:r>
            <a:endParaRPr lang="ru-RU" dirty="0"/>
          </a:p>
          <a:p>
            <a:r>
              <a:rPr lang="ru-RU" dirty="0"/>
              <a:t>Таким образом, язык, порождаемый данной грамматикой, содержит три предложения: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 smtClean="0"/>
              <a:t>L (</a:t>
            </a:r>
            <a:r>
              <a:rPr lang="en-US" b="1" i="1" dirty="0"/>
              <a:t>G) = { a, b, </a:t>
            </a:r>
            <a:r>
              <a:rPr lang="en-US" b="1" i="1" dirty="0" err="1"/>
              <a:t>ba</a:t>
            </a:r>
            <a:r>
              <a:rPr lang="en-US" b="1" i="1" dirty="0"/>
              <a:t> }</a:t>
            </a:r>
            <a:endParaRPr lang="ru-RU" dirty="0"/>
          </a:p>
          <a:p>
            <a:r>
              <a:rPr lang="en-US" b="1" i="1" dirty="0"/>
              <a:t> </a:t>
            </a:r>
            <a:endParaRPr lang="ru-RU" dirty="0"/>
          </a:p>
          <a:p>
            <a:r>
              <a:rPr lang="ru-RU" dirty="0"/>
              <a:t>Здесь язык конечен. Чтобы язык был бесконечным, грамматика должна быть рекурсивной.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Основа сентенциальной формы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544616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Грамматика является рекурсивной, если хотя бы для одного нетерминального символа выполняется соотношение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U </a:t>
            </a:r>
            <a:r>
              <a:rPr lang="ru-RU" b="1" i="1" dirty="0" smtClean="0"/>
              <a:t> </a:t>
            </a:r>
            <a:r>
              <a:rPr lang="en-US" b="1" i="1" dirty="0" smtClean="0"/>
              <a:t>=&gt;+ </a:t>
            </a:r>
            <a:r>
              <a:rPr lang="en-US" b="1" i="1" dirty="0"/>
              <a:t>… U …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ru-RU" dirty="0"/>
              <a:t>	Правило грамматики является лево (право) рекурсивным, если оно имеет вид: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b="1" i="1" dirty="0"/>
              <a:t>U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U …     </a:t>
            </a:r>
            <a:r>
              <a:rPr lang="ru-RU" dirty="0"/>
              <a:t>( или </a:t>
            </a:r>
            <a:r>
              <a:rPr lang="en-US" b="1" i="1" dirty="0"/>
              <a:t>U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 … U</a:t>
            </a:r>
            <a:r>
              <a:rPr lang="en-US" dirty="0"/>
              <a:t> </a:t>
            </a:r>
            <a:r>
              <a:rPr lang="ru-RU" dirty="0"/>
              <a:t>)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Введём ещё несколько определений. Пусть  </a:t>
            </a:r>
            <a:r>
              <a:rPr lang="en-US" b="1" i="1" dirty="0"/>
              <a:t>G</a:t>
            </a:r>
            <a:r>
              <a:rPr lang="ru-RU" dirty="0"/>
              <a:t> – грамматика, а </a:t>
            </a:r>
            <a:r>
              <a:rPr lang="ru-RU" b="1" i="1" dirty="0"/>
              <a:t> </a:t>
            </a:r>
            <a:r>
              <a:rPr lang="en-US" b="1" i="1" dirty="0"/>
              <a:t>w</a:t>
            </a:r>
            <a:r>
              <a:rPr lang="ru-RU" b="1" i="1" dirty="0"/>
              <a:t> = </a:t>
            </a:r>
            <a:r>
              <a:rPr lang="en-US" b="1" i="1" dirty="0" err="1"/>
              <a:t>xuy</a:t>
            </a:r>
            <a:r>
              <a:rPr lang="en-US" b="1" i="1" dirty="0"/>
              <a:t> </a:t>
            </a:r>
            <a:r>
              <a:rPr lang="ru-RU" dirty="0"/>
              <a:t>– сентенциальная форма.</a:t>
            </a:r>
          </a:p>
          <a:p>
            <a:r>
              <a:rPr lang="ru-RU" dirty="0"/>
              <a:t>	Цепочка  </a:t>
            </a:r>
            <a:r>
              <a:rPr lang="en-US" b="1" i="1" dirty="0"/>
              <a:t>u</a:t>
            </a:r>
            <a:r>
              <a:rPr lang="ru-RU" dirty="0"/>
              <a:t> называется </a:t>
            </a:r>
            <a:r>
              <a:rPr lang="ru-RU" i="1" dirty="0"/>
              <a:t>фразой</a:t>
            </a:r>
            <a:r>
              <a:rPr lang="ru-RU" dirty="0"/>
              <a:t> сентенциальной формы  </a:t>
            </a:r>
            <a:r>
              <a:rPr lang="en-US" b="1" i="1" dirty="0"/>
              <a:t>w</a:t>
            </a:r>
            <a:r>
              <a:rPr lang="ru-RU" dirty="0"/>
              <a:t> для нетерминального символа  </a:t>
            </a:r>
            <a:r>
              <a:rPr lang="en-US" b="1" i="1" dirty="0"/>
              <a:t>U</a:t>
            </a:r>
            <a:r>
              <a:rPr lang="ru-RU" dirty="0"/>
              <a:t>, если </a:t>
            </a:r>
            <a:r>
              <a:rPr lang="ru-RU" b="1" i="1" dirty="0"/>
              <a:t> </a:t>
            </a:r>
            <a:r>
              <a:rPr lang="en-US" b="1" i="1" dirty="0"/>
              <a:t>S </a:t>
            </a:r>
            <a:r>
              <a:rPr lang="en-US" b="1" i="1" dirty="0" smtClean="0"/>
              <a:t> =&gt;*  </a:t>
            </a:r>
            <a:r>
              <a:rPr lang="en-US" b="1" i="1" dirty="0" err="1"/>
              <a:t>xUy</a:t>
            </a:r>
            <a:r>
              <a:rPr lang="ru-RU" b="1" i="1" dirty="0"/>
              <a:t>  </a:t>
            </a:r>
            <a:r>
              <a:rPr lang="ru-RU" dirty="0"/>
              <a:t>и</a:t>
            </a:r>
            <a:r>
              <a:rPr lang="ru-RU" b="1" i="1" dirty="0"/>
              <a:t>  </a:t>
            </a:r>
            <a:r>
              <a:rPr lang="en-US" b="1" i="1" dirty="0"/>
              <a:t>U </a:t>
            </a:r>
            <a:r>
              <a:rPr lang="en-US" b="1" i="1" dirty="0" smtClean="0"/>
              <a:t> =&gt;+</a:t>
            </a:r>
            <a:r>
              <a:rPr lang="ru-RU" b="1" i="1" dirty="0" smtClean="0"/>
              <a:t>  </a:t>
            </a:r>
            <a:r>
              <a:rPr lang="en-US" b="1" i="1" dirty="0"/>
              <a:t>u</a:t>
            </a:r>
            <a:r>
              <a:rPr lang="ru-RU" dirty="0"/>
              <a:t>. Цепочка  </a:t>
            </a:r>
            <a:r>
              <a:rPr lang="en-US" b="1" i="1" dirty="0"/>
              <a:t>u</a:t>
            </a:r>
            <a:r>
              <a:rPr lang="ru-RU" dirty="0"/>
              <a:t>  называется </a:t>
            </a:r>
            <a:r>
              <a:rPr lang="ru-RU" i="1" dirty="0"/>
              <a:t>простой фразой</a:t>
            </a:r>
            <a:r>
              <a:rPr lang="ru-RU" dirty="0"/>
              <a:t>, если  </a:t>
            </a:r>
            <a:r>
              <a:rPr lang="en-US" b="1" i="1" dirty="0"/>
              <a:t>S </a:t>
            </a:r>
            <a:r>
              <a:rPr lang="en-US" b="1" i="1" dirty="0" smtClean="0"/>
              <a:t> =&gt;*  </a:t>
            </a:r>
            <a:r>
              <a:rPr lang="en-US" b="1" i="1" dirty="0" err="1"/>
              <a:t>xUy</a:t>
            </a:r>
            <a:r>
              <a:rPr lang="ru-RU" b="1" i="1" dirty="0"/>
              <a:t>  </a:t>
            </a:r>
            <a:r>
              <a:rPr lang="ru-RU" dirty="0"/>
              <a:t>и</a:t>
            </a:r>
            <a:r>
              <a:rPr lang="ru-RU" b="1" i="1" dirty="0"/>
              <a:t>  </a:t>
            </a:r>
            <a:r>
              <a:rPr lang="en-US" b="1" i="1" dirty="0"/>
              <a:t>U </a:t>
            </a:r>
            <a:r>
              <a:rPr lang="en-US" b="1" i="1" dirty="0" smtClean="0"/>
              <a:t> =&gt;</a:t>
            </a:r>
            <a:r>
              <a:rPr lang="ru-RU" b="1" i="1" dirty="0" smtClean="0"/>
              <a:t>  </a:t>
            </a:r>
            <a:r>
              <a:rPr lang="en-US" b="1" i="1" dirty="0"/>
              <a:t>u</a:t>
            </a:r>
            <a:r>
              <a:rPr lang="ru-RU" dirty="0"/>
              <a:t>.</a:t>
            </a:r>
          </a:p>
          <a:p>
            <a:r>
              <a:rPr lang="ru-RU" dirty="0"/>
              <a:t>	</a:t>
            </a:r>
            <a:r>
              <a:rPr lang="ru-RU" i="1" dirty="0"/>
              <a:t>Основой</a:t>
            </a:r>
            <a:r>
              <a:rPr lang="ru-RU" dirty="0"/>
              <a:t> сентенциальной формы называется самая левая простая фраза.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	Дана грамматика </a:t>
            </a:r>
            <a:r>
              <a:rPr lang="ru-RU" b="1" i="1" dirty="0"/>
              <a:t> </a:t>
            </a:r>
            <a:r>
              <a:rPr lang="en-US" b="1" i="1" dirty="0"/>
              <a:t>G</a:t>
            </a:r>
            <a:r>
              <a:rPr lang="ru-RU" b="1" i="1" dirty="0"/>
              <a:t> = &lt; { </a:t>
            </a:r>
            <a:r>
              <a:rPr lang="en-US" b="1" i="1" dirty="0"/>
              <a:t>B</a:t>
            </a:r>
            <a:r>
              <a:rPr lang="ru-RU" b="1" i="1" dirty="0"/>
              <a:t>,</a:t>
            </a:r>
            <a:r>
              <a:rPr lang="en-US" b="1" i="1" dirty="0"/>
              <a:t>C</a:t>
            </a:r>
            <a:r>
              <a:rPr lang="ru-RU" b="1" i="1" dirty="0"/>
              <a:t>,</a:t>
            </a:r>
            <a:r>
              <a:rPr lang="en-US" b="1" i="1" dirty="0"/>
              <a:t>S</a:t>
            </a:r>
            <a:r>
              <a:rPr lang="ru-RU" b="1" i="1" dirty="0"/>
              <a:t>,</a:t>
            </a:r>
            <a:r>
              <a:rPr lang="en-US" b="1" i="1" dirty="0"/>
              <a:t>d</a:t>
            </a:r>
            <a:r>
              <a:rPr lang="ru-RU" b="1" i="1" dirty="0"/>
              <a:t>,</a:t>
            </a:r>
            <a:r>
              <a:rPr lang="en-US" b="1" i="1" dirty="0"/>
              <a:t>f</a:t>
            </a:r>
            <a:r>
              <a:rPr lang="ru-RU" b="1" i="1" dirty="0"/>
              <a:t> }, { </a:t>
            </a:r>
            <a:r>
              <a:rPr lang="en-US" b="1" i="1" dirty="0"/>
              <a:t>d</a:t>
            </a:r>
            <a:r>
              <a:rPr lang="ru-RU" b="1" i="1" dirty="0"/>
              <a:t>,</a:t>
            </a:r>
            <a:r>
              <a:rPr lang="en-US" b="1" i="1" dirty="0"/>
              <a:t>f</a:t>
            </a:r>
            <a:r>
              <a:rPr lang="ru-RU" b="1" i="1" dirty="0"/>
              <a:t> }, </a:t>
            </a:r>
            <a:r>
              <a:rPr lang="en-US" b="1" i="1" dirty="0"/>
              <a:t>P</a:t>
            </a:r>
            <a:r>
              <a:rPr lang="ru-RU" b="1" i="1" dirty="0"/>
              <a:t>, </a:t>
            </a:r>
            <a:r>
              <a:rPr lang="en-US" b="1" i="1" dirty="0"/>
              <a:t>S</a:t>
            </a:r>
            <a:r>
              <a:rPr lang="ru-RU" b="1" i="1" dirty="0"/>
              <a:t> &gt;</a:t>
            </a:r>
            <a:r>
              <a:rPr lang="ru-RU" dirty="0"/>
              <a:t>,  где</a:t>
            </a:r>
          </a:p>
          <a:p>
            <a:r>
              <a:rPr lang="en-US" b="1" i="1" dirty="0"/>
              <a:t>P:</a:t>
            </a:r>
            <a:endParaRPr lang="ru-RU" dirty="0"/>
          </a:p>
          <a:p>
            <a:r>
              <a:rPr lang="en-US" b="1" i="1" dirty="0"/>
              <a:t>	S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</a:t>
            </a:r>
            <a:r>
              <a:rPr lang="en-US" b="1" i="1" dirty="0" err="1"/>
              <a:t>Cd</a:t>
            </a:r>
            <a:r>
              <a:rPr lang="en-US" b="1" i="1" dirty="0"/>
              <a:t> </a:t>
            </a:r>
            <a:r>
              <a:rPr lang="en-US" b="1" dirty="0" smtClean="0"/>
              <a:t>|</a:t>
            </a:r>
            <a:r>
              <a:rPr lang="en-US" b="1" i="1" dirty="0" smtClean="0"/>
              <a:t> </a:t>
            </a:r>
            <a:r>
              <a:rPr lang="en-US" b="1" i="1" dirty="0" err="1"/>
              <a:t>BfC</a:t>
            </a:r>
            <a:endParaRPr lang="ru-RU" dirty="0"/>
          </a:p>
          <a:p>
            <a:r>
              <a:rPr lang="en-US" b="1" i="1" dirty="0"/>
              <a:t>	B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</a:t>
            </a:r>
            <a:r>
              <a:rPr lang="en-US" b="1" i="1" dirty="0" err="1"/>
              <a:t>fC</a:t>
            </a:r>
            <a:r>
              <a:rPr lang="en-US" b="1" i="1" dirty="0"/>
              <a:t> </a:t>
            </a:r>
            <a:r>
              <a:rPr lang="en-US" b="1" dirty="0" smtClean="0"/>
              <a:t>|</a:t>
            </a:r>
            <a:r>
              <a:rPr lang="en-US" b="1" i="1" dirty="0" smtClean="0"/>
              <a:t> </a:t>
            </a:r>
            <a:r>
              <a:rPr lang="en-US" b="1" i="1" dirty="0"/>
              <a:t>d</a:t>
            </a:r>
            <a:endParaRPr lang="ru-RU" dirty="0"/>
          </a:p>
          <a:p>
            <a:r>
              <a:rPr lang="en-US" b="1" i="1" dirty="0"/>
              <a:t>	C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</a:t>
            </a:r>
            <a:r>
              <a:rPr lang="en-US" b="1" i="1" dirty="0" err="1"/>
              <a:t>Bd</a:t>
            </a:r>
            <a:r>
              <a:rPr lang="en-US" b="1" i="1" dirty="0"/>
              <a:t> </a:t>
            </a:r>
            <a:r>
              <a:rPr lang="en-US" b="1" dirty="0" smtClean="0"/>
              <a:t>|</a:t>
            </a:r>
            <a:r>
              <a:rPr lang="en-US" b="1" i="1" dirty="0" smtClean="0"/>
              <a:t> </a:t>
            </a:r>
            <a:r>
              <a:rPr lang="en-US" b="1" i="1" dirty="0" err="1"/>
              <a:t>fCf</a:t>
            </a:r>
            <a:r>
              <a:rPr lang="en-US" b="1" i="1" dirty="0"/>
              <a:t> </a:t>
            </a:r>
            <a:r>
              <a:rPr lang="en-US" b="1" dirty="0" smtClean="0"/>
              <a:t>|</a:t>
            </a:r>
            <a:r>
              <a:rPr lang="en-US" b="1" i="1" dirty="0" smtClean="0"/>
              <a:t> </a:t>
            </a:r>
            <a:r>
              <a:rPr lang="en-US" b="1" i="1" dirty="0"/>
              <a:t>f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Рассмотрим вывод:</a:t>
            </a:r>
          </a:p>
          <a:p>
            <a:r>
              <a:rPr lang="ru-RU" dirty="0"/>
              <a:t>	</a:t>
            </a:r>
            <a:r>
              <a:rPr lang="en-US" b="1" i="1" dirty="0"/>
              <a:t>S </a:t>
            </a:r>
            <a:r>
              <a:rPr lang="ru-RU" b="1" i="1" dirty="0" smtClean="0"/>
              <a:t> =</a:t>
            </a:r>
            <a:r>
              <a:rPr lang="en-US" b="1" i="1" dirty="0" smtClean="0"/>
              <a:t>&gt; </a:t>
            </a:r>
            <a:r>
              <a:rPr lang="en-US" b="1" i="1" dirty="0" err="1"/>
              <a:t>BfC</a:t>
            </a:r>
            <a:r>
              <a:rPr lang="en-US" b="1" i="1" dirty="0"/>
              <a:t> </a:t>
            </a:r>
            <a:r>
              <a:rPr lang="en-US" b="1" i="1" dirty="0" smtClean="0"/>
              <a:t> =&gt; </a:t>
            </a:r>
            <a:r>
              <a:rPr lang="en-US" b="1" i="1" dirty="0" err="1"/>
              <a:t>fCfC</a:t>
            </a:r>
            <a:r>
              <a:rPr lang="en-US" b="1" i="1" dirty="0"/>
              <a:t> </a:t>
            </a:r>
            <a:r>
              <a:rPr lang="en-US" b="1" i="1" dirty="0" smtClean="0"/>
              <a:t> =&gt; </a:t>
            </a:r>
            <a:r>
              <a:rPr lang="en-US" b="1" i="1" dirty="0" err="1"/>
              <a:t>fCffCf</a:t>
            </a:r>
            <a:r>
              <a:rPr lang="en-US" b="1" i="1" dirty="0"/>
              <a:t> </a:t>
            </a:r>
            <a:r>
              <a:rPr lang="en-US" b="1" i="1" dirty="0" smtClean="0"/>
              <a:t> =&gt; </a:t>
            </a:r>
            <a:r>
              <a:rPr lang="en-US" b="1" i="1" dirty="0" err="1"/>
              <a:t>fBdffCf</a:t>
            </a:r>
            <a:endParaRPr lang="ru-RU" dirty="0"/>
          </a:p>
          <a:p>
            <a:r>
              <a:rPr lang="en-US" b="1" i="1" dirty="0"/>
              <a:t> </a:t>
            </a:r>
            <a:endParaRPr lang="ru-RU" dirty="0"/>
          </a:p>
          <a:p>
            <a:r>
              <a:rPr lang="ru-RU" dirty="0"/>
              <a:t>Для сентенциальной формы  </a:t>
            </a:r>
            <a:r>
              <a:rPr lang="en-US" b="1" i="1" dirty="0" err="1"/>
              <a:t>fBdffCf</a:t>
            </a:r>
            <a:r>
              <a:rPr lang="ru-RU" dirty="0"/>
              <a:t>  простые фразы – это  </a:t>
            </a:r>
            <a:r>
              <a:rPr lang="en-US" b="1" i="1" dirty="0" err="1"/>
              <a:t>Bd</a:t>
            </a:r>
            <a:r>
              <a:rPr lang="en-US" b="1" i="1" dirty="0"/>
              <a:t> </a:t>
            </a:r>
            <a:r>
              <a:rPr lang="ru-RU" dirty="0"/>
              <a:t> и  </a:t>
            </a:r>
            <a:r>
              <a:rPr lang="en-US" b="1" i="1" dirty="0" err="1"/>
              <a:t>fCf</a:t>
            </a:r>
            <a:r>
              <a:rPr lang="ru-RU" dirty="0"/>
              <a:t>.  Основой этой сентенциальной формы является цепочка  </a:t>
            </a:r>
            <a:r>
              <a:rPr lang="en-US" b="1" i="1" dirty="0" err="1"/>
              <a:t>Bd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2.3. Синтаксические деревья</a:t>
            </a:r>
            <a:br>
              <a:rPr lang="ru-RU" sz="2800" b="1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Синтаксические деревья служат для отображения вывода некоторой сентенциальной формы.</a:t>
            </a:r>
          </a:p>
          <a:p>
            <a:r>
              <a:rPr lang="ru-RU" dirty="0"/>
              <a:t>Синтаксическое дерево строится следующим образом. </a:t>
            </a:r>
          </a:p>
          <a:p>
            <a:r>
              <a:rPr lang="ru-RU" dirty="0"/>
              <a:t>В качестве корня дерева выступает начальный символ грамматики. Далее рекурсивно выполняем следующее: если текущим узлом дерева является </a:t>
            </a:r>
            <a:r>
              <a:rPr lang="ru-RU" dirty="0" err="1"/>
              <a:t>нетерминал</a:t>
            </a:r>
            <a:r>
              <a:rPr lang="ru-RU" dirty="0"/>
              <a:t>, то в качестве дочерних узлов выступают символы правой части правила, используемого для замены этого </a:t>
            </a:r>
            <a:r>
              <a:rPr lang="ru-RU" dirty="0" err="1"/>
              <a:t>нетерминала</a:t>
            </a:r>
            <a:r>
              <a:rPr lang="ru-RU" dirty="0"/>
              <a:t> при выводе.</a:t>
            </a:r>
          </a:p>
          <a:p>
            <a:r>
              <a:rPr lang="ru-RU" dirty="0"/>
              <a:t>Для рассмотренного выше вывода синтаксическое дерево имеет следующий </a:t>
            </a:r>
            <a:r>
              <a:rPr lang="ru-RU" dirty="0" smtClean="0"/>
              <a:t>вид: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Синтаксическое дерево</a:t>
            </a:r>
            <a:endParaRPr lang="ru-RU" sz="2800" dirty="0"/>
          </a:p>
        </p:txBody>
      </p:sp>
      <p:pic>
        <p:nvPicPr>
          <p:cNvPr id="4" name="Содержимое 3" descr="Рис_2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340768"/>
            <a:ext cx="7704856" cy="5040559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Правый и левый выводы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Обход концевых узлов дерева слева направо даёт текущую сентенциальную форму.</a:t>
            </a:r>
          </a:p>
          <a:p>
            <a:r>
              <a:rPr lang="ru-RU" dirty="0"/>
              <a:t>	Для каждого вывода имеется соответствующее синтаксическое дерево, но несколько выводов могут иметь одно и то же дерево.</a:t>
            </a:r>
          </a:p>
          <a:p>
            <a:r>
              <a:rPr lang="ru-RU" dirty="0"/>
              <a:t>	Если в сентенциальной форме при выводе всегда заменять самый левый </a:t>
            </a:r>
            <a:r>
              <a:rPr lang="ru-RU" dirty="0" err="1"/>
              <a:t>нетерминал</a:t>
            </a:r>
            <a:r>
              <a:rPr lang="ru-RU" dirty="0"/>
              <a:t>, то мы получим левосторонний (или левый) вывод. Если заменять самый правый </a:t>
            </a:r>
            <a:r>
              <a:rPr lang="ru-RU" dirty="0" err="1"/>
              <a:t>нетерминал</a:t>
            </a:r>
            <a:r>
              <a:rPr lang="ru-RU" dirty="0"/>
              <a:t>, то получим правосторонний (правый) вывод. Каждый из этих выводов единственен.</a:t>
            </a:r>
          </a:p>
          <a:p>
            <a:r>
              <a:rPr lang="ru-RU" dirty="0"/>
              <a:t>	Предложение грамматики </a:t>
            </a:r>
            <a:r>
              <a:rPr lang="ru-RU" i="1" dirty="0"/>
              <a:t>неоднозначно</a:t>
            </a:r>
            <a:r>
              <a:rPr lang="ru-RU" dirty="0"/>
              <a:t>, если для его вывода существуют  два или более синтаксических деревьев.</a:t>
            </a:r>
          </a:p>
          <a:p>
            <a:r>
              <a:rPr lang="ru-RU" dirty="0"/>
              <a:t>	Грамматика </a:t>
            </a:r>
            <a:r>
              <a:rPr lang="ru-RU" i="1" dirty="0"/>
              <a:t>неоднозначна</a:t>
            </a:r>
            <a:r>
              <a:rPr lang="ru-RU" dirty="0"/>
              <a:t>, если она допускает неоднозначные предложения, в противном случае она </a:t>
            </a:r>
            <a:r>
              <a:rPr lang="ru-RU" i="1" dirty="0"/>
              <a:t>однозначна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Рассмотрим следующую грамматику для арифметических выражений с двумя операциями: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ru-RU" b="1" i="1" dirty="0"/>
              <a:t>&lt;</a:t>
            </a:r>
            <a:r>
              <a:rPr lang="en-US" b="1" i="1" dirty="0"/>
              <a:t>E</a:t>
            </a:r>
            <a:r>
              <a:rPr lang="ru-RU" b="1" i="1" dirty="0"/>
              <a:t>&gt; </a:t>
            </a:r>
            <a:r>
              <a:rPr lang="en-US" b="1" i="1" dirty="0">
                <a:sym typeface="Wingdings"/>
              </a:rPr>
              <a:t></a:t>
            </a:r>
            <a:r>
              <a:rPr lang="ru-RU" b="1" i="1" dirty="0"/>
              <a:t> &lt;</a:t>
            </a:r>
            <a:r>
              <a:rPr lang="en-US" b="1" i="1" dirty="0"/>
              <a:t>E</a:t>
            </a:r>
            <a:r>
              <a:rPr lang="ru-RU" b="1" i="1" dirty="0"/>
              <a:t>&gt; + &lt;</a:t>
            </a:r>
            <a:r>
              <a:rPr lang="en-US" b="1" i="1" dirty="0"/>
              <a:t>E</a:t>
            </a:r>
            <a:r>
              <a:rPr lang="ru-RU" b="1" i="1" dirty="0"/>
              <a:t>&gt; </a:t>
            </a:r>
            <a:endParaRPr lang="ru-RU" dirty="0"/>
          </a:p>
          <a:p>
            <a:r>
              <a:rPr lang="en-US" b="1" i="1" dirty="0"/>
              <a:t>	&lt;E&gt;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</a:t>
            </a:r>
            <a:r>
              <a:rPr lang="ru-RU" b="1" i="1" dirty="0"/>
              <a:t>&lt;</a:t>
            </a:r>
            <a:r>
              <a:rPr lang="en-US" b="1" i="1" dirty="0"/>
              <a:t>E</a:t>
            </a:r>
            <a:r>
              <a:rPr lang="ru-RU" b="1" i="1" dirty="0"/>
              <a:t>&gt; * &lt;</a:t>
            </a:r>
            <a:r>
              <a:rPr lang="en-US" b="1" i="1" dirty="0"/>
              <a:t>E</a:t>
            </a:r>
            <a:r>
              <a:rPr lang="ru-RU" b="1" i="1" dirty="0"/>
              <a:t>&gt;</a:t>
            </a:r>
            <a:endParaRPr lang="ru-RU" dirty="0"/>
          </a:p>
          <a:p>
            <a:r>
              <a:rPr lang="en-US" b="1" i="1" dirty="0"/>
              <a:t>	&lt;E&gt; </a:t>
            </a:r>
            <a:r>
              <a:rPr lang="en-US" b="1" i="1" dirty="0">
                <a:sym typeface="Wingdings"/>
              </a:rPr>
              <a:t></a:t>
            </a:r>
            <a:r>
              <a:rPr lang="en-US" b="1" i="1" dirty="0"/>
              <a:t> I</a:t>
            </a:r>
            <a:endParaRPr lang="ru-RU" dirty="0"/>
          </a:p>
          <a:p>
            <a:r>
              <a:rPr lang="en-US" b="1" i="1" dirty="0"/>
              <a:t> </a:t>
            </a:r>
            <a:endParaRPr lang="ru-RU" dirty="0"/>
          </a:p>
          <a:p>
            <a:r>
              <a:rPr lang="ru-RU" dirty="0"/>
              <a:t>Здесь  </a:t>
            </a:r>
            <a:r>
              <a:rPr lang="ru-RU" b="1" i="1" dirty="0"/>
              <a:t>&lt;</a:t>
            </a:r>
            <a:r>
              <a:rPr lang="en-US" b="1" i="1" dirty="0"/>
              <a:t>E</a:t>
            </a:r>
            <a:r>
              <a:rPr lang="ru-RU" b="1" i="1" dirty="0"/>
              <a:t>&gt; </a:t>
            </a:r>
            <a:r>
              <a:rPr lang="ru-RU" dirty="0"/>
              <a:t> –  </a:t>
            </a:r>
            <a:r>
              <a:rPr lang="ru-RU" dirty="0" err="1"/>
              <a:t>нетерминал</a:t>
            </a:r>
            <a:r>
              <a:rPr lang="ru-RU" dirty="0"/>
              <a:t>, представляющий некоторое выражение или его часть,  </a:t>
            </a:r>
            <a:r>
              <a:rPr lang="en-US" b="1" i="1" dirty="0"/>
              <a:t>I</a:t>
            </a:r>
            <a:r>
              <a:rPr lang="ru-RU" dirty="0"/>
              <a:t> – терминальный символ, представляющий идентификатор.</a:t>
            </a:r>
          </a:p>
          <a:p>
            <a:r>
              <a:rPr lang="ru-RU" dirty="0"/>
              <a:t>	Возьмём выражение </a:t>
            </a:r>
            <a:r>
              <a:rPr lang="ru-RU" b="1" i="1" dirty="0"/>
              <a:t> </a:t>
            </a:r>
            <a:r>
              <a:rPr lang="en-US" b="1" i="1" dirty="0"/>
              <a:t>a</a:t>
            </a:r>
            <a:r>
              <a:rPr lang="ru-RU" b="1" i="1" dirty="0"/>
              <a:t> + </a:t>
            </a:r>
            <a:r>
              <a:rPr lang="en-US" b="1" i="1" dirty="0"/>
              <a:t>b</a:t>
            </a:r>
            <a:r>
              <a:rPr lang="ru-RU" b="1" i="1" dirty="0"/>
              <a:t>* </a:t>
            </a:r>
            <a:r>
              <a:rPr lang="en-US" b="1" i="1" dirty="0"/>
              <a:t>c</a:t>
            </a:r>
            <a:r>
              <a:rPr lang="ru-RU" dirty="0"/>
              <a:t>. В терминах грамматики это будет выглядеть следующим образом: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en-US" b="1" i="1" dirty="0" err="1"/>
              <a:t>I</a:t>
            </a:r>
            <a:r>
              <a:rPr lang="en-US" b="1" i="1" baseline="-25000" dirty="0" err="1"/>
              <a:t>a</a:t>
            </a:r>
            <a:r>
              <a:rPr lang="ru-RU" b="1" i="1" dirty="0"/>
              <a:t> + </a:t>
            </a:r>
            <a:r>
              <a:rPr lang="en-US" b="1" i="1" dirty="0" err="1"/>
              <a:t>I</a:t>
            </a:r>
            <a:r>
              <a:rPr lang="en-US" b="1" i="1" baseline="-25000" dirty="0" err="1"/>
              <a:t>b</a:t>
            </a:r>
            <a:r>
              <a:rPr lang="ru-RU" b="1" i="1" dirty="0"/>
              <a:t> * </a:t>
            </a:r>
            <a:r>
              <a:rPr lang="en-US" b="1" i="1" dirty="0" err="1"/>
              <a:t>I</a:t>
            </a:r>
            <a:r>
              <a:rPr lang="en-US" b="1" i="1" baseline="-25000" dirty="0" err="1"/>
              <a:t>c</a:t>
            </a:r>
            <a:r>
              <a:rPr lang="en-US" b="1" i="1" dirty="0"/>
              <a:t> </a:t>
            </a:r>
            <a:r>
              <a:rPr lang="ru-RU" dirty="0"/>
              <a:t>,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индексы задают значения соответствующих лексем.</a:t>
            </a:r>
          </a:p>
          <a:p>
            <a:r>
              <a:rPr lang="ru-RU" dirty="0"/>
              <a:t>	Для вывода данного предложения имеется два синтаксических </a:t>
            </a:r>
            <a:r>
              <a:rPr lang="ru-RU" dirty="0" smtClean="0"/>
              <a:t>дерева: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Синтаксические деревья</a:t>
            </a:r>
            <a:endParaRPr lang="ru-RU" sz="2800" dirty="0"/>
          </a:p>
        </p:txBody>
      </p:sp>
      <p:pic>
        <p:nvPicPr>
          <p:cNvPr id="4" name="Содержимое 3" descr="Рис_2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844824"/>
            <a:ext cx="8640960" cy="43924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Комментарий к рисунку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	Неоднозначность приводит к тому, что неясно, какая из операций выполняется первой: сложение или умножение.</a:t>
            </a:r>
          </a:p>
          <a:p>
            <a:r>
              <a:rPr lang="ru-RU" dirty="0"/>
              <a:t>	Следовательно, грамматика для реальных языков программирования должна быть однозначной. Позднее мы рассмотрим однозначную грамматику для арифметических выражений.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144</Words>
  <Application>Microsoft Office PowerPoint</Application>
  <PresentationFormat>Экран (4:3)</PresentationFormat>
  <Paragraphs>253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 ОСНОВЫ ПОСТРОЕНИЯ ТРАНСЛЯТОРОВ 1. УПРОЩЁННАЯ МОДЕЛЬ КОМПИЛЯТОРА </vt:lpstr>
      <vt:lpstr>Модель компилятора</vt:lpstr>
      <vt:lpstr>Три блока</vt:lpstr>
      <vt:lpstr>Лексический блок</vt:lpstr>
      <vt:lpstr>Синтаксический блок</vt:lpstr>
      <vt:lpstr>Генератор кода</vt:lpstr>
      <vt:lpstr>2. ФОРМАЛЬНЫЕ ГРАММАТИКИ И ЯЗЫКИ   2.1. Символы и цепочки </vt:lpstr>
      <vt:lpstr>Степень цепочки и степень алфавита</vt:lpstr>
      <vt:lpstr>Пример</vt:lpstr>
      <vt:lpstr>Итерация множества</vt:lpstr>
      <vt:lpstr>2.2. Формальные грамматики и языки </vt:lpstr>
      <vt:lpstr>Правила замены</vt:lpstr>
      <vt:lpstr>Пример</vt:lpstr>
      <vt:lpstr>Классификация грамматик</vt:lpstr>
      <vt:lpstr>Классификация грамматик  (продолжение)</vt:lpstr>
      <vt:lpstr>Вывод цепочек</vt:lpstr>
      <vt:lpstr>Сентенциальная форма</vt:lpstr>
      <vt:lpstr>Пример</vt:lpstr>
      <vt:lpstr>Основа сентенциальной формы</vt:lpstr>
      <vt:lpstr>Пример</vt:lpstr>
      <vt:lpstr>2.3. Синтаксические деревья </vt:lpstr>
      <vt:lpstr>Синтаксическое дерево</vt:lpstr>
      <vt:lpstr>Правый и левый выводы</vt:lpstr>
      <vt:lpstr>Пример</vt:lpstr>
      <vt:lpstr>Синтаксические деревья</vt:lpstr>
      <vt:lpstr>Комментарий к рисунку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УПРОЩЁННАЯ МОДЕЛЬ КОМПИЛЯТОРА </dc:title>
  <dc:creator>Князев А.В.</dc:creator>
  <cp:lastModifiedBy>Князев А.В.</cp:lastModifiedBy>
  <cp:revision>71</cp:revision>
  <dcterms:created xsi:type="dcterms:W3CDTF">2020-08-30T11:20:12Z</dcterms:created>
  <dcterms:modified xsi:type="dcterms:W3CDTF">2020-09-02T07:39:49Z</dcterms:modified>
</cp:coreProperties>
</file>