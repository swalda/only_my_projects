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9" r:id="rId2"/>
    <p:sldId id="300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5" autoAdjust="0"/>
    <p:restoredTop sz="94660"/>
  </p:normalViewPr>
  <p:slideViewPr>
    <p:cSldViewPr>
      <p:cViewPr varScale="1">
        <p:scale>
          <a:sx n="69" d="100"/>
          <a:sy n="69" d="100"/>
        </p:scale>
        <p:origin x="-52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EA46-AB13-4AE7-8DBE-058BFF10659A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FEA46-AB13-4AE7-8DBE-058BFF10659A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76EC4B-6DA9-49A9-87D0-6ACE28BA27F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20688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Конечный автомат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760640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/>
              <a:t>	Приведём определение конечного автомата.</a:t>
            </a:r>
          </a:p>
          <a:p>
            <a:r>
              <a:rPr lang="ru-RU" dirty="0" smtClean="0"/>
              <a:t>	</a:t>
            </a:r>
            <a:r>
              <a:rPr lang="ru-RU" i="1" dirty="0" smtClean="0"/>
              <a:t>Детерминированный конечный автомат </a:t>
            </a:r>
            <a:r>
              <a:rPr lang="ru-RU" dirty="0" smtClean="0"/>
              <a:t>– это пятёрка  </a:t>
            </a:r>
          </a:p>
          <a:p>
            <a:r>
              <a:rPr lang="en-US" b="1" i="1" dirty="0" smtClean="0"/>
              <a:t>KA</a:t>
            </a:r>
            <a:r>
              <a:rPr lang="ru-RU" b="1" i="1" dirty="0" smtClean="0"/>
              <a:t> = &lt;</a:t>
            </a:r>
            <a:r>
              <a:rPr lang="en-US" b="1" i="1" dirty="0" smtClean="0"/>
              <a:t>K</a:t>
            </a:r>
            <a:r>
              <a:rPr lang="ru-RU" b="1" i="1" dirty="0" smtClean="0"/>
              <a:t>,</a:t>
            </a:r>
            <a:r>
              <a:rPr lang="en-US" b="1" i="1" dirty="0" smtClean="0"/>
              <a:t>T</a:t>
            </a:r>
            <a:r>
              <a:rPr lang="ru-RU" b="1" i="1" dirty="0" smtClean="0"/>
              <a:t>,</a:t>
            </a:r>
            <a:r>
              <a:rPr lang="en-US" b="1" i="1" dirty="0" smtClean="0"/>
              <a:t>M</a:t>
            </a:r>
            <a:r>
              <a:rPr lang="ru-RU" b="1" i="1" dirty="0" smtClean="0"/>
              <a:t>,</a:t>
            </a:r>
            <a:r>
              <a:rPr lang="en-US" b="1" i="1" dirty="0" smtClean="0"/>
              <a:t>S</a:t>
            </a:r>
            <a:r>
              <a:rPr lang="ru-RU" b="1" i="1" dirty="0" smtClean="0"/>
              <a:t>,</a:t>
            </a:r>
            <a:r>
              <a:rPr lang="en-US" b="1" i="1" dirty="0" smtClean="0"/>
              <a:t>Z</a:t>
            </a:r>
            <a:r>
              <a:rPr lang="ru-RU" b="1" i="1" dirty="0" smtClean="0"/>
              <a:t>&gt; , </a:t>
            </a:r>
            <a:r>
              <a:rPr lang="ru-RU" dirty="0" smtClean="0"/>
              <a:t>   где</a:t>
            </a:r>
          </a:p>
          <a:p>
            <a:r>
              <a:rPr lang="en-US" b="1" i="1" dirty="0" smtClean="0"/>
              <a:t>K</a:t>
            </a:r>
            <a:r>
              <a:rPr lang="ru-RU" dirty="0" smtClean="0"/>
              <a:t> – конечное множество состояний (конечный алфавит состояний),</a:t>
            </a:r>
          </a:p>
          <a:p>
            <a:r>
              <a:rPr lang="en-US" b="1" i="1" dirty="0" smtClean="0"/>
              <a:t>T</a:t>
            </a:r>
            <a:r>
              <a:rPr lang="ru-RU" dirty="0" smtClean="0"/>
              <a:t> – конечный входной алфавит,</a:t>
            </a:r>
          </a:p>
          <a:p>
            <a:r>
              <a:rPr lang="en-US" b="1" i="1" dirty="0" smtClean="0"/>
              <a:t>M</a:t>
            </a:r>
            <a:r>
              <a:rPr lang="ru-RU" dirty="0" smtClean="0"/>
              <a:t> – функция переходов,</a:t>
            </a:r>
          </a:p>
          <a:p>
            <a:r>
              <a:rPr lang="en-US" b="1" i="1" dirty="0" smtClean="0"/>
              <a:t>S</a:t>
            </a:r>
            <a:r>
              <a:rPr lang="en-US" dirty="0" smtClean="0"/>
              <a:t> </a:t>
            </a:r>
            <a:r>
              <a:rPr lang="ru-RU" dirty="0" smtClean="0"/>
              <a:t>– начальный символ грамматики (</a:t>
            </a:r>
            <a:r>
              <a:rPr lang="en-US" b="1" i="1" dirty="0" smtClean="0"/>
              <a:t>S</a:t>
            </a:r>
            <a:r>
              <a:rPr lang="ru-RU" b="1" i="1" dirty="0" smtClean="0"/>
              <a:t>  </a:t>
            </a:r>
            <a:r>
              <a:rPr lang="ru-RU" dirty="0" smtClean="0"/>
              <a:t>принадлежит</a:t>
            </a:r>
            <a:r>
              <a:rPr lang="ru-RU" b="1" i="1" dirty="0" smtClean="0"/>
              <a:t>  </a:t>
            </a:r>
            <a:r>
              <a:rPr lang="en-US" b="1" i="1" dirty="0" smtClean="0"/>
              <a:t>K</a:t>
            </a:r>
            <a:r>
              <a:rPr lang="ru-RU" dirty="0" smtClean="0"/>
              <a:t>),</a:t>
            </a:r>
          </a:p>
          <a:p>
            <a:r>
              <a:rPr lang="en-US" b="1" i="1" dirty="0" smtClean="0"/>
              <a:t>Z</a:t>
            </a:r>
            <a:r>
              <a:rPr lang="ru-RU" dirty="0" smtClean="0"/>
              <a:t> - непустое множество заключительных состояний (</a:t>
            </a:r>
            <a:r>
              <a:rPr lang="en-US" b="1" i="1" dirty="0" smtClean="0"/>
              <a:t>Z</a:t>
            </a:r>
            <a:r>
              <a:rPr lang="ru-RU" b="1" i="1" dirty="0" smtClean="0"/>
              <a:t>  -  </a:t>
            </a:r>
            <a:r>
              <a:rPr lang="ru-RU" dirty="0" smtClean="0"/>
              <a:t>это </a:t>
            </a:r>
          </a:p>
          <a:p>
            <a:r>
              <a:rPr lang="ru-RU" dirty="0" smtClean="0"/>
              <a:t>                    подмножество</a:t>
            </a:r>
            <a:r>
              <a:rPr lang="en-US" b="1" i="1" dirty="0" smtClean="0"/>
              <a:t> K</a:t>
            </a:r>
            <a:r>
              <a:rPr lang="ru-RU" b="1" i="1" dirty="0" smtClean="0"/>
              <a:t>).</a:t>
            </a:r>
            <a:endParaRPr lang="ru-RU" dirty="0" smtClean="0"/>
          </a:p>
          <a:p>
            <a:r>
              <a:rPr lang="ru-RU" dirty="0" smtClean="0"/>
              <a:t>	Со входной цепочкой  </a:t>
            </a:r>
            <a:r>
              <a:rPr lang="en-US" b="1" i="1" dirty="0" smtClean="0"/>
              <a:t>t</a:t>
            </a:r>
            <a:r>
              <a:rPr lang="en-US" dirty="0" smtClean="0"/>
              <a:t>  </a:t>
            </a:r>
            <a:r>
              <a:rPr lang="ru-RU" dirty="0" smtClean="0"/>
              <a:t>конечный автомат работает следующим образом:</a:t>
            </a:r>
          </a:p>
          <a:p>
            <a:r>
              <a:rPr lang="ru-RU" dirty="0" smtClean="0"/>
              <a:t>	</a:t>
            </a:r>
            <a:r>
              <a:rPr lang="en-US" b="1" i="1" dirty="0" smtClean="0"/>
              <a:t>M</a:t>
            </a:r>
            <a:r>
              <a:rPr lang="ru-RU" b="1" i="1" dirty="0" smtClean="0"/>
              <a:t>(</a:t>
            </a:r>
            <a:r>
              <a:rPr lang="en-US" b="1" i="1" dirty="0" smtClean="0"/>
              <a:t>Q</a:t>
            </a:r>
            <a:r>
              <a:rPr lang="ru-RU" b="1" i="1" dirty="0" smtClean="0"/>
              <a:t>,</a:t>
            </a:r>
            <a:r>
              <a:rPr lang="el-GR" sz="3800" b="1" i="1" dirty="0" smtClean="0"/>
              <a:t>ε</a:t>
            </a:r>
            <a:r>
              <a:rPr lang="ru-RU" b="1" i="1" dirty="0" smtClean="0"/>
              <a:t>) = </a:t>
            </a:r>
            <a:r>
              <a:rPr lang="en-US" b="1" i="1" dirty="0" smtClean="0"/>
              <a:t>Q</a:t>
            </a:r>
            <a:r>
              <a:rPr lang="ru-RU" dirty="0" smtClean="0"/>
              <a:t>   при любом состоянии  </a:t>
            </a:r>
            <a:r>
              <a:rPr lang="en-US" b="1" i="1" dirty="0" smtClean="0"/>
              <a:t>Q</a:t>
            </a:r>
            <a:r>
              <a:rPr lang="ru-RU" dirty="0" smtClean="0"/>
              <a:t>,</a:t>
            </a:r>
          </a:p>
          <a:p>
            <a:r>
              <a:rPr lang="ru-RU" dirty="0" smtClean="0"/>
              <a:t>	</a:t>
            </a:r>
            <a:r>
              <a:rPr lang="en-US" b="1" i="1" dirty="0" smtClean="0"/>
              <a:t>M(</a:t>
            </a:r>
            <a:r>
              <a:rPr lang="en-US" b="1" i="1" dirty="0" err="1" smtClean="0"/>
              <a:t>Q,at</a:t>
            </a:r>
            <a:r>
              <a:rPr lang="en-US" b="1" i="1" dirty="0" smtClean="0"/>
              <a:t>) = M(M(</a:t>
            </a:r>
            <a:r>
              <a:rPr lang="en-US" b="1" i="1" dirty="0" err="1" smtClean="0"/>
              <a:t>Q,a</a:t>
            </a:r>
            <a:r>
              <a:rPr lang="en-US" b="1" i="1" dirty="0" smtClean="0"/>
              <a:t>),t)  </a:t>
            </a:r>
            <a:r>
              <a:rPr lang="ru-RU" dirty="0" smtClean="0"/>
              <a:t>где </a:t>
            </a:r>
            <a:r>
              <a:rPr lang="en-US" b="1" i="1" dirty="0" smtClean="0"/>
              <a:t>a</a:t>
            </a:r>
            <a:r>
              <a:rPr lang="ru-RU" b="1" i="1" dirty="0" smtClean="0"/>
              <a:t> </a:t>
            </a:r>
            <a:r>
              <a:rPr lang="ru-RU" dirty="0" smtClean="0"/>
              <a:t>принадлежит</a:t>
            </a:r>
            <a:r>
              <a:rPr lang="en-US" b="1" i="1" dirty="0" smtClean="0"/>
              <a:t> T, t</a:t>
            </a:r>
            <a:r>
              <a:rPr lang="ru-RU" b="1" i="1" dirty="0" smtClean="0"/>
              <a:t> </a:t>
            </a:r>
            <a:r>
              <a:rPr lang="ru-RU" dirty="0" smtClean="0"/>
              <a:t>принадлежит </a:t>
            </a:r>
            <a:r>
              <a:rPr lang="en-US" b="1" i="1" dirty="0" smtClean="0"/>
              <a:t>T</a:t>
            </a:r>
            <a:r>
              <a:rPr lang="en-US" b="1" i="1" baseline="30000" dirty="0" smtClean="0"/>
              <a:t>*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ru-RU" dirty="0" smtClean="0"/>
              <a:t>	</a:t>
            </a:r>
          </a:p>
          <a:p>
            <a:r>
              <a:rPr lang="ru-RU" dirty="0" smtClean="0"/>
              <a:t>Говорят, что конечный автомат </a:t>
            </a:r>
            <a:r>
              <a:rPr lang="ru-RU" i="1" dirty="0" smtClean="0"/>
              <a:t>допускает</a:t>
            </a:r>
            <a:r>
              <a:rPr lang="ru-RU" dirty="0" smtClean="0"/>
              <a:t> (</a:t>
            </a:r>
            <a:r>
              <a:rPr lang="ru-RU" i="1" dirty="0" smtClean="0"/>
              <a:t>принимает</a:t>
            </a:r>
            <a:r>
              <a:rPr lang="ru-RU" dirty="0" smtClean="0"/>
              <a:t>) цепочку  </a:t>
            </a:r>
            <a:r>
              <a:rPr lang="en-US" b="1" i="1" dirty="0" smtClean="0"/>
              <a:t>t</a:t>
            </a:r>
            <a:r>
              <a:rPr lang="ru-RU" dirty="0" smtClean="0"/>
              <a:t> (т.е. цепочка  </a:t>
            </a:r>
            <a:r>
              <a:rPr lang="en-US" b="1" i="1" dirty="0" smtClean="0"/>
              <a:t>t</a:t>
            </a:r>
            <a:r>
              <a:rPr lang="ru-RU" dirty="0" smtClean="0"/>
              <a:t> считается </a:t>
            </a:r>
            <a:r>
              <a:rPr lang="ru-RU" i="1" dirty="0" smtClean="0"/>
              <a:t>допустимой</a:t>
            </a:r>
            <a:r>
              <a:rPr lang="ru-RU" dirty="0" smtClean="0"/>
              <a:t>), если  </a:t>
            </a:r>
            <a:r>
              <a:rPr lang="en-US" b="1" i="1" dirty="0" smtClean="0"/>
              <a:t>M</a:t>
            </a:r>
            <a:r>
              <a:rPr lang="ru-RU" b="1" i="1" dirty="0" smtClean="0"/>
              <a:t>(</a:t>
            </a:r>
            <a:r>
              <a:rPr lang="en-US" b="1" i="1" dirty="0" smtClean="0"/>
              <a:t>S</a:t>
            </a:r>
            <a:r>
              <a:rPr lang="ru-RU" b="1" i="1" dirty="0" smtClean="0"/>
              <a:t>,</a:t>
            </a:r>
            <a:r>
              <a:rPr lang="en-US" b="1" i="1" dirty="0" smtClean="0"/>
              <a:t>t</a:t>
            </a:r>
            <a:r>
              <a:rPr lang="ru-RU" b="1" i="1" dirty="0" smtClean="0"/>
              <a:t>) = </a:t>
            </a:r>
            <a:r>
              <a:rPr lang="en-US" b="1" i="1" dirty="0" smtClean="0"/>
              <a:t>P</a:t>
            </a:r>
            <a:r>
              <a:rPr lang="ru-RU" dirty="0" smtClean="0"/>
              <a:t>, где</a:t>
            </a:r>
            <a:r>
              <a:rPr lang="ru-RU" b="1" i="1" dirty="0" smtClean="0"/>
              <a:t>  </a:t>
            </a:r>
            <a:r>
              <a:rPr lang="en-US" b="1" i="1" dirty="0" smtClean="0"/>
              <a:t>P</a:t>
            </a:r>
            <a:r>
              <a:rPr lang="ru-RU" b="1" i="1" dirty="0" smtClean="0"/>
              <a:t> </a:t>
            </a:r>
            <a:r>
              <a:rPr lang="ru-RU" dirty="0" smtClean="0"/>
              <a:t>принадлежит</a:t>
            </a:r>
            <a:r>
              <a:rPr lang="ru-RU" b="1" i="1" dirty="0" smtClean="0"/>
              <a:t> </a:t>
            </a:r>
            <a:r>
              <a:rPr lang="en-US" b="1" i="1" dirty="0" smtClean="0"/>
              <a:t>Z</a:t>
            </a:r>
            <a:r>
              <a:rPr lang="ru-RU" dirty="0" smtClean="0"/>
              <a:t>.</a:t>
            </a:r>
          </a:p>
          <a:p>
            <a:r>
              <a:rPr lang="ru-RU" dirty="0" smtClean="0"/>
              <a:t>	Рассмотренные автоматы называются детерминированными, поскольку на каждом шаге входной символ однозначно определяет следующее состояние автомата.</a:t>
            </a:r>
          </a:p>
          <a:p>
            <a:r>
              <a:rPr lang="ru-RU" dirty="0" smtClean="0"/>
              <a:t>	Конечный автомат может задаваться матрицей переходов, списками переходов или графом переходов.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Конечный автомат для заданной грамматики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752528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	Для каждой регулярной грамматики можно построить конечный автомат, принимающий предложения этой грамматики. Конечный автомат, принимающий предложения заданной грамматики, строится следующим образом.</a:t>
            </a:r>
          </a:p>
          <a:p>
            <a:r>
              <a:rPr lang="ru-RU" dirty="0" smtClean="0"/>
              <a:t>	Множество состояний этого автомата – это множество </a:t>
            </a:r>
            <a:r>
              <a:rPr lang="ru-RU" dirty="0" err="1" smtClean="0"/>
              <a:t>нетерминалов</a:t>
            </a:r>
            <a:r>
              <a:rPr lang="ru-RU" dirty="0" smtClean="0"/>
              <a:t> </a:t>
            </a:r>
            <a:r>
              <a:rPr lang="en-US" b="1" i="1" dirty="0" smtClean="0"/>
              <a:t>N </a:t>
            </a:r>
            <a:r>
              <a:rPr lang="ru-RU" dirty="0" smtClean="0"/>
              <a:t>грамматики,  дополненное начальным состоянием автомата. Множество входных символов автомата – это множество терминальных символов грамматики. Функция переходов задаётся графом переходов, который строится следующим образом: каждому правилу вида  </a:t>
            </a:r>
            <a:r>
              <a:rPr lang="en-US" b="1" i="1" dirty="0" smtClean="0"/>
              <a:t>A </a:t>
            </a:r>
            <a:r>
              <a:rPr lang="en-US" b="1" i="1" dirty="0" smtClean="0">
                <a:sym typeface="Wingdings"/>
              </a:rPr>
              <a:t></a:t>
            </a:r>
            <a:r>
              <a:rPr lang="en-US" b="1" i="1" dirty="0" smtClean="0"/>
              <a:t>  a</a:t>
            </a:r>
            <a:r>
              <a:rPr lang="ru-RU" dirty="0" smtClean="0"/>
              <a:t>  сопоставляется дуга с пометкой  </a:t>
            </a:r>
            <a:r>
              <a:rPr lang="en-US" b="1" i="1" dirty="0" smtClean="0"/>
              <a:t>a</a:t>
            </a:r>
            <a:r>
              <a:rPr lang="ru-RU" dirty="0" smtClean="0"/>
              <a:t>, направленная от начального состояния к состоянию   </a:t>
            </a:r>
            <a:r>
              <a:rPr lang="en-US" b="1" i="1" dirty="0" smtClean="0"/>
              <a:t>A</a:t>
            </a:r>
            <a:r>
              <a:rPr lang="ru-RU" dirty="0" smtClean="0"/>
              <a:t>; каждому правилу вида  </a:t>
            </a:r>
            <a:r>
              <a:rPr lang="en-US" b="1" i="1" dirty="0" smtClean="0"/>
              <a:t>A </a:t>
            </a:r>
            <a:r>
              <a:rPr lang="en-US" b="1" i="1" dirty="0" smtClean="0">
                <a:sym typeface="Wingdings"/>
              </a:rPr>
              <a:t></a:t>
            </a:r>
            <a:r>
              <a:rPr lang="ru-RU" b="1" i="1" dirty="0" smtClean="0"/>
              <a:t>  </a:t>
            </a:r>
            <a:r>
              <a:rPr lang="en-US" b="1" i="1" dirty="0" err="1" smtClean="0"/>
              <a:t>Ba</a:t>
            </a:r>
            <a:r>
              <a:rPr lang="ru-RU" dirty="0" smtClean="0"/>
              <a:t>  сопоставляется дуга с пометкой  </a:t>
            </a:r>
            <a:r>
              <a:rPr lang="en-US" b="1" i="1" dirty="0" smtClean="0"/>
              <a:t>a</a:t>
            </a:r>
            <a:r>
              <a:rPr lang="ru-RU" dirty="0" smtClean="0"/>
              <a:t>, направленная от состояния  </a:t>
            </a:r>
            <a:r>
              <a:rPr lang="en-US" b="1" i="1" dirty="0" smtClean="0"/>
              <a:t>B </a:t>
            </a:r>
            <a:r>
              <a:rPr lang="ru-RU" dirty="0" smtClean="0"/>
              <a:t> к состоянию  </a:t>
            </a:r>
            <a:r>
              <a:rPr lang="en-US" b="1" i="1" dirty="0" smtClean="0"/>
              <a:t>A</a:t>
            </a:r>
            <a:r>
              <a:rPr lang="ru-RU" dirty="0" smtClean="0"/>
              <a:t>. В качестве заключительного (допустимого) состояния автомата обычно выступает состояние, соответствующее начальному символу грамматики. Часто добавляется состояние ошибки, соответствующее неправильной цепочке.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Пример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0560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	Рассмотрим следующий пример.</a:t>
            </a:r>
          </a:p>
          <a:p>
            <a:r>
              <a:rPr lang="ru-RU" dirty="0" smtClean="0"/>
              <a:t>	</a:t>
            </a:r>
          </a:p>
          <a:p>
            <a:r>
              <a:rPr lang="ru-RU" dirty="0" smtClean="0"/>
              <a:t>	Построим автомат, распознающий предложения следующей грамматики:</a:t>
            </a:r>
          </a:p>
          <a:p>
            <a:r>
              <a:rPr lang="en-US" b="1" i="1" dirty="0" smtClean="0"/>
              <a:t>	G = &lt; {Q,R,Z}, {</a:t>
            </a:r>
            <a:r>
              <a:rPr lang="en-US" b="1" i="1" dirty="0" err="1" smtClean="0"/>
              <a:t>a,b</a:t>
            </a:r>
            <a:r>
              <a:rPr lang="en-US" b="1" i="1" dirty="0" smtClean="0"/>
              <a:t>}, P, Z &gt;</a:t>
            </a:r>
            <a:endParaRPr lang="ru-RU" dirty="0" smtClean="0"/>
          </a:p>
          <a:p>
            <a:r>
              <a:rPr lang="en-US" b="1" i="1" dirty="0" smtClean="0"/>
              <a:t>	P:</a:t>
            </a:r>
            <a:endParaRPr lang="ru-RU" dirty="0" smtClean="0"/>
          </a:p>
          <a:p>
            <a:r>
              <a:rPr lang="en-US" b="1" i="1" dirty="0" smtClean="0"/>
              <a:t>	Z </a:t>
            </a:r>
            <a:r>
              <a:rPr lang="en-US" b="1" i="1" dirty="0" smtClean="0">
                <a:sym typeface="Wingdings"/>
              </a:rPr>
              <a:t></a:t>
            </a:r>
            <a:r>
              <a:rPr lang="en-US" b="1" i="1" dirty="0" smtClean="0"/>
              <a:t> </a:t>
            </a:r>
            <a:r>
              <a:rPr lang="en-US" b="1" i="1" dirty="0" err="1" smtClean="0"/>
              <a:t>Qb</a:t>
            </a:r>
            <a:r>
              <a:rPr lang="en-US" b="1" i="1" dirty="0" smtClean="0"/>
              <a:t> | Ra</a:t>
            </a:r>
            <a:endParaRPr lang="ru-RU" dirty="0" smtClean="0"/>
          </a:p>
          <a:p>
            <a:r>
              <a:rPr lang="en-US" b="1" i="1" dirty="0" smtClean="0"/>
              <a:t>	Q </a:t>
            </a:r>
            <a:r>
              <a:rPr lang="en-US" b="1" i="1" dirty="0" smtClean="0">
                <a:sym typeface="Wingdings"/>
              </a:rPr>
              <a:t></a:t>
            </a:r>
            <a:r>
              <a:rPr lang="en-US" b="1" i="1" dirty="0" smtClean="0"/>
              <a:t> </a:t>
            </a:r>
            <a:r>
              <a:rPr lang="en-US" b="1" i="1" dirty="0" err="1" smtClean="0"/>
              <a:t>Zb</a:t>
            </a:r>
            <a:r>
              <a:rPr lang="en-US" b="1" i="1" dirty="0" smtClean="0"/>
              <a:t> | b</a:t>
            </a:r>
            <a:endParaRPr lang="ru-RU" dirty="0" smtClean="0"/>
          </a:p>
          <a:p>
            <a:r>
              <a:rPr lang="en-US" b="1" i="1" dirty="0" smtClean="0"/>
              <a:t>	R </a:t>
            </a:r>
            <a:r>
              <a:rPr lang="en-US" b="1" i="1" dirty="0" smtClean="0">
                <a:sym typeface="Wingdings"/>
              </a:rPr>
              <a:t></a:t>
            </a:r>
            <a:r>
              <a:rPr lang="en-US" b="1" i="1" dirty="0" smtClean="0"/>
              <a:t> </a:t>
            </a:r>
            <a:r>
              <a:rPr lang="en-US" b="1" i="1" dirty="0" err="1" smtClean="0"/>
              <a:t>Za</a:t>
            </a:r>
            <a:r>
              <a:rPr lang="en-US" b="1" i="1" dirty="0" smtClean="0"/>
              <a:t> | a</a:t>
            </a:r>
            <a:endParaRPr lang="ru-RU" dirty="0" smtClean="0"/>
          </a:p>
          <a:p>
            <a:r>
              <a:rPr lang="en-US" b="1" i="1" dirty="0" smtClean="0"/>
              <a:t> </a:t>
            </a:r>
            <a:endParaRPr lang="ru-RU" dirty="0" smtClean="0"/>
          </a:p>
          <a:p>
            <a:r>
              <a:rPr lang="ru-RU" dirty="0" smtClean="0"/>
              <a:t>Грамматика порождает предложения, в которых терминальные символы  </a:t>
            </a:r>
            <a:r>
              <a:rPr lang="en-US" b="1" i="1" dirty="0" smtClean="0"/>
              <a:t>a</a:t>
            </a:r>
            <a:r>
              <a:rPr lang="ru-RU" dirty="0" smtClean="0"/>
              <a:t>  и</a:t>
            </a:r>
            <a:r>
              <a:rPr lang="ru-RU" b="1" i="1" dirty="0" smtClean="0"/>
              <a:t>  </a:t>
            </a:r>
            <a:r>
              <a:rPr lang="en-US" b="1" i="1" dirty="0" smtClean="0"/>
              <a:t>b </a:t>
            </a:r>
            <a:r>
              <a:rPr lang="ru-RU" dirty="0" smtClean="0"/>
              <a:t> встречаются парами, например  </a:t>
            </a:r>
            <a:r>
              <a:rPr lang="en-US" b="1" i="1" dirty="0" err="1" smtClean="0"/>
              <a:t>aabbbbaa</a:t>
            </a:r>
            <a:r>
              <a:rPr lang="ru-RU" dirty="0" smtClean="0"/>
              <a:t>.</a:t>
            </a:r>
          </a:p>
          <a:p>
            <a:r>
              <a:rPr lang="ru-RU" dirty="0" smtClean="0"/>
              <a:t>	Построим конечный автомат для распознавания предложений данной грамматики. Множество состояний этого автомата  </a:t>
            </a:r>
            <a:r>
              <a:rPr lang="ru-RU" b="1" i="1" dirty="0" smtClean="0"/>
              <a:t>{</a:t>
            </a:r>
            <a:r>
              <a:rPr lang="en-US" b="1" i="1" dirty="0" smtClean="0"/>
              <a:t>Q</a:t>
            </a:r>
            <a:r>
              <a:rPr lang="ru-RU" b="1" i="1" dirty="0" smtClean="0"/>
              <a:t>,</a:t>
            </a:r>
            <a:r>
              <a:rPr lang="en-US" b="1" i="1" dirty="0" smtClean="0"/>
              <a:t>R</a:t>
            </a:r>
            <a:r>
              <a:rPr lang="ru-RU" b="1" i="1" dirty="0" smtClean="0"/>
              <a:t>,</a:t>
            </a:r>
            <a:r>
              <a:rPr lang="en-US" b="1" i="1" dirty="0" smtClean="0"/>
              <a:t>Z</a:t>
            </a:r>
            <a:r>
              <a:rPr lang="ru-RU" b="1" i="1" dirty="0" smtClean="0"/>
              <a:t>,</a:t>
            </a:r>
            <a:r>
              <a:rPr lang="en-US" b="1" i="1" dirty="0" smtClean="0"/>
              <a:t>S</a:t>
            </a:r>
            <a:r>
              <a:rPr lang="ru-RU" b="1" i="1" dirty="0" smtClean="0"/>
              <a:t>}</a:t>
            </a:r>
            <a:r>
              <a:rPr lang="ru-RU" dirty="0" smtClean="0"/>
              <a:t>,  входной алфавит  </a:t>
            </a:r>
            <a:r>
              <a:rPr lang="ru-RU" b="1" i="1" dirty="0" smtClean="0"/>
              <a:t>{</a:t>
            </a:r>
            <a:r>
              <a:rPr lang="en-US" b="1" i="1" dirty="0" smtClean="0"/>
              <a:t>a</a:t>
            </a:r>
            <a:r>
              <a:rPr lang="ru-RU" b="1" i="1" dirty="0" smtClean="0"/>
              <a:t>,</a:t>
            </a:r>
            <a:r>
              <a:rPr lang="en-US" b="1" i="1" dirty="0" smtClean="0"/>
              <a:t>b</a:t>
            </a:r>
            <a:r>
              <a:rPr lang="ru-RU" b="1" i="1" dirty="0" smtClean="0"/>
              <a:t>}</a:t>
            </a:r>
            <a:r>
              <a:rPr lang="ru-RU" dirty="0" smtClean="0"/>
              <a:t>.  Граф переходов автомата будет выглядеть следующим </a:t>
            </a:r>
            <a:r>
              <a:rPr lang="ru-RU" dirty="0" smtClean="0"/>
              <a:t>образом: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Пример (продолжение)</a:t>
            </a:r>
            <a:endParaRPr lang="ru-RU" sz="2400" dirty="0"/>
          </a:p>
        </p:txBody>
      </p:sp>
      <p:pic>
        <p:nvPicPr>
          <p:cNvPr id="4" name="Содержимое 3" descr="Рис_3_3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9552" y="1412776"/>
            <a:ext cx="7920879" cy="468052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Пример (продолжение)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0560"/>
          </a:xfrm>
        </p:spPr>
        <p:txBody>
          <a:bodyPr/>
          <a:lstStyle/>
          <a:p>
            <a:r>
              <a:rPr lang="ru-RU" sz="2400" dirty="0" smtClean="0"/>
              <a:t>Рассмотрим распознавание цепочки  </a:t>
            </a:r>
            <a:r>
              <a:rPr lang="en-US" sz="2400" b="1" i="1" dirty="0" err="1" smtClean="0"/>
              <a:t>bbaabb</a:t>
            </a:r>
            <a:r>
              <a:rPr lang="ru-RU" sz="2400" dirty="0" smtClean="0"/>
              <a:t>  с помощью построенного автомата. Процесс распознавания приведён в таблице </a:t>
            </a:r>
            <a:r>
              <a:rPr lang="ru-RU" dirty="0" smtClean="0"/>
              <a:t> </a:t>
            </a:r>
          </a:p>
          <a:p>
            <a:pPr>
              <a:buNone/>
            </a:pP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524000" y="3212976"/>
          <a:ext cx="6096000" cy="288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61942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  <a:cs typeface="Times New Roman"/>
                        </a:rPr>
                        <a:t>Шаг</a:t>
                      </a:r>
                      <a:endParaRPr lang="ru-RU" sz="2000" dirty="0">
                        <a:latin typeface="Courier Ne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  <a:cs typeface="Times New Roman"/>
                        </a:rPr>
                        <a:t>Текущее состояние</a:t>
                      </a:r>
                      <a:endParaRPr lang="ru-RU" sz="2000" dirty="0">
                        <a:latin typeface="Courier Ne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  <a:cs typeface="Times New Roman"/>
                        </a:rPr>
                        <a:t>Остаток цепочки</a:t>
                      </a:r>
                      <a:endParaRPr lang="ru-RU" sz="2000" dirty="0">
                        <a:latin typeface="Courier Ne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260897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  <a:cs typeface="Times New Roman"/>
                        </a:rPr>
                        <a:t>bbaabb</a:t>
                      </a:r>
                      <a:endParaRPr lang="ru-RU" sz="2000" dirty="0">
                        <a:latin typeface="Courier New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  <a:cs typeface="Times New Roman"/>
                        </a:rPr>
                        <a:t>baabb</a:t>
                      </a:r>
                      <a:endParaRPr lang="ru-RU" sz="2000" dirty="0">
                        <a:latin typeface="Courier New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  <a:cs typeface="Times New Roman"/>
                        </a:rPr>
                        <a:t>aabb</a:t>
                      </a:r>
                      <a:endParaRPr lang="ru-RU" sz="2000" dirty="0">
                        <a:latin typeface="Courier New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  <a:cs typeface="Times New Roman"/>
                        </a:rPr>
                        <a:t>abb</a:t>
                      </a:r>
                      <a:endParaRPr lang="ru-RU" sz="2000" dirty="0">
                        <a:latin typeface="Courier New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bb</a:t>
                      </a:r>
                      <a:endParaRPr lang="ru-RU" sz="2000" dirty="0">
                        <a:latin typeface="Courier New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b</a:t>
                      </a:r>
                      <a:endParaRPr lang="ru-RU" sz="2000" dirty="0">
                        <a:latin typeface="Courier New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Symbol"/>
                          <a:ea typeface="Times New Roman"/>
                          <a:cs typeface="Times New Roman"/>
                        </a:rPr>
                        <a:t>L</a:t>
                      </a:r>
                      <a:endParaRPr lang="ru-RU" sz="2000" dirty="0">
                        <a:latin typeface="Courier Ne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Дерево процесса </a:t>
            </a:r>
            <a:r>
              <a:rPr lang="ru-RU" sz="2400" dirty="0" smtClean="0"/>
              <a:t>распознавания</a:t>
            </a:r>
            <a:endParaRPr lang="ru-RU" sz="2400" dirty="0"/>
          </a:p>
        </p:txBody>
      </p:sp>
      <p:pic>
        <p:nvPicPr>
          <p:cNvPr id="4" name="Содержимое 3" descr="Рис_3_4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15616" y="1124744"/>
            <a:ext cx="6696743" cy="5328592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Состояние ошибки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72815"/>
            <a:ext cx="8229600" cy="4536505"/>
          </a:xfrm>
        </p:spPr>
        <p:txBody>
          <a:bodyPr>
            <a:normAutofit fontScale="85000" lnSpcReduction="20000"/>
          </a:bodyPr>
          <a:lstStyle/>
          <a:p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	Иногда в число заключительных состояний вводят специальное состояние “ошибки”, соответствующее недопустимой цепочке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Два заключительных состояния</a:t>
            </a:r>
            <a:endParaRPr lang="ru-RU" sz="2800" dirty="0"/>
          </a:p>
        </p:txBody>
      </p:sp>
      <p:pic>
        <p:nvPicPr>
          <p:cNvPr id="4" name="Содержимое 3" descr="Рис_3_5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55576" y="1772816"/>
            <a:ext cx="7560840" cy="4464496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92088"/>
          </a:xfrm>
        </p:spPr>
        <p:txBody>
          <a:bodyPr>
            <a:normAutofit fontScale="90000"/>
          </a:bodyPr>
          <a:lstStyle/>
          <a:p>
            <a:r>
              <a:rPr lang="ru-RU" sz="2800" b="1" dirty="0" smtClean="0"/>
              <a:t/>
            </a:r>
            <a:br>
              <a:rPr lang="ru-RU" sz="2800" b="1" dirty="0" smtClean="0"/>
            </a:br>
            <a:r>
              <a:rPr lang="ru-RU" sz="2700" b="1" dirty="0" smtClean="0"/>
              <a:t>3.3</a:t>
            </a:r>
            <a:r>
              <a:rPr lang="ru-RU" sz="2700" b="1" dirty="0" smtClean="0"/>
              <a:t>. Проектирование сканера</a:t>
            </a:r>
            <a:br>
              <a:rPr lang="ru-RU" sz="2700" b="1" dirty="0" smtClean="0"/>
            </a:br>
            <a:endParaRPr lang="ru-RU" sz="27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04056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	Рассмотрим ограниченный набор символов (лексем), описываемых следующей грамматикой:</a:t>
            </a:r>
          </a:p>
          <a:p>
            <a:r>
              <a:rPr lang="en-US" b="1" i="1" dirty="0" smtClean="0"/>
              <a:t>	&lt;Id&gt; ::= l | &lt;Id&gt;l | &lt;Id&gt;d</a:t>
            </a:r>
            <a:endParaRPr lang="ru-RU" dirty="0" smtClean="0"/>
          </a:p>
          <a:p>
            <a:r>
              <a:rPr lang="en-US" b="1" i="1" dirty="0" smtClean="0"/>
              <a:t>	&lt;</a:t>
            </a:r>
            <a:r>
              <a:rPr lang="en-US" b="1" i="1" dirty="0" err="1" smtClean="0"/>
              <a:t>Int</a:t>
            </a:r>
            <a:r>
              <a:rPr lang="en-US" b="1" i="1" dirty="0" smtClean="0"/>
              <a:t>&gt; ::= d | &lt;</a:t>
            </a:r>
            <a:r>
              <a:rPr lang="en-US" b="1" i="1" dirty="0" err="1" smtClean="0"/>
              <a:t>Int</a:t>
            </a:r>
            <a:r>
              <a:rPr lang="en-US" b="1" i="1" dirty="0" smtClean="0"/>
              <a:t>&gt;d</a:t>
            </a:r>
            <a:endParaRPr lang="ru-RU" dirty="0" smtClean="0"/>
          </a:p>
          <a:p>
            <a:r>
              <a:rPr lang="en-US" b="1" i="1" dirty="0" smtClean="0"/>
              <a:t>	</a:t>
            </a:r>
            <a:r>
              <a:rPr lang="ru-RU" b="1" i="1" dirty="0" smtClean="0"/>
              <a:t>&lt;</a:t>
            </a:r>
            <a:r>
              <a:rPr lang="en-US" b="1" i="1" dirty="0" smtClean="0"/>
              <a:t>Del</a:t>
            </a:r>
            <a:r>
              <a:rPr lang="ru-RU" b="1" i="1" dirty="0" smtClean="0"/>
              <a:t>&gt; ::= + | - | (  |  )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endParaRPr lang="ru-RU" dirty="0" smtClean="0"/>
          </a:p>
          <a:p>
            <a:r>
              <a:rPr lang="ru-RU" b="1" i="1" dirty="0" smtClean="0"/>
              <a:t>&lt;</a:t>
            </a:r>
            <a:r>
              <a:rPr lang="ru-RU" b="1" i="1" dirty="0" err="1" smtClean="0"/>
              <a:t>идентиф</a:t>
            </a:r>
            <a:r>
              <a:rPr lang="ru-RU" b="1" i="1" dirty="0" smtClean="0"/>
              <a:t>&gt; ::= &lt;буква&gt; | &lt;</a:t>
            </a:r>
            <a:r>
              <a:rPr lang="ru-RU" b="1" i="1" dirty="0" err="1" smtClean="0"/>
              <a:t>идентиф</a:t>
            </a:r>
            <a:r>
              <a:rPr lang="ru-RU" b="1" i="1" dirty="0" smtClean="0"/>
              <a:t>&gt;&lt;</a:t>
            </a:r>
            <a:r>
              <a:rPr lang="ru-RU" b="1" i="1" dirty="0" err="1" smtClean="0"/>
              <a:t>буква</a:t>
            </a:r>
            <a:r>
              <a:rPr lang="ru-RU" b="1" i="1" dirty="0" smtClean="0"/>
              <a:t>&gt; | &lt;</a:t>
            </a:r>
            <a:r>
              <a:rPr lang="ru-RU" b="1" i="1" dirty="0" err="1" smtClean="0"/>
              <a:t>идентиф</a:t>
            </a:r>
            <a:r>
              <a:rPr lang="ru-RU" b="1" i="1" dirty="0" smtClean="0"/>
              <a:t>&gt;&lt;цифра&gt;</a:t>
            </a:r>
            <a:endParaRPr lang="ru-RU" dirty="0" smtClean="0"/>
          </a:p>
          <a:p>
            <a:r>
              <a:rPr lang="en-US" b="1" i="1" dirty="0" smtClean="0"/>
              <a:t>&lt;</a:t>
            </a:r>
            <a:r>
              <a:rPr lang="ru-RU" b="1" i="1" dirty="0" smtClean="0"/>
              <a:t>целое</a:t>
            </a:r>
            <a:r>
              <a:rPr lang="en-US" b="1" i="1" dirty="0" smtClean="0"/>
              <a:t>&gt; ::= </a:t>
            </a:r>
            <a:r>
              <a:rPr lang="ru-RU" b="1" i="1" dirty="0" smtClean="0"/>
              <a:t>&lt;цифра&gt;</a:t>
            </a:r>
            <a:r>
              <a:rPr lang="en-US" b="1" i="1" dirty="0" smtClean="0"/>
              <a:t> | &lt;</a:t>
            </a:r>
            <a:r>
              <a:rPr lang="ru-RU" b="1" i="1" dirty="0" smtClean="0"/>
              <a:t>целое</a:t>
            </a:r>
            <a:r>
              <a:rPr lang="en-US" b="1" i="1" dirty="0" smtClean="0"/>
              <a:t>&gt;</a:t>
            </a:r>
            <a:r>
              <a:rPr lang="ru-RU" b="1" i="1" dirty="0" smtClean="0"/>
              <a:t>&lt;цифра&gt;</a:t>
            </a:r>
            <a:endParaRPr lang="ru-RU" dirty="0" smtClean="0"/>
          </a:p>
          <a:p>
            <a:r>
              <a:rPr lang="ru-RU" b="1" i="1" dirty="0" smtClean="0"/>
              <a:t>&lt;буква&gt; ::= </a:t>
            </a:r>
            <a:r>
              <a:rPr lang="en-US" b="1" i="1" dirty="0" smtClean="0"/>
              <a:t>a</a:t>
            </a:r>
            <a:r>
              <a:rPr lang="ru-RU" b="1" i="1" dirty="0" smtClean="0"/>
              <a:t> | </a:t>
            </a:r>
            <a:r>
              <a:rPr lang="en-US" b="1" i="1" dirty="0" smtClean="0"/>
              <a:t>b</a:t>
            </a:r>
            <a:r>
              <a:rPr lang="ru-RU" b="1" i="1" dirty="0" smtClean="0"/>
              <a:t> | </a:t>
            </a:r>
            <a:r>
              <a:rPr lang="en-US" b="1" i="1" dirty="0" smtClean="0"/>
              <a:t>c</a:t>
            </a:r>
            <a:r>
              <a:rPr lang="ru-RU" b="1" i="1" dirty="0" smtClean="0"/>
              <a:t> …</a:t>
            </a:r>
            <a:endParaRPr lang="ru-RU" dirty="0" smtClean="0"/>
          </a:p>
          <a:p>
            <a:r>
              <a:rPr lang="ru-RU" b="1" i="1" dirty="0" smtClean="0"/>
              <a:t>&lt;цифра&gt; ::= 0 | 1 | 2 …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Диаграмма состояний сканера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44825"/>
            <a:ext cx="8229600" cy="4176464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 	</a:t>
            </a:r>
          </a:p>
          <a:p>
            <a:r>
              <a:rPr lang="ru-RU" dirty="0" smtClean="0"/>
              <a:t> 	</a:t>
            </a:r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	Составим диаграмму состояний для сканера (конечного автомата, распознающего грамматику, приведённую в начале данного параграфа). </a:t>
            </a:r>
            <a:endParaRPr lang="ru-RU" dirty="0" smtClean="0"/>
          </a:p>
          <a:p>
            <a:r>
              <a:rPr lang="ru-RU" dirty="0" smtClean="0"/>
              <a:t> 	</a:t>
            </a:r>
          </a:p>
          <a:p>
            <a:r>
              <a:rPr lang="ru-RU" dirty="0" smtClean="0"/>
              <a:t> 	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52736"/>
          </a:xfrm>
        </p:spPr>
        <p:txBody>
          <a:bodyPr>
            <a:normAutofit/>
          </a:bodyPr>
          <a:lstStyle/>
          <a:p>
            <a:r>
              <a:rPr lang="ru-RU" sz="2800" dirty="0" smtClean="0"/>
              <a:t>Диаграмма состояний</a:t>
            </a:r>
            <a:endParaRPr lang="ru-RU" sz="2800" dirty="0"/>
          </a:p>
        </p:txBody>
      </p:sp>
      <p:pic>
        <p:nvPicPr>
          <p:cNvPr id="4" name="Содержимое 3" descr="Рис_3_6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83568" y="1196752"/>
            <a:ext cx="7776864" cy="5184576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2400" dirty="0" smtClean="0"/>
              <a:t>Типы лексем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	</a:t>
            </a:r>
            <a:endParaRPr lang="ru-RU" dirty="0" smtClean="0"/>
          </a:p>
          <a:p>
            <a:r>
              <a:rPr lang="ru-RU" dirty="0" smtClean="0"/>
              <a:t> 	</a:t>
            </a:r>
            <a:endParaRPr lang="ru-RU" dirty="0" smtClean="0"/>
          </a:p>
          <a:p>
            <a:r>
              <a:rPr lang="ru-RU" dirty="0" smtClean="0"/>
              <a:t>	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1 – </a:t>
            </a:r>
            <a:r>
              <a:rPr lang="ru-RU" dirty="0" smtClean="0"/>
              <a:t> идентификатор</a:t>
            </a:r>
            <a:endParaRPr lang="ru-RU" dirty="0" smtClean="0"/>
          </a:p>
          <a:p>
            <a:r>
              <a:rPr lang="ru-RU" dirty="0" smtClean="0"/>
              <a:t>2 – </a:t>
            </a:r>
            <a:r>
              <a:rPr lang="ru-RU" dirty="0" smtClean="0"/>
              <a:t> целое </a:t>
            </a:r>
            <a:r>
              <a:rPr lang="ru-RU" dirty="0" smtClean="0"/>
              <a:t>число</a:t>
            </a:r>
          </a:p>
          <a:p>
            <a:r>
              <a:rPr lang="ru-RU" dirty="0" smtClean="0"/>
              <a:t>3 – </a:t>
            </a:r>
            <a:r>
              <a:rPr lang="ru-RU" dirty="0" smtClean="0"/>
              <a:t> +</a:t>
            </a:r>
            <a:endParaRPr lang="ru-RU" dirty="0" smtClean="0"/>
          </a:p>
          <a:p>
            <a:r>
              <a:rPr lang="ru-RU" dirty="0" smtClean="0"/>
              <a:t>4 – </a:t>
            </a:r>
            <a:r>
              <a:rPr lang="ru-RU" dirty="0" smtClean="0"/>
              <a:t> -</a:t>
            </a:r>
            <a:endParaRPr lang="ru-RU" dirty="0" smtClean="0"/>
          </a:p>
          <a:p>
            <a:r>
              <a:rPr lang="ru-RU" dirty="0" smtClean="0"/>
              <a:t>5 – </a:t>
            </a:r>
            <a:r>
              <a:rPr lang="ru-RU" dirty="0" smtClean="0"/>
              <a:t> (</a:t>
            </a:r>
            <a:endParaRPr lang="ru-RU" dirty="0" smtClean="0"/>
          </a:p>
          <a:p>
            <a:r>
              <a:rPr lang="ru-RU" dirty="0" smtClean="0"/>
              <a:t>6 – </a:t>
            </a:r>
            <a:r>
              <a:rPr lang="ru-RU" dirty="0" smtClean="0"/>
              <a:t> )</a:t>
            </a:r>
          </a:p>
          <a:p>
            <a:r>
              <a:rPr lang="ru-RU" dirty="0" smtClean="0"/>
              <a:t> </a:t>
            </a:r>
          </a:p>
          <a:p>
            <a:endParaRPr lang="ru-RU" dirty="0" smtClean="0"/>
          </a:p>
          <a:p>
            <a:r>
              <a:rPr lang="ru-RU" dirty="0" smtClean="0"/>
              <a:t>	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Команды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824536"/>
          </a:xfrm>
        </p:spPr>
        <p:txBody>
          <a:bodyPr>
            <a:normAutofit fontScale="92500" lnSpcReduction="20000"/>
          </a:bodyPr>
          <a:lstStyle/>
          <a:p>
            <a:r>
              <a:rPr lang="ru-RU" sz="3100" dirty="0" smtClean="0"/>
              <a:t>	</a:t>
            </a:r>
            <a:endParaRPr lang="ru-RU" sz="3100" dirty="0" smtClean="0"/>
          </a:p>
          <a:p>
            <a:endParaRPr lang="ru-RU" sz="3100" dirty="0" smtClean="0"/>
          </a:p>
          <a:p>
            <a:r>
              <a:rPr lang="ru-RU" sz="3100" dirty="0" smtClean="0"/>
              <a:t>	</a:t>
            </a:r>
          </a:p>
          <a:p>
            <a:r>
              <a:rPr lang="ru-RU" sz="3100" dirty="0" smtClean="0"/>
              <a:t> </a:t>
            </a:r>
          </a:p>
          <a:p>
            <a:r>
              <a:rPr lang="en-US" sz="3100" b="1" i="1" dirty="0" smtClean="0"/>
              <a:t>Get</a:t>
            </a:r>
            <a:endParaRPr lang="ru-RU" sz="3100" dirty="0" smtClean="0"/>
          </a:p>
          <a:p>
            <a:r>
              <a:rPr lang="en-US" sz="3100" b="1" i="1" dirty="0" smtClean="0"/>
              <a:t>Add</a:t>
            </a:r>
            <a:endParaRPr lang="ru-RU" sz="3100" dirty="0" smtClean="0"/>
          </a:p>
          <a:p>
            <a:r>
              <a:rPr lang="en-US" sz="3100" b="1" i="1" dirty="0" smtClean="0"/>
              <a:t>Init</a:t>
            </a:r>
            <a:endParaRPr lang="ru-RU" sz="3100" dirty="0" smtClean="0"/>
          </a:p>
          <a:p>
            <a:r>
              <a:rPr lang="en-US" sz="3100" b="1" i="1" dirty="0" smtClean="0"/>
              <a:t>Out</a:t>
            </a:r>
            <a:endParaRPr lang="ru-RU" sz="3100" dirty="0" smtClean="0"/>
          </a:p>
          <a:p>
            <a:r>
              <a:rPr lang="en-US" sz="3100" dirty="0" smtClean="0"/>
              <a:t> </a:t>
            </a:r>
            <a:endParaRPr lang="ru-RU" sz="3100" dirty="0" smtClean="0"/>
          </a:p>
          <a:p>
            <a:r>
              <a:rPr lang="en-US" sz="3100" dirty="0" smtClean="0"/>
              <a:t>	</a:t>
            </a:r>
            <a:endParaRPr lang="ru-RU" sz="3100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Диаграмма переходов</a:t>
            </a:r>
            <a:endParaRPr lang="ru-RU" sz="2400" dirty="0"/>
          </a:p>
        </p:txBody>
      </p:sp>
      <p:pic>
        <p:nvPicPr>
          <p:cNvPr id="4" name="Содержимое 3" descr="Рис_3_7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11560" y="980728"/>
            <a:ext cx="8136904" cy="5616623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10146"/>
          </a:xfrm>
        </p:spPr>
        <p:txBody>
          <a:bodyPr>
            <a:normAutofit fontScale="90000"/>
          </a:bodyPr>
          <a:lstStyle/>
          <a:p>
            <a:r>
              <a:rPr lang="ru-RU" sz="2400" b="1" dirty="0" smtClean="0"/>
              <a:t/>
            </a:r>
            <a:br>
              <a:rPr lang="ru-RU" sz="2400" b="1" dirty="0" smtClean="0"/>
            </a:br>
            <a:r>
              <a:rPr lang="ru-RU" sz="2400" b="1" dirty="0" smtClean="0"/>
              <a:t>4</a:t>
            </a:r>
            <a:r>
              <a:rPr lang="ru-RU" sz="2400" b="1" dirty="0" smtClean="0"/>
              <a:t>. АВТОМАТЫ С МАГАЗИННОЙ ПАМЯТЬЮ</a:t>
            </a:r>
            <a:br>
              <a:rPr lang="ru-RU" sz="2400" b="1" dirty="0" smtClean="0"/>
            </a:b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b="1" dirty="0" smtClean="0"/>
              <a:t>4.1. Определение магазинного автомата</a:t>
            </a:r>
            <a:br>
              <a:rPr lang="ru-RU" sz="2400" b="1" dirty="0" smtClean="0"/>
            </a:b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	</a:t>
            </a:r>
          </a:p>
          <a:p>
            <a:r>
              <a:rPr lang="ru-RU" dirty="0" smtClean="0"/>
              <a:t>	</a:t>
            </a:r>
          </a:p>
          <a:p>
            <a:r>
              <a:rPr lang="ru-RU" dirty="0" smtClean="0"/>
              <a:t>	</a:t>
            </a:r>
            <a:r>
              <a:rPr lang="ru-RU" i="1" dirty="0" smtClean="0"/>
              <a:t>Магазинным автоматом (МП-автоматом) </a:t>
            </a:r>
            <a:r>
              <a:rPr lang="ru-RU" dirty="0" smtClean="0"/>
              <a:t>называется совокупность семи объектов:</a:t>
            </a:r>
          </a:p>
          <a:p>
            <a:r>
              <a:rPr lang="ru-RU" dirty="0" smtClean="0"/>
              <a:t> </a:t>
            </a:r>
          </a:p>
          <a:p>
            <a:r>
              <a:rPr lang="en-US" dirty="0" smtClean="0"/>
              <a:t>	</a:t>
            </a:r>
            <a:r>
              <a:rPr lang="ru-RU" dirty="0" smtClean="0"/>
              <a:t>	</a:t>
            </a:r>
            <a:r>
              <a:rPr lang="en-US" b="1" i="1" dirty="0" smtClean="0"/>
              <a:t>M = &lt; K</a:t>
            </a:r>
            <a:r>
              <a:rPr lang="en-US" b="1" i="1" dirty="0" smtClean="0"/>
              <a:t>,</a:t>
            </a:r>
            <a:r>
              <a:rPr lang="ru-RU" b="1" i="1" dirty="0" smtClean="0"/>
              <a:t> </a:t>
            </a:r>
            <a:r>
              <a:rPr lang="en-US" b="1" i="1" dirty="0" smtClean="0"/>
              <a:t>T,</a:t>
            </a:r>
            <a:r>
              <a:rPr lang="ru-RU" b="1" i="1" dirty="0" smtClean="0"/>
              <a:t> </a:t>
            </a:r>
            <a:r>
              <a:rPr lang="en-US" b="1" i="1" dirty="0" smtClean="0"/>
              <a:t>V,</a:t>
            </a:r>
            <a:r>
              <a:rPr lang="ru-RU" b="1" i="1" dirty="0" smtClean="0"/>
              <a:t> </a:t>
            </a:r>
            <a:r>
              <a:rPr lang="en-US" b="1" i="1" dirty="0" smtClean="0"/>
              <a:t>p,</a:t>
            </a:r>
            <a:r>
              <a:rPr lang="ru-RU" b="1" i="1" dirty="0" smtClean="0"/>
              <a:t> </a:t>
            </a:r>
            <a:r>
              <a:rPr lang="en-US" b="1" i="1" dirty="0" smtClean="0"/>
              <a:t>k</a:t>
            </a:r>
            <a:r>
              <a:rPr lang="en-US" b="1" i="1" baseline="-25000" dirty="0" smtClean="0"/>
              <a:t>1</a:t>
            </a:r>
            <a:r>
              <a:rPr lang="en-US" b="1" i="1" dirty="0" smtClean="0"/>
              <a:t>,</a:t>
            </a:r>
            <a:r>
              <a:rPr lang="ru-RU" b="1" i="1" dirty="0" smtClean="0"/>
              <a:t> </a:t>
            </a:r>
            <a:r>
              <a:rPr lang="en-US" b="1" i="1" dirty="0" smtClean="0"/>
              <a:t>A</a:t>
            </a:r>
            <a:r>
              <a:rPr lang="en-US" b="1" i="1" baseline="-25000" dirty="0" smtClean="0"/>
              <a:t>1</a:t>
            </a:r>
            <a:r>
              <a:rPr lang="en-US" b="1" i="1" dirty="0" smtClean="0"/>
              <a:t>,</a:t>
            </a:r>
            <a:r>
              <a:rPr lang="ru-RU" b="1" i="1" dirty="0" smtClean="0"/>
              <a:t> </a:t>
            </a:r>
            <a:r>
              <a:rPr lang="en-US" b="1" i="1" dirty="0" smtClean="0"/>
              <a:t>F </a:t>
            </a:r>
            <a:r>
              <a:rPr lang="en-US" b="1" i="1" dirty="0" smtClean="0"/>
              <a:t>&gt; </a:t>
            </a:r>
            <a:r>
              <a:rPr lang="en-US" dirty="0" smtClean="0"/>
              <a:t>  , </a:t>
            </a:r>
            <a:r>
              <a:rPr lang="ru-RU" dirty="0" smtClean="0"/>
              <a:t>где</a:t>
            </a:r>
          </a:p>
          <a:p>
            <a:r>
              <a:rPr lang="ru-RU" dirty="0" smtClean="0"/>
              <a:t> </a:t>
            </a:r>
          </a:p>
          <a:p>
            <a:r>
              <a:rPr lang="en-US" b="1" i="1" dirty="0" smtClean="0"/>
              <a:t>K</a:t>
            </a:r>
            <a:endParaRPr lang="ru-RU" dirty="0" smtClean="0"/>
          </a:p>
          <a:p>
            <a:r>
              <a:rPr lang="en-US" b="1" i="1" dirty="0" smtClean="0"/>
              <a:t>T</a:t>
            </a:r>
            <a:endParaRPr lang="ru-RU" dirty="0" smtClean="0"/>
          </a:p>
          <a:p>
            <a:r>
              <a:rPr lang="en-US" b="1" i="1" dirty="0" smtClean="0"/>
              <a:t>V</a:t>
            </a:r>
            <a:endParaRPr lang="ru-RU" dirty="0" smtClean="0"/>
          </a:p>
          <a:p>
            <a:r>
              <a:rPr lang="en-US" b="1" i="1" dirty="0" smtClean="0"/>
              <a:t>p</a:t>
            </a:r>
            <a:r>
              <a:rPr lang="ru-RU" dirty="0" smtClean="0"/>
              <a:t> – магазинная функция, отображающая множество </a:t>
            </a:r>
            <a:r>
              <a:rPr lang="en-US" b="1" i="1" dirty="0" smtClean="0"/>
              <a:t>K</a:t>
            </a:r>
            <a:r>
              <a:rPr lang="ru-RU" b="1" i="1" dirty="0" smtClean="0"/>
              <a:t> ×</a:t>
            </a:r>
            <a:r>
              <a:rPr lang="en-US" b="1" i="1" dirty="0" smtClean="0"/>
              <a:t> V</a:t>
            </a:r>
            <a:r>
              <a:rPr lang="ru-RU" b="1" i="1" dirty="0" smtClean="0"/>
              <a:t> </a:t>
            </a:r>
            <a:r>
              <a:rPr lang="ru-RU" b="1" i="1" dirty="0" smtClean="0"/>
              <a:t>× </a:t>
            </a:r>
            <a:r>
              <a:rPr lang="en-US" b="1" i="1" dirty="0" smtClean="0"/>
              <a:t> </a:t>
            </a:r>
            <a:r>
              <a:rPr lang="ru-RU" b="1" i="1" dirty="0" smtClean="0"/>
              <a:t>{</a:t>
            </a:r>
            <a:r>
              <a:rPr lang="en-US" b="1" i="1" dirty="0" smtClean="0"/>
              <a:t>T</a:t>
            </a:r>
            <a:r>
              <a:rPr lang="ru-RU" b="1" i="1" dirty="0" smtClean="0"/>
              <a:t> объединено с {</a:t>
            </a:r>
            <a:r>
              <a:rPr lang="el-GR" b="1" i="1" dirty="0" smtClean="0"/>
              <a:t>ε</a:t>
            </a:r>
            <a:r>
              <a:rPr lang="ru-RU" b="1" i="1" dirty="0" smtClean="0"/>
              <a:t> } }</a:t>
            </a:r>
            <a:r>
              <a:rPr lang="ru-RU" dirty="0" smtClean="0"/>
              <a:t> на  </a:t>
            </a:r>
            <a:r>
              <a:rPr lang="ru-RU" dirty="0" smtClean="0"/>
              <a:t>множество конечных подмножеств множества </a:t>
            </a:r>
            <a:r>
              <a:rPr lang="en-US" b="1" i="1" dirty="0" smtClean="0"/>
              <a:t>K</a:t>
            </a:r>
            <a:r>
              <a:rPr lang="ru-RU" b="1" i="1" dirty="0" smtClean="0"/>
              <a:t> </a:t>
            </a:r>
            <a:r>
              <a:rPr lang="ru-RU" b="1" i="1" dirty="0" smtClean="0"/>
              <a:t>× </a:t>
            </a:r>
            <a:r>
              <a:rPr lang="en-US" b="1" i="1" dirty="0" smtClean="0"/>
              <a:t>V</a:t>
            </a:r>
            <a:r>
              <a:rPr lang="ru-RU" b="1" i="1" baseline="30000" dirty="0" smtClean="0"/>
              <a:t> </a:t>
            </a:r>
            <a:r>
              <a:rPr lang="ru-RU" b="1" i="1" baseline="30000" dirty="0" smtClean="0"/>
              <a:t>*</a:t>
            </a:r>
            <a:r>
              <a:rPr lang="ru-RU" dirty="0" smtClean="0"/>
              <a:t>,</a:t>
            </a:r>
          </a:p>
          <a:p>
            <a:r>
              <a:rPr lang="en-US" b="1" i="1" dirty="0" smtClean="0"/>
              <a:t>k</a:t>
            </a:r>
            <a:r>
              <a:rPr lang="en-US" b="1" i="1" baseline="-25000" dirty="0" smtClean="0"/>
              <a:t>1</a:t>
            </a:r>
            <a:endParaRPr lang="ru-RU" dirty="0" smtClean="0"/>
          </a:p>
          <a:p>
            <a:r>
              <a:rPr lang="en-US" b="1" i="1" dirty="0" smtClean="0"/>
              <a:t>A</a:t>
            </a:r>
            <a:r>
              <a:rPr lang="ru-RU" b="1" i="1" baseline="-25000" dirty="0" smtClean="0"/>
              <a:t>1</a:t>
            </a:r>
            <a:endParaRPr lang="ru-RU" dirty="0" smtClean="0"/>
          </a:p>
          <a:p>
            <a:r>
              <a:rPr lang="en-US" b="1" i="1" dirty="0" smtClean="0"/>
              <a:t>F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Магазинная функция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504056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	</a:t>
            </a:r>
          </a:p>
          <a:p>
            <a:r>
              <a:rPr lang="ru-RU" dirty="0" smtClean="0"/>
              <a:t>	В процессе вычисления функции  </a:t>
            </a:r>
            <a:r>
              <a:rPr lang="en-US" b="1" i="1" dirty="0" smtClean="0"/>
              <a:t>p</a:t>
            </a:r>
            <a:r>
              <a:rPr lang="ru-RU" b="1" i="1" dirty="0" smtClean="0"/>
              <a:t>(</a:t>
            </a:r>
            <a:r>
              <a:rPr lang="en-US" b="1" i="1" dirty="0" smtClean="0"/>
              <a:t>k</a:t>
            </a:r>
            <a:r>
              <a:rPr lang="ru-RU" b="1" i="1" dirty="0" smtClean="0"/>
              <a:t>,</a:t>
            </a:r>
            <a:r>
              <a:rPr lang="en-US" b="1" i="1" dirty="0" smtClean="0"/>
              <a:t>A</a:t>
            </a:r>
            <a:r>
              <a:rPr lang="ru-RU" b="1" i="1" dirty="0" smtClean="0"/>
              <a:t>,</a:t>
            </a:r>
            <a:r>
              <a:rPr lang="en-US" b="1" i="1" dirty="0" smtClean="0"/>
              <a:t>a</a:t>
            </a:r>
            <a:r>
              <a:rPr lang="ru-RU" b="1" i="1" dirty="0" smtClean="0"/>
              <a:t>) </a:t>
            </a:r>
            <a:r>
              <a:rPr lang="ru-RU" dirty="0" smtClean="0"/>
              <a:t> из стека выталкивается символ  </a:t>
            </a:r>
            <a:r>
              <a:rPr lang="en-US" b="1" i="1" dirty="0" smtClean="0"/>
              <a:t>A</a:t>
            </a:r>
            <a:r>
              <a:rPr lang="ru-RU" dirty="0" smtClean="0"/>
              <a:t>  и заменяется цепочкой  </a:t>
            </a:r>
            <a:r>
              <a:rPr lang="en-US" b="1" i="1" dirty="0" smtClean="0"/>
              <a:t>y</a:t>
            </a:r>
            <a:r>
              <a:rPr lang="ru-RU" dirty="0" smtClean="0"/>
              <a:t>, т.е. если текущая конфигурация МП-автомата имела вид  </a:t>
            </a:r>
            <a:r>
              <a:rPr lang="en-US" b="1" i="1" dirty="0" smtClean="0"/>
              <a:t>c</a:t>
            </a:r>
            <a:r>
              <a:rPr lang="ru-RU" b="1" i="1" dirty="0" smtClean="0"/>
              <a:t> = ( </a:t>
            </a:r>
            <a:r>
              <a:rPr lang="en-US" b="1" i="1" dirty="0" smtClean="0"/>
              <a:t>k</a:t>
            </a:r>
            <a:r>
              <a:rPr lang="ru-RU" b="1" i="1" dirty="0" smtClean="0"/>
              <a:t>, </a:t>
            </a:r>
            <a:r>
              <a:rPr lang="en-US" b="1" i="1" dirty="0" smtClean="0"/>
              <a:t>Ax</a:t>
            </a:r>
            <a:r>
              <a:rPr lang="ru-RU" b="1" i="1" dirty="0" smtClean="0"/>
              <a:t> )</a:t>
            </a:r>
            <a:r>
              <a:rPr lang="ru-RU" dirty="0" smtClean="0"/>
              <a:t>, то после поступления входного символа  </a:t>
            </a:r>
            <a:r>
              <a:rPr lang="en-US" b="1" i="1" dirty="0" smtClean="0"/>
              <a:t>a</a:t>
            </a:r>
            <a:r>
              <a:rPr lang="ru-RU" dirty="0" smtClean="0"/>
              <a:t>  конфигурация будет иметь вид  </a:t>
            </a:r>
            <a:r>
              <a:rPr lang="en-US" b="1" i="1" dirty="0" smtClean="0"/>
              <a:t>c</a:t>
            </a:r>
            <a:r>
              <a:rPr lang="ru-RU" b="1" i="1" baseline="-25000" dirty="0" smtClean="0"/>
              <a:t>1</a:t>
            </a:r>
            <a:r>
              <a:rPr lang="ru-RU" b="1" i="1" dirty="0" smtClean="0"/>
              <a:t> = ( </a:t>
            </a:r>
            <a:r>
              <a:rPr lang="en-US" b="1" i="1" dirty="0" smtClean="0"/>
              <a:t>k</a:t>
            </a:r>
            <a:r>
              <a:rPr lang="ru-RU" b="1" i="1" baseline="-25000" dirty="0" smtClean="0"/>
              <a:t>1</a:t>
            </a:r>
            <a:r>
              <a:rPr lang="ru-RU" b="1" i="1" dirty="0" smtClean="0"/>
              <a:t>, </a:t>
            </a:r>
            <a:r>
              <a:rPr lang="en-US" b="1" i="1" dirty="0" err="1" smtClean="0"/>
              <a:t>yx</a:t>
            </a:r>
            <a:r>
              <a:rPr lang="ru-RU" b="1" i="1" dirty="0" smtClean="0"/>
              <a:t> </a:t>
            </a:r>
            <a:r>
              <a:rPr lang="ru-RU" b="1" i="1" dirty="0" smtClean="0"/>
              <a:t>)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	</a:t>
            </a:r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		</a:t>
            </a:r>
            <a:r>
              <a:rPr lang="en-US" b="1" i="1" dirty="0" smtClean="0"/>
              <a:t>p ( </a:t>
            </a:r>
            <a:r>
              <a:rPr lang="en-US" b="1" i="1" dirty="0" err="1" smtClean="0"/>
              <a:t>k,A,a</a:t>
            </a:r>
            <a:r>
              <a:rPr lang="en-US" b="1" i="1" dirty="0" smtClean="0"/>
              <a:t> ) = { ( k</a:t>
            </a:r>
            <a:r>
              <a:rPr lang="ru-RU" b="1" i="1" baseline="-25000" dirty="0" smtClean="0"/>
              <a:t>1</a:t>
            </a:r>
            <a:r>
              <a:rPr lang="en-US" b="1" i="1" dirty="0" smtClean="0"/>
              <a:t>,y ) </a:t>
            </a:r>
            <a:r>
              <a:rPr lang="en-US" b="1" i="1" dirty="0" smtClean="0"/>
              <a:t>}</a:t>
            </a:r>
            <a:endParaRPr lang="ru-RU" b="1" i="1" dirty="0" smtClean="0"/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	</a:t>
            </a:r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648072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Магазинная функция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949280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	</a:t>
            </a:r>
          </a:p>
          <a:p>
            <a:r>
              <a:rPr lang="ru-RU" dirty="0" smtClean="0"/>
              <a:t>	</a:t>
            </a:r>
          </a:p>
          <a:p>
            <a:r>
              <a:rPr lang="ru-RU" dirty="0" smtClean="0"/>
              <a:t> 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 </a:t>
            </a:r>
          </a:p>
          <a:p>
            <a:endParaRPr lang="ru-RU" dirty="0" smtClean="0"/>
          </a:p>
          <a:p>
            <a:r>
              <a:rPr lang="ru-RU" dirty="0" smtClean="0"/>
              <a:t> 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	</a:t>
            </a:r>
          </a:p>
          <a:p>
            <a:r>
              <a:rPr lang="en-US" dirty="0" smtClean="0"/>
              <a:t>	</a:t>
            </a:r>
            <a:endParaRPr lang="ru-RU" dirty="0" smtClean="0"/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		</a:t>
            </a:r>
            <a:r>
              <a:rPr lang="en-US" b="1" i="1" dirty="0" smtClean="0"/>
              <a:t>p ( </a:t>
            </a:r>
            <a:r>
              <a:rPr lang="en-US" b="1" i="1" dirty="0" err="1" smtClean="0"/>
              <a:t>k,A,a</a:t>
            </a:r>
            <a:r>
              <a:rPr lang="en-US" b="1" i="1" dirty="0" smtClean="0"/>
              <a:t> ) = { </a:t>
            </a:r>
            <a:r>
              <a:rPr lang="en-US" b="1" i="1" dirty="0" smtClean="0"/>
              <a:t>(</a:t>
            </a:r>
            <a:r>
              <a:rPr lang="en-US" b="1" i="1" dirty="0" smtClean="0"/>
              <a:t>k</a:t>
            </a:r>
            <a:r>
              <a:rPr lang="ru-RU" b="1" i="1" baseline="-25000" dirty="0" smtClean="0"/>
              <a:t>1</a:t>
            </a:r>
            <a:r>
              <a:rPr lang="en-US" b="1" i="1" dirty="0" smtClean="0"/>
              <a:t>,y </a:t>
            </a:r>
            <a:r>
              <a:rPr lang="en-US" b="1" i="1" dirty="0" smtClean="0"/>
              <a:t>) </a:t>
            </a:r>
            <a:r>
              <a:rPr lang="en-US" b="1" i="1" dirty="0" smtClean="0"/>
              <a:t>}</a:t>
            </a:r>
            <a:r>
              <a:rPr lang="ru-RU" b="1" i="1" dirty="0" smtClean="0"/>
              <a:t> </a:t>
            </a:r>
            <a:r>
              <a:rPr lang="ru-RU" dirty="0" smtClean="0"/>
              <a:t>,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 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524000" y="2204864"/>
          <a:ext cx="2327921" cy="504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728"/>
                <a:gridCol w="625289"/>
                <a:gridCol w="526839"/>
                <a:gridCol w="576065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∆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524000" y="2924944"/>
          <a:ext cx="599728" cy="504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728"/>
              </a:tblGrid>
              <a:tr h="504056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∆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 fontScale="90000"/>
          </a:bodyPr>
          <a:lstStyle/>
          <a:p>
            <a:r>
              <a:rPr lang="ru-RU" sz="2400" b="1" dirty="0" smtClean="0"/>
              <a:t/>
            </a:r>
            <a:br>
              <a:rPr lang="ru-RU" sz="2400" b="1" dirty="0" smtClean="0"/>
            </a:br>
            <a:r>
              <a:rPr lang="ru-RU" sz="2400" b="1" dirty="0" smtClean="0"/>
              <a:t>4.2</a:t>
            </a:r>
            <a:r>
              <a:rPr lang="ru-RU" sz="2400" b="1" dirty="0" smtClean="0"/>
              <a:t>. Обработка цепочек с помощью МП-автомата</a:t>
            </a:r>
            <a:br>
              <a:rPr lang="ru-RU" sz="2400" b="1" dirty="0" smtClean="0"/>
            </a:b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	</a:t>
            </a:r>
          </a:p>
          <a:p>
            <a:pPr lvl="0"/>
            <a:r>
              <a:rPr lang="ru-RU" dirty="0" smtClean="0"/>
              <a:t> 	Допустить </a:t>
            </a:r>
            <a:r>
              <a:rPr lang="ru-RU" dirty="0" smtClean="0"/>
              <a:t>цепочку</a:t>
            </a:r>
          </a:p>
          <a:p>
            <a:pPr lvl="0"/>
            <a:r>
              <a:rPr lang="ru-RU" dirty="0" smtClean="0"/>
              <a:t> 	Отвергнуть </a:t>
            </a:r>
            <a:r>
              <a:rPr lang="ru-RU" dirty="0" smtClean="0"/>
              <a:t>цепочку</a:t>
            </a:r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</a:p>
          <a:p>
            <a:pPr lvl="0"/>
            <a:r>
              <a:rPr lang="ru-RU" dirty="0" smtClean="0"/>
              <a:t> 	Втолкнуть </a:t>
            </a:r>
            <a:r>
              <a:rPr lang="ru-RU" dirty="0" smtClean="0"/>
              <a:t>некоторый символ в магазин.</a:t>
            </a:r>
          </a:p>
          <a:p>
            <a:pPr lvl="0"/>
            <a:r>
              <a:rPr lang="ru-RU" dirty="0" smtClean="0"/>
              <a:t> 	Вытолкнуть </a:t>
            </a:r>
            <a:r>
              <a:rPr lang="ru-RU" dirty="0" smtClean="0"/>
              <a:t>верхний магазинный символ.</a:t>
            </a:r>
          </a:p>
          <a:p>
            <a:pPr lvl="0"/>
            <a:r>
              <a:rPr lang="ru-RU" dirty="0" smtClean="0"/>
              <a:t> 	Оставить </a:t>
            </a:r>
            <a:r>
              <a:rPr lang="ru-RU" dirty="0" smtClean="0"/>
              <a:t>магазин без изменения.</a:t>
            </a:r>
          </a:p>
          <a:p>
            <a:pPr lvl="0"/>
            <a:r>
              <a:rPr lang="ru-RU" dirty="0" smtClean="0"/>
              <a:t> 	Заменить </a:t>
            </a:r>
            <a:r>
              <a:rPr lang="ru-RU" dirty="0" smtClean="0"/>
              <a:t>верхний магазинный символ некоторой цепочкой.</a:t>
            </a:r>
          </a:p>
          <a:p>
            <a:pPr lvl="0"/>
            <a:r>
              <a:rPr lang="ru-RU" dirty="0" smtClean="0"/>
              <a:t> 	Перейти </a:t>
            </a:r>
            <a:r>
              <a:rPr lang="ru-RU" dirty="0" smtClean="0"/>
              <a:t>к следующему входному символу цепочки и сделать его текущим, т.е. выполнить сдвиг по цепочке.</a:t>
            </a:r>
          </a:p>
          <a:p>
            <a:pPr lvl="0"/>
            <a:r>
              <a:rPr lang="ru-RU" dirty="0" smtClean="0"/>
              <a:t> 	Оставить </a:t>
            </a:r>
            <a:r>
              <a:rPr lang="ru-RU" dirty="0" smtClean="0"/>
              <a:t>данный входной символ текущим, т.е. держать его до следующего шага.</a:t>
            </a:r>
          </a:p>
          <a:p>
            <a:pPr lvl="0"/>
            <a:r>
              <a:rPr lang="ru-RU" dirty="0" smtClean="0"/>
              <a:t> 	Перейти </a:t>
            </a:r>
            <a:r>
              <a:rPr lang="ru-RU" dirty="0" smtClean="0"/>
              <a:t>в заданное новое состояние.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МП-распознаватель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968552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 	концевой маркер </a:t>
            </a:r>
            <a:r>
              <a:rPr lang="ru-RU" dirty="0" smtClean="0"/>
              <a:t>цепочки </a:t>
            </a:r>
            <a:r>
              <a:rPr lang="en-US" dirty="0" smtClean="0"/>
              <a:t>#</a:t>
            </a:r>
            <a:r>
              <a:rPr lang="ru-RU" dirty="0" smtClean="0"/>
              <a:t>.</a:t>
            </a:r>
            <a:endParaRPr lang="ru-RU" dirty="0" smtClean="0"/>
          </a:p>
          <a:p>
            <a:r>
              <a:rPr lang="ru-RU" dirty="0" smtClean="0"/>
              <a:t>	МП-автомат называется </a:t>
            </a:r>
            <a:r>
              <a:rPr lang="ru-RU" i="1" dirty="0" smtClean="0"/>
              <a:t>МП-распознавателем</a:t>
            </a:r>
            <a:r>
              <a:rPr lang="ru-RU" dirty="0" smtClean="0"/>
              <a:t>, если у него два выхода: ‘</a:t>
            </a:r>
            <a:r>
              <a:rPr lang="ru-RU" i="1" dirty="0" smtClean="0"/>
              <a:t>Допустить’ </a:t>
            </a:r>
            <a:r>
              <a:rPr lang="ru-RU" dirty="0" smtClean="0"/>
              <a:t>и</a:t>
            </a:r>
            <a:r>
              <a:rPr lang="ru-RU" i="1" dirty="0" smtClean="0"/>
              <a:t> ‘Отвергнуть’</a:t>
            </a:r>
            <a:r>
              <a:rPr lang="ru-RU" dirty="0" smtClean="0"/>
              <a:t>. 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pPr lvl="0"/>
            <a:r>
              <a:rPr lang="ru-RU" b="1" i="1" dirty="0" smtClean="0"/>
              <a:t>Вытолкнуть, </a:t>
            </a:r>
            <a:r>
              <a:rPr lang="ru-RU" b="1" i="1" dirty="0" err="1" smtClean="0"/>
              <a:t>Вытолк</a:t>
            </a:r>
            <a:endParaRPr lang="ru-RU" dirty="0" smtClean="0"/>
          </a:p>
          <a:p>
            <a:pPr lvl="0"/>
            <a:r>
              <a:rPr lang="ru-RU" b="1" i="1" dirty="0" smtClean="0"/>
              <a:t>Втолкнуть(</a:t>
            </a:r>
            <a:r>
              <a:rPr lang="en-US" b="1" i="1" dirty="0" smtClean="0"/>
              <a:t>A</a:t>
            </a:r>
            <a:r>
              <a:rPr lang="ru-RU" b="1" i="1" dirty="0" smtClean="0"/>
              <a:t>),</a:t>
            </a:r>
            <a:r>
              <a:rPr lang="ru-RU" dirty="0" smtClean="0"/>
              <a:t> </a:t>
            </a:r>
            <a:r>
              <a:rPr lang="ru-RU" b="1" i="1" dirty="0" err="1" smtClean="0"/>
              <a:t>Втолк</a:t>
            </a:r>
            <a:r>
              <a:rPr lang="ru-RU" b="1" i="1" dirty="0" smtClean="0"/>
              <a:t>(</a:t>
            </a:r>
            <a:r>
              <a:rPr lang="en-US" b="1" i="1" dirty="0" smtClean="0"/>
              <a:t>A</a:t>
            </a:r>
            <a:r>
              <a:rPr lang="ru-RU" b="1" i="1" dirty="0" smtClean="0"/>
              <a:t>)</a:t>
            </a:r>
            <a:endParaRPr lang="ru-RU" dirty="0" smtClean="0"/>
          </a:p>
          <a:p>
            <a:pPr lvl="0"/>
            <a:r>
              <a:rPr lang="ru-RU" b="1" i="1" dirty="0" smtClean="0"/>
              <a:t>Состояние(</a:t>
            </a:r>
            <a:r>
              <a:rPr lang="en-US" b="1" i="1" dirty="0" smtClean="0"/>
              <a:t>s</a:t>
            </a:r>
            <a:r>
              <a:rPr lang="ru-RU" b="1" i="1" dirty="0" smtClean="0"/>
              <a:t>), </a:t>
            </a:r>
            <a:r>
              <a:rPr lang="ru-RU" b="1" i="1" dirty="0" err="1" smtClean="0"/>
              <a:t>Сост</a:t>
            </a:r>
            <a:r>
              <a:rPr lang="ru-RU" b="1" i="1" dirty="0" smtClean="0"/>
              <a:t>(</a:t>
            </a:r>
            <a:r>
              <a:rPr lang="en-US" b="1" i="1" dirty="0" smtClean="0"/>
              <a:t>s</a:t>
            </a:r>
            <a:r>
              <a:rPr lang="ru-RU" b="1" i="1" dirty="0" smtClean="0"/>
              <a:t>)</a:t>
            </a:r>
            <a:endParaRPr lang="ru-RU" dirty="0" smtClean="0"/>
          </a:p>
          <a:p>
            <a:pPr lvl="0"/>
            <a:r>
              <a:rPr lang="ru-RU" b="1" i="1" dirty="0" smtClean="0"/>
              <a:t>Сдвиг</a:t>
            </a:r>
            <a:endParaRPr lang="ru-RU" dirty="0" smtClean="0"/>
          </a:p>
          <a:p>
            <a:pPr lvl="0"/>
            <a:r>
              <a:rPr lang="ru-RU" b="1" i="1" dirty="0" smtClean="0"/>
              <a:t>Держать</a:t>
            </a:r>
            <a:endParaRPr lang="ru-RU" dirty="0" smtClean="0"/>
          </a:p>
          <a:p>
            <a:pPr lvl="0"/>
            <a:r>
              <a:rPr lang="ru-RU" b="1" i="1" dirty="0" smtClean="0"/>
              <a:t>Заменить(</a:t>
            </a:r>
            <a:r>
              <a:rPr lang="en-US" b="1" i="1" dirty="0" smtClean="0"/>
              <a:t>x</a:t>
            </a:r>
            <a:r>
              <a:rPr lang="ru-RU" b="1" i="1" dirty="0" smtClean="0"/>
              <a:t>), Зам(</a:t>
            </a:r>
            <a:r>
              <a:rPr lang="en-US" b="1" i="1" dirty="0" smtClean="0"/>
              <a:t>x</a:t>
            </a:r>
            <a:r>
              <a:rPr lang="ru-RU" b="1" i="1" dirty="0" smtClean="0"/>
              <a:t>)</a:t>
            </a:r>
          </a:p>
          <a:p>
            <a:pPr lvl="0"/>
            <a:r>
              <a:rPr lang="ru-RU" b="1" i="1" dirty="0" smtClean="0"/>
              <a:t> </a:t>
            </a:r>
            <a:endParaRPr lang="ru-RU" b="1" i="1" dirty="0" smtClean="0"/>
          </a:p>
          <a:p>
            <a:pPr lvl="0"/>
            <a:r>
              <a:rPr lang="ru-RU" b="1" i="1" dirty="0" smtClean="0"/>
              <a:t> 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Пример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smtClean="0"/>
              <a:t>	Рассмотрим автомат, который будет проверять сбалансированность правых и левых скобок в цепочке.</a:t>
            </a:r>
          </a:p>
          <a:p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	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 smtClean="0"/>
              <a:t>	</a:t>
            </a:r>
          </a:p>
          <a:p>
            <a:r>
              <a:rPr lang="ru-RU" dirty="0" smtClean="0"/>
              <a:t> </a:t>
            </a:r>
            <a:r>
              <a:rPr lang="ru-RU" dirty="0" smtClean="0"/>
              <a:t>	</a:t>
            </a:r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МП-автомат для примера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	</a:t>
            </a:r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	</a:t>
            </a:r>
            <a:r>
              <a:rPr lang="en-US" b="1" i="1" dirty="0" smtClean="0"/>
              <a:t>M = &lt; { s }, { ‘(‘, ‘)’, #</a:t>
            </a:r>
            <a:r>
              <a:rPr lang="en-US" b="1" i="1" dirty="0" smtClean="0"/>
              <a:t> </a:t>
            </a:r>
            <a:r>
              <a:rPr lang="en-US" b="1" i="1" dirty="0" smtClean="0"/>
              <a:t>}, { A, </a:t>
            </a:r>
            <a:r>
              <a:rPr lang="ru-RU" dirty="0" smtClean="0"/>
              <a:t>∆</a:t>
            </a:r>
            <a:r>
              <a:rPr lang="en-US" b="1" i="1" dirty="0" smtClean="0"/>
              <a:t> </a:t>
            </a:r>
            <a:r>
              <a:rPr lang="en-US" b="1" i="1" dirty="0" smtClean="0"/>
              <a:t>}, p, </a:t>
            </a:r>
            <a:r>
              <a:rPr lang="ru-RU" dirty="0" smtClean="0"/>
              <a:t>∆</a:t>
            </a:r>
            <a:r>
              <a:rPr lang="en-US" b="1" i="1" dirty="0" smtClean="0"/>
              <a:t>, </a:t>
            </a:r>
            <a:r>
              <a:rPr lang="en-US" b="1" i="1" dirty="0" smtClean="0"/>
              <a:t>{ s } &gt;</a:t>
            </a:r>
            <a:r>
              <a:rPr lang="en-US" dirty="0" smtClean="0"/>
              <a:t>,</a:t>
            </a:r>
            <a:endParaRPr lang="ru-RU" dirty="0" smtClean="0"/>
          </a:p>
          <a:p>
            <a:r>
              <a:rPr lang="ru-RU" dirty="0" smtClean="0"/>
              <a:t>где</a:t>
            </a:r>
            <a:r>
              <a:rPr lang="en-US" dirty="0" smtClean="0"/>
              <a:t>:</a:t>
            </a:r>
            <a:endParaRPr lang="ru-RU" dirty="0" smtClean="0"/>
          </a:p>
          <a:p>
            <a:r>
              <a:rPr lang="en-US" b="1" i="1" dirty="0" smtClean="0"/>
              <a:t>p(s</a:t>
            </a:r>
            <a:r>
              <a:rPr lang="en-US" b="1" i="1" dirty="0" smtClean="0"/>
              <a:t>,</a:t>
            </a:r>
            <a:r>
              <a:rPr lang="ru-RU" dirty="0" smtClean="0"/>
              <a:t> ∆</a:t>
            </a:r>
            <a:r>
              <a:rPr lang="en-US" b="1" i="1" dirty="0" smtClean="0"/>
              <a:t>,’(‘) </a:t>
            </a:r>
            <a:r>
              <a:rPr lang="en-US" b="1" i="1" dirty="0" smtClean="0"/>
              <a:t>= { </a:t>
            </a:r>
            <a:r>
              <a:rPr lang="ru-RU" b="1" i="1" dirty="0" err="1" smtClean="0"/>
              <a:t>Втолк</a:t>
            </a:r>
            <a:r>
              <a:rPr lang="en-US" b="1" i="1" dirty="0" smtClean="0"/>
              <a:t>(A), </a:t>
            </a:r>
            <a:r>
              <a:rPr lang="ru-RU" b="1" i="1" dirty="0" err="1" smtClean="0"/>
              <a:t>Сост</a:t>
            </a:r>
            <a:r>
              <a:rPr lang="en-US" b="1" i="1" dirty="0" smtClean="0"/>
              <a:t>(s), </a:t>
            </a:r>
            <a:r>
              <a:rPr lang="ru-RU" b="1" i="1" dirty="0" smtClean="0"/>
              <a:t>Сдвиг</a:t>
            </a:r>
            <a:r>
              <a:rPr lang="en-US" b="1" i="1" dirty="0" smtClean="0"/>
              <a:t> },</a:t>
            </a:r>
            <a:endParaRPr lang="ru-RU" dirty="0" smtClean="0"/>
          </a:p>
          <a:p>
            <a:r>
              <a:rPr lang="en-US" b="1" i="1" dirty="0" smtClean="0"/>
              <a:t>p(</a:t>
            </a:r>
            <a:r>
              <a:rPr lang="en-US" b="1" i="1" dirty="0" err="1" smtClean="0"/>
              <a:t>s,A</a:t>
            </a:r>
            <a:r>
              <a:rPr lang="en-US" b="1" i="1" dirty="0" smtClean="0"/>
              <a:t>,’(‘) = { </a:t>
            </a:r>
            <a:r>
              <a:rPr lang="ru-RU" b="1" i="1" dirty="0" err="1" smtClean="0"/>
              <a:t>Втолк</a:t>
            </a:r>
            <a:r>
              <a:rPr lang="en-US" b="1" i="1" dirty="0" smtClean="0"/>
              <a:t>(A), </a:t>
            </a:r>
            <a:r>
              <a:rPr lang="ru-RU" b="1" i="1" dirty="0" err="1" smtClean="0"/>
              <a:t>Сост</a:t>
            </a:r>
            <a:r>
              <a:rPr lang="en-US" b="1" i="1" dirty="0" smtClean="0"/>
              <a:t>(s), </a:t>
            </a:r>
            <a:r>
              <a:rPr lang="ru-RU" b="1" i="1" dirty="0" smtClean="0"/>
              <a:t>Сдвиг</a:t>
            </a:r>
            <a:r>
              <a:rPr lang="en-US" b="1" i="1" dirty="0" smtClean="0"/>
              <a:t> },</a:t>
            </a:r>
            <a:endParaRPr lang="ru-RU" dirty="0" smtClean="0"/>
          </a:p>
          <a:p>
            <a:r>
              <a:rPr lang="en-US" b="1" i="1" dirty="0" smtClean="0"/>
              <a:t>p(</a:t>
            </a:r>
            <a:r>
              <a:rPr lang="en-US" b="1" i="1" dirty="0" err="1" smtClean="0"/>
              <a:t>s,A</a:t>
            </a:r>
            <a:r>
              <a:rPr lang="en-US" b="1" i="1" dirty="0" smtClean="0"/>
              <a:t>,’)‘) = { </a:t>
            </a:r>
            <a:r>
              <a:rPr lang="ru-RU" b="1" i="1" dirty="0" err="1" smtClean="0"/>
              <a:t>Вытолк</a:t>
            </a:r>
            <a:r>
              <a:rPr lang="en-US" b="1" i="1" dirty="0" smtClean="0"/>
              <a:t>, </a:t>
            </a:r>
            <a:r>
              <a:rPr lang="ru-RU" b="1" i="1" dirty="0" err="1" smtClean="0"/>
              <a:t>Сост</a:t>
            </a:r>
            <a:r>
              <a:rPr lang="en-US" b="1" i="1" dirty="0" smtClean="0"/>
              <a:t>(s), </a:t>
            </a:r>
            <a:r>
              <a:rPr lang="ru-RU" b="1" i="1" dirty="0" smtClean="0"/>
              <a:t>Сдвиг</a:t>
            </a:r>
            <a:r>
              <a:rPr lang="en-US" b="1" i="1" dirty="0" smtClean="0"/>
              <a:t> },</a:t>
            </a:r>
            <a:endParaRPr lang="ru-RU" dirty="0" smtClean="0"/>
          </a:p>
          <a:p>
            <a:r>
              <a:rPr lang="en-US" b="1" i="1" dirty="0" smtClean="0"/>
              <a:t>p(s</a:t>
            </a:r>
            <a:r>
              <a:rPr lang="en-US" b="1" i="1" dirty="0" smtClean="0"/>
              <a:t>,</a:t>
            </a:r>
            <a:r>
              <a:rPr lang="ru-RU" dirty="0" smtClean="0"/>
              <a:t> ∆</a:t>
            </a:r>
            <a:r>
              <a:rPr lang="en-US" b="1" i="1" dirty="0" smtClean="0"/>
              <a:t>,’)‘) </a:t>
            </a:r>
            <a:r>
              <a:rPr lang="en-US" b="1" i="1" dirty="0" smtClean="0"/>
              <a:t>= { </a:t>
            </a:r>
            <a:r>
              <a:rPr lang="ru-RU" b="1" i="1" dirty="0" smtClean="0"/>
              <a:t>Отвергнуть</a:t>
            </a:r>
            <a:r>
              <a:rPr lang="en-US" b="1" i="1" dirty="0" smtClean="0"/>
              <a:t> },</a:t>
            </a:r>
            <a:endParaRPr lang="ru-RU" dirty="0" smtClean="0"/>
          </a:p>
          <a:p>
            <a:r>
              <a:rPr lang="en-US" b="1" i="1" dirty="0" smtClean="0"/>
              <a:t>p(</a:t>
            </a:r>
            <a:r>
              <a:rPr lang="en-US" b="1" i="1" dirty="0" err="1" smtClean="0"/>
              <a:t>s,A</a:t>
            </a:r>
            <a:r>
              <a:rPr lang="en-US" b="1" i="1" dirty="0" smtClean="0"/>
              <a:t>,</a:t>
            </a:r>
            <a:r>
              <a:rPr lang="en-US" dirty="0" smtClean="0"/>
              <a:t> </a:t>
            </a:r>
            <a:r>
              <a:rPr lang="en-US" b="1" i="1" dirty="0" smtClean="0"/>
              <a:t>#</a:t>
            </a:r>
            <a:r>
              <a:rPr lang="en-US" b="1" i="1" dirty="0" smtClean="0"/>
              <a:t>) </a:t>
            </a:r>
            <a:r>
              <a:rPr lang="en-US" b="1" i="1" dirty="0" smtClean="0"/>
              <a:t>= { </a:t>
            </a:r>
            <a:r>
              <a:rPr lang="ru-RU" b="1" i="1" dirty="0" smtClean="0"/>
              <a:t>Отвергнуть</a:t>
            </a:r>
            <a:r>
              <a:rPr lang="en-US" b="1" i="1" dirty="0" smtClean="0"/>
              <a:t> },</a:t>
            </a:r>
            <a:endParaRPr lang="ru-RU" dirty="0" smtClean="0"/>
          </a:p>
          <a:p>
            <a:r>
              <a:rPr lang="en-US" b="1" i="1" dirty="0" smtClean="0"/>
              <a:t>p(s</a:t>
            </a:r>
            <a:r>
              <a:rPr lang="en-US" b="1" i="1" dirty="0" smtClean="0"/>
              <a:t>,</a:t>
            </a:r>
            <a:r>
              <a:rPr lang="ru-RU" dirty="0" smtClean="0"/>
              <a:t> ∆</a:t>
            </a:r>
            <a:r>
              <a:rPr lang="en-US" b="1" i="1" dirty="0" smtClean="0"/>
              <a:t>,</a:t>
            </a:r>
            <a:r>
              <a:rPr lang="en-US" dirty="0" smtClean="0"/>
              <a:t> </a:t>
            </a:r>
            <a:r>
              <a:rPr lang="en-US" b="1" i="1" dirty="0" smtClean="0"/>
              <a:t>#</a:t>
            </a:r>
            <a:r>
              <a:rPr lang="en-US" b="1" i="1" dirty="0" smtClean="0"/>
              <a:t>) </a:t>
            </a:r>
            <a:r>
              <a:rPr lang="en-US" b="1" i="1" dirty="0" smtClean="0"/>
              <a:t>= { </a:t>
            </a:r>
            <a:r>
              <a:rPr lang="ru-RU" b="1" i="1" dirty="0" smtClean="0"/>
              <a:t>Допустить</a:t>
            </a:r>
            <a:r>
              <a:rPr lang="en-US" b="1" i="1" dirty="0" smtClean="0"/>
              <a:t> }.</a:t>
            </a:r>
            <a:endParaRPr lang="ru-RU" dirty="0" smtClean="0"/>
          </a:p>
          <a:p>
            <a:r>
              <a:rPr lang="en-US" dirty="0" smtClean="0"/>
              <a:t> 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r>
              <a:rPr lang="en-US" dirty="0" smtClean="0"/>
              <a:t>	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Обработка цепочки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	</a:t>
            </a:r>
            <a:r>
              <a:rPr lang="ru-RU" sz="2400" dirty="0" smtClean="0"/>
              <a:t>Рассмотрим, как данный автомат обрабатывает цепочку  ‘( ( ) ( ) )’</a:t>
            </a:r>
            <a:endParaRPr lang="ru-RU" sz="24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524000" y="2708921"/>
          <a:ext cx="6096000" cy="3843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742497"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Текущая входная цепочка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Содержимое магазина</a:t>
                      </a:r>
                      <a:endParaRPr lang="ru-RU" dirty="0"/>
                    </a:p>
                  </a:txBody>
                  <a:tcPr/>
                </a:tc>
              </a:tr>
              <a:tr h="2281838">
                <a:tc>
                  <a:txBody>
                    <a:bodyPr/>
                    <a:lstStyle/>
                    <a:p>
                      <a:pPr algn="r"/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 ( ) ( ) ) </a:t>
                      </a: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/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 ) ( ) ) </a:t>
                      </a: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/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( ) ) </a:t>
                      </a: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/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 ) ) </a:t>
                      </a: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/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) </a:t>
                      </a: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/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/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2000" dirty="0" smtClean="0"/>
                        <a:t>∆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/>
                      <a:r>
                        <a:rPr lang="en-US" sz="2000" b="1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dirty="0" smtClean="0"/>
                        <a:t>∆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/>
                      <a:r>
                        <a:rPr lang="en-US" sz="2000" b="1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AA</a:t>
                      </a:r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dirty="0" smtClean="0"/>
                        <a:t>∆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/>
                      <a:r>
                        <a:rPr lang="en-US" sz="2000" b="1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dirty="0" smtClean="0"/>
                        <a:t>∆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/>
                      <a:r>
                        <a:rPr lang="en-US" sz="2000" b="1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AA</a:t>
                      </a:r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dirty="0" smtClean="0"/>
                        <a:t>∆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/>
                      <a:r>
                        <a:rPr lang="en-US" sz="2000" b="1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dirty="0" smtClean="0"/>
                        <a:t>∆</a:t>
                      </a:r>
                      <a:endParaRPr lang="ru-RU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r"/>
                      <a:r>
                        <a:rPr lang="ru-RU" sz="2000" dirty="0" smtClean="0"/>
                        <a:t>∆</a:t>
                      </a:r>
                      <a:endParaRPr lang="ru-RU" sz="2000" dirty="0"/>
                    </a:p>
                  </a:txBody>
                  <a:tcPr/>
                </a:tc>
              </a:tr>
              <a:tr h="818960">
                <a:tc gridSpan="2">
                  <a:txBody>
                    <a:bodyPr/>
                    <a:lstStyle/>
                    <a:p>
                      <a:pPr algn="ctr"/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Допустить</a:t>
                      </a:r>
                      <a:endParaRPr lang="ru-RU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ru-RU" sz="2800" dirty="0" smtClean="0"/>
              <a:t>Таблица переходов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445224"/>
          </a:xfrm>
        </p:spPr>
        <p:txBody>
          <a:bodyPr>
            <a:normAutofit/>
          </a:bodyPr>
          <a:lstStyle/>
          <a:p>
            <a:r>
              <a:rPr lang="en-US" dirty="0" smtClean="0"/>
              <a:t>	</a:t>
            </a:r>
            <a:endParaRPr lang="ru-RU" sz="2400" dirty="0" smtClean="0"/>
          </a:p>
          <a:p>
            <a:endParaRPr lang="ru-RU" sz="2400" dirty="0" smtClean="0"/>
          </a:p>
          <a:p>
            <a:endParaRPr lang="ru-RU" sz="2400" dirty="0" smtClean="0"/>
          </a:p>
          <a:p>
            <a:endParaRPr lang="ru-RU" sz="2400" dirty="0" smtClean="0"/>
          </a:p>
          <a:p>
            <a:endParaRPr lang="ru-RU" sz="2400" dirty="0" smtClean="0"/>
          </a:p>
          <a:p>
            <a:endParaRPr lang="ru-RU" sz="2400" dirty="0" smtClean="0"/>
          </a:p>
          <a:p>
            <a:endParaRPr lang="ru-RU" sz="2400" dirty="0" smtClean="0"/>
          </a:p>
          <a:p>
            <a:r>
              <a:rPr lang="ru-RU" sz="2400" dirty="0" smtClean="0"/>
              <a:t> </a:t>
            </a:r>
            <a:r>
              <a:rPr lang="ru-RU" sz="2400" smtClean="0"/>
              <a:t>	</a:t>
            </a:r>
            <a:endParaRPr lang="ru-RU" sz="2400" dirty="0" smtClean="0"/>
          </a:p>
          <a:p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524000" y="2852937"/>
          <a:ext cx="6096000" cy="2455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72007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Входные символы/магазинные</a:t>
                      </a:r>
                      <a:endParaRPr lang="ru-RU" sz="1800" dirty="0">
                        <a:latin typeface="Courier Ne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#</a:t>
                      </a:r>
                      <a:endParaRPr lang="ru-RU" dirty="0"/>
                    </a:p>
                  </a:txBody>
                  <a:tcPr/>
                </a:tc>
              </a:tr>
              <a:tr h="8160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latin typeface="Times New Roman"/>
                          <a:ea typeface="Times New Roman"/>
                          <a:cs typeface="Times New Roman"/>
                        </a:rPr>
                        <a:t>Втолк</a:t>
                      </a: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ru-RU" sz="1800" dirty="0">
                        <a:latin typeface="Courier New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Сдвиг</a:t>
                      </a:r>
                      <a:endParaRPr lang="ru-RU" sz="1800" dirty="0">
                        <a:latin typeface="Courier Ne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latin typeface="Times New Roman"/>
                          <a:ea typeface="Times New Roman"/>
                          <a:cs typeface="Times New Roman"/>
                        </a:rPr>
                        <a:t>Вытолк</a:t>
                      </a:r>
                      <a:endParaRPr lang="ru-RU" sz="1800" dirty="0">
                        <a:latin typeface="Courier New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Сдвиг</a:t>
                      </a:r>
                      <a:endParaRPr lang="ru-RU" sz="1800" dirty="0">
                        <a:latin typeface="Courier Ne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 smtClean="0"/>
                        <a:t>Отаергнуть</a:t>
                      </a:r>
                      <a:endParaRPr lang="ru-RU" dirty="0"/>
                    </a:p>
                  </a:txBody>
                  <a:tcPr/>
                </a:tc>
              </a:tr>
              <a:tr h="81609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/>
                        <a:t>∆</a:t>
                      </a:r>
                      <a:endParaRPr lang="ru-RU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latin typeface="Times New Roman"/>
                          <a:ea typeface="Times New Roman"/>
                          <a:cs typeface="Times New Roman"/>
                        </a:rPr>
                        <a:t>Втолк</a:t>
                      </a: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(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A</a:t>
                      </a: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ru-RU" sz="1800" dirty="0">
                        <a:latin typeface="Courier New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Сдвиг</a:t>
                      </a:r>
                      <a:endParaRPr lang="ru-RU" sz="1800" dirty="0">
                        <a:latin typeface="Courier Ne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latin typeface="Times New Roman"/>
                          <a:ea typeface="Times New Roman"/>
                          <a:cs typeface="Times New Roman"/>
                        </a:rPr>
                        <a:t>Вытолк</a:t>
                      </a:r>
                      <a:endParaRPr lang="ru-RU" sz="1800" dirty="0">
                        <a:latin typeface="Courier New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Times New Roman"/>
                          <a:ea typeface="Times New Roman"/>
                          <a:cs typeface="Times New Roman"/>
                        </a:rPr>
                        <a:t>Сдвиг</a:t>
                      </a:r>
                      <a:endParaRPr lang="ru-RU" sz="1800" dirty="0">
                        <a:latin typeface="Courier Ne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Допустить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</TotalTime>
  <Words>164</Words>
  <Application>Microsoft Office PowerPoint</Application>
  <PresentationFormat>Экран (4:3)</PresentationFormat>
  <Paragraphs>265</Paragraphs>
  <Slides>23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4" baseType="lpstr">
      <vt:lpstr>Тема Office</vt:lpstr>
      <vt:lpstr>Конечный автомат</vt:lpstr>
      <vt:lpstr>Конечный автомат для заданной грамматики</vt:lpstr>
      <vt:lpstr>Пример</vt:lpstr>
      <vt:lpstr>Пример (продолжение)</vt:lpstr>
      <vt:lpstr>Пример (продолжение)</vt:lpstr>
      <vt:lpstr>Дерево процесса распознавания</vt:lpstr>
      <vt:lpstr>Состояние ошибки</vt:lpstr>
      <vt:lpstr>Два заключительных состояния</vt:lpstr>
      <vt:lpstr> 3.3. Проектирование сканера </vt:lpstr>
      <vt:lpstr>Диаграмма состояний сканера</vt:lpstr>
      <vt:lpstr>Диаграмма состояний</vt:lpstr>
      <vt:lpstr>Типы лексем</vt:lpstr>
      <vt:lpstr>Команды</vt:lpstr>
      <vt:lpstr>Диаграмма переходов</vt:lpstr>
      <vt:lpstr> 4. АВТОМАТЫ С МАГАЗИННОЙ ПАМЯТЬЮ  4.1. Определение магазинного автомата </vt:lpstr>
      <vt:lpstr>Магазинная функция</vt:lpstr>
      <vt:lpstr>Магазинная функция</vt:lpstr>
      <vt:lpstr> 4.2. Обработка цепочек с помощью МП-автомата </vt:lpstr>
      <vt:lpstr>МП-распознаватель</vt:lpstr>
      <vt:lpstr>Пример</vt:lpstr>
      <vt:lpstr>МП-автомат для примера</vt:lpstr>
      <vt:lpstr>Обработка цепочки</vt:lpstr>
      <vt:lpstr>Таблица переходов</vt:lpstr>
    </vt:vector>
  </TitlesOfParts>
  <Company>Кафедра ММ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УПРОЩЁННАЯ МОДЕЛЬ КОМПИЛЯТОРА </dc:title>
  <dc:creator>Князев А.В.</dc:creator>
  <cp:lastModifiedBy>Князев А.В.</cp:lastModifiedBy>
  <cp:revision>170</cp:revision>
  <dcterms:created xsi:type="dcterms:W3CDTF">2020-08-30T11:20:12Z</dcterms:created>
  <dcterms:modified xsi:type="dcterms:W3CDTF">2020-09-13T18:13:37Z</dcterms:modified>
</cp:coreProperties>
</file>